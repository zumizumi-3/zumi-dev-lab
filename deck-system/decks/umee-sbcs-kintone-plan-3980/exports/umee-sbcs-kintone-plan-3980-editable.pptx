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 type="wide"/>
  <p:notesSz cx="6858000" cy="9144000"/>
  <p:defaultTextStyle>
    <a:defPPr>
      <a:defRPr lang="ja-JP"/>
    </a:defPPr>
  </p:defaultTextStyle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  <Relationship Id="rId7" Type="http://schemas.openxmlformats.org/officeDocument/2006/relationships/slide" Target="slides/slide6.xml"/>
  <Relationship Id="rId8" Type="http://schemas.openxmlformats.org/officeDocument/2006/relationships/slide" Target="slides/slide7.xml"/>
  <Relationship Id="rId9" Type="http://schemas.openxmlformats.org/officeDocument/2006/relationships/slide" Target="slides/slide8.xml"/>
  <Relationship Id="rId10" Type="http://schemas.openxmlformats.org/officeDocument/2006/relationships/slide" Target="slides/slide9.xml"/>
  <Relationship Id="rId11" Type="http://schemas.openxmlformats.org/officeDocument/2006/relationships/slide" Target="slides/slide10.xml"/>
  <Relationship Id="rId12" Type="http://schemas.openxmlformats.org/officeDocument/2006/relationships/slide" Target="slides/slide1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4"/>
          <p:cNvSpPr txBox="1"/>
          <p:nvPr/>
        </p:nvSpPr>
        <p:spPr>
          <a:xfrm>
            <a:off x="502920" y="2011680"/>
            <a:ext cx="89611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2000" b="1">
                <a:solidFill>
                  <a:srgbClr val="6D7375"/>
                </a:solidFill>
                <a:latin typeface="Noto Sans JP"/>
                <a:ea typeface="Noto Sans JP"/>
              </a:rPr>
              <a:t>kintone利用企業に向けたセットプランの料金設計とGTM整理</a:t>
            </a:r>
          </a:p>
        </p:txBody>
      </p:sp>
      <p:sp>
        <p:nvSpPr>
          <p:cNvPr id="5" name="Rectangle 5"/>
          <p:cNvSpPr/>
          <p:nvPr/>
        </p:nvSpPr>
        <p:spPr>
          <a:xfrm>
            <a:off x="502920" y="3063240"/>
            <a:ext cx="3657600" cy="502920"/>
          </a:xfrm>
          <a:prstGeom prst="rect">
            <a:avLst/>
          </a:prstGeom>
          <a:solidFill>
            <a:srgbClr val="F3F5F5"/>
          </a:solidFill>
          <a:ln w="12700">
            <a:solidFill>
              <a:srgbClr val="E5EAEC"/>
            </a:solidFill>
          </a:ln>
        </p:spPr>
        <p:txBody>
          <a:bodyPr/>
          <a:lstStyle/>
          <a:p/>
        </p:txBody>
      </p:sp>
      <p:sp>
        <p:nvSpPr>
          <p:cNvPr id="6" name="Text 6"/>
          <p:cNvSpPr txBox="1"/>
          <p:nvPr/>
        </p:nvSpPr>
        <p:spPr>
          <a:xfrm>
            <a:off x="685800" y="3163824"/>
            <a:ext cx="8229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200" b="1">
                <a:solidFill>
                  <a:srgbClr val="6D7375"/>
                </a:solidFill>
                <a:latin typeface="Noto Sans JP"/>
                <a:ea typeface="Noto Sans JP"/>
              </a:rPr>
              <a:t>作成日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1554480" y="3145536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400" b="1">
                <a:solidFill>
                  <a:srgbClr val="414242"/>
                </a:solidFill>
                <a:latin typeface="Noto Sans JP"/>
                <a:ea typeface="Noto Sans JP"/>
              </a:rPr>
              <a:t>2026.05.26</a:t>
            </a:r>
          </a:p>
        </p:txBody>
      </p:sp>
      <p:sp>
        <p:nvSpPr>
          <p:cNvPr id="8" name="Rectangle 8"/>
          <p:cNvSpPr/>
          <p:nvPr/>
        </p:nvSpPr>
        <p:spPr>
          <a:xfrm>
            <a:off x="502920" y="3703320"/>
            <a:ext cx="5486400" cy="685800"/>
          </a:xfrm>
          <a:prstGeom prst="rect">
            <a:avLst/>
          </a:prstGeom>
          <a:solidFill>
            <a:srgbClr val="F3F5F5"/>
          </a:solidFill>
          <a:ln w="12700">
            <a:solidFill>
              <a:srgbClr val="E5EAEC"/>
            </a:solidFill>
          </a:ln>
        </p:spPr>
        <p:txBody>
          <a:bodyPr/>
          <a:lstStyle/>
          <a:p/>
        </p:txBody>
      </p:sp>
      <p:sp>
        <p:nvSpPr>
          <p:cNvPr id="9" name="Text 9"/>
          <p:cNvSpPr txBox="1"/>
          <p:nvPr/>
        </p:nvSpPr>
        <p:spPr>
          <a:xfrm>
            <a:off x="685800" y="3822192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200" b="1">
                <a:solidFill>
                  <a:srgbClr val="6D7375"/>
                </a:solidFill>
                <a:latin typeface="Noto Sans JP"/>
                <a:ea typeface="Noto Sans JP"/>
              </a:rPr>
              <a:t>論点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1554480" y="3813048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400" b="1">
                <a:solidFill>
                  <a:srgbClr val="414242"/>
                </a:solidFill>
                <a:latin typeface="Noto Sans JP"/>
                <a:ea typeface="Noto Sans JP"/>
              </a:rPr>
              <a:t>価格 / ID / 比較軸 / 支援範囲 / 販売条件</a:t>
            </a:r>
          </a:p>
        </p:txBody>
      </p:sp>
      <p:sp>
        <p:nvSpPr>
          <p:cNvPr id="11" name="Rectangle 1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7143"/>
          </a:solidFill>
          <a:ln w="12700">
            <a:solidFill>
              <a:srgbClr val="FF7143"/>
            </a:solidFill>
          </a:ln>
        </p:spPr>
        <p:txBody>
          <a:bodyPr/>
          <a:lstStyle/>
          <a:p/>
        </p:txBody>
      </p:sp>
      <p:sp>
        <p:nvSpPr>
          <p:cNvPr id="12" name="Text 12"/>
          <p:cNvSpPr txBox="1"/>
          <p:nvPr/>
        </p:nvSpPr>
        <p:spPr>
          <a:xfrm>
            <a:off x="502920" y="384048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400" b="1">
                <a:solidFill>
                  <a:srgbClr val="6D7375"/>
                </a:solidFill>
                <a:latin typeface="Noto Sans JP"/>
                <a:ea typeface="Noto Sans JP"/>
              </a:rPr>
              <a:t>SB C&amp;S 向け提案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10698480" y="384048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r"/>
            <a:r>
              <a:rPr lang="ja-JP" sz="1500" b="1">
                <a:solidFill>
                  <a:srgbClr val="414242"/>
                </a:solidFill>
                <a:latin typeface="Noto Sans JP"/>
                <a:ea typeface="Noto Sans JP"/>
              </a:rPr>
              <a:t>FrontAgent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502920" y="804672"/>
            <a:ext cx="107899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3300" b="1">
                <a:solidFill>
                  <a:srgbClr val="414242"/>
                </a:solidFill>
                <a:latin typeface="Noto Sans JP"/>
                <a:ea typeface="Noto Sans JP"/>
              </a:rPr>
              <a:t>FrontAgent x kintone を、売りやすい料金体系にする</a:t>
            </a:r>
          </a:p>
        </p:txBody>
      </p:sp>
      <p:sp>
        <p:nvSpPr>
          <p:cNvPr id="15" name="Rectangle 15"/>
          <p:cNvSpPr/>
          <p:nvPr/>
        </p:nvSpPr>
        <p:spPr>
          <a:xfrm>
            <a:off x="502920" y="1417320"/>
            <a:ext cx="11155680" cy="32004"/>
          </a:xfrm>
          <a:prstGeom prst="rect">
            <a:avLst/>
          </a:prstGeom>
          <a:solidFill>
            <a:srgbClr val="FF7143"/>
          </a:solidFill>
          <a:ln w="12700">
            <a:solidFill>
              <a:srgbClr val="FF7143"/>
            </a:solidFill>
          </a:ln>
        </p:spPr>
        <p:txBody>
          <a:bodyPr/>
          <a:lstStyle/>
          <a:p/>
        </p:txBody>
      </p:sp>
      <p:sp>
        <p:nvSpPr>
          <p:cNvPr id="16" name="Rectangle 16"/>
          <p:cNvSpPr/>
          <p:nvPr/>
        </p:nvSpPr>
        <p:spPr>
          <a:xfrm>
            <a:off x="502920" y="6272784"/>
            <a:ext cx="11155680" cy="10973"/>
          </a:xfrm>
          <a:prstGeom prst="rect">
            <a:avLst/>
          </a:prstGeom>
          <a:solidFill>
            <a:srgbClr val="E5EAEC"/>
          </a:solidFill>
          <a:ln w="12700">
            <a:solidFill>
              <a:srgbClr val="E5EAEC"/>
            </a:solidFill>
          </a:ln>
        </p:spPr>
        <p:txBody>
          <a:bodyPr/>
          <a:lstStyle/>
          <a:p/>
        </p:txBody>
      </p:sp>
      <p:sp>
        <p:nvSpPr>
          <p:cNvPr id="17" name="Text 17"/>
          <p:cNvSpPr txBox="1"/>
          <p:nvPr/>
        </p:nvSpPr>
        <p:spPr>
          <a:xfrm>
            <a:off x="502920" y="6391656"/>
            <a:ext cx="89611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300" b="1">
                <a:solidFill>
                  <a:srgbClr val="6D7375"/>
                </a:solidFill>
                <a:latin typeface="Noto Sans JP"/>
                <a:ea typeface="Noto Sans JP"/>
              </a:rPr>
              <a:t>Umee Technologies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11064240" y="6391656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r"/>
            <a:r>
              <a:rPr lang="ja-JP" sz="1300" b="1">
                <a:solidFill>
                  <a:srgbClr val="6D7375"/>
                </a:solidFill>
                <a:latin typeface="Noto Sans JP"/>
                <a:ea typeface="Noto Sans JP"/>
              </a:rPr>
              <a:t>01</a:t>
            </a:r>
          </a:p>
        </p:txBody>
      </p:sp>
      <p:sp>
        <p:nvSpPr>
          <p:cNvPr id="19" name="Circle 19"/>
          <p:cNvSpPr/>
          <p:nvPr/>
        </p:nvSpPr>
        <p:spPr>
          <a:xfrm>
            <a:off x="11841480" y="6473952"/>
            <a:ext cx="54864" cy="54864"/>
          </a:xfrm>
          <a:prstGeom prst="ellipse">
            <a:avLst/>
          </a:prstGeom>
          <a:solidFill>
            <a:srgbClr val="FF7143"/>
          </a:solidFill>
          <a:ln w="12700">
            <a:solidFill>
              <a:srgbClr val="FF7143"/>
            </a:solidFill>
          </a:ln>
        </p:spPr>
        <p:txBody>
          <a:bodyPr anchor="ctr"/>
          <a:lstStyle/>
          <a:p>
            <a:pPr algn="ctr"/>
            <a:r>
              <a:rPr lang="ja-JP" sz="1600" b="1">
                <a:solidFill>
                  <a:srgbClr val="FF7143"/>
                </a:solidFill>
                <a:ea typeface="Noto Sans JP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/>
          <p:nvPr/>
        </p:nvSpPr>
        <p:spPr>
          <a:xfrm>
            <a:off x="502920" y="1965960"/>
            <a:ext cx="5074920" cy="3611880"/>
          </a:xfrm>
          <a:prstGeom prst="roundRect">
            <a:avLst/>
          </a:prstGeom>
          <a:solidFill>
            <a:srgbClr val="F3F5F5"/>
          </a:solidFill>
          <a:ln w="12700">
            <a:solidFill>
              <a:srgbClr val="CFD6D9"/>
            </a:solidFill>
          </a:ln>
        </p:spPr>
        <p:txBody>
          <a:bodyPr/>
          <a:lstStyle/>
          <a:p/>
        </p:txBody>
      </p:sp>
      <p:sp>
        <p:nvSpPr>
          <p:cNvPr id="5" name="Text 5"/>
          <p:cNvSpPr txBox="1"/>
          <p:nvPr/>
        </p:nvSpPr>
        <p:spPr>
          <a:xfrm>
            <a:off x="960120" y="233172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300" b="1">
                <a:solidFill>
                  <a:srgbClr val="6D7375"/>
                </a:solidFill>
                <a:latin typeface="Noto Sans JP"/>
                <a:ea typeface="Noto Sans JP"/>
              </a:rPr>
              <a:t>PRICE ANCHOR / CORE PACK</a:t>
            </a:r>
          </a:p>
        </p:txBody>
      </p:sp>
      <p:sp>
        <p:nvSpPr>
          <p:cNvPr id="6" name="Rectangle 6"/>
          <p:cNvSpPr/>
          <p:nvPr/>
        </p:nvSpPr>
        <p:spPr>
          <a:xfrm>
            <a:off x="1188720" y="2788920"/>
            <a:ext cx="1737360" cy="1417320"/>
          </a:xfrm>
          <a:prstGeom prst="roundRect">
            <a:avLst/>
          </a:prstGeom>
          <a:solidFill>
            <a:srgbClr val="FBFCFC"/>
          </a:solidFill>
          <a:ln w="15240">
            <a:solidFill>
              <a:srgbClr val="CFD6D9"/>
            </a:solidFill>
          </a:ln>
        </p:spPr>
        <p:txBody>
          <a:bodyPr/>
          <a:lstStyle/>
          <a:p/>
        </p:txBody>
      </p:sp>
      <p:sp>
        <p:nvSpPr>
          <p:cNvPr id="7" name="Circle 7"/>
          <p:cNvSpPr/>
          <p:nvPr/>
        </p:nvSpPr>
        <p:spPr>
          <a:xfrm>
            <a:off x="1389888" y="2953512"/>
            <a:ext cx="292608" cy="292608"/>
          </a:xfrm>
          <a:prstGeom prst="ellipse">
            <a:avLst/>
          </a:prstGeom>
          <a:solidFill>
            <a:srgbClr val="FFF1EB"/>
          </a:solidFill>
          <a:ln w="12700">
            <a:solidFill>
              <a:srgbClr val="FF7143"/>
            </a:solidFill>
          </a:ln>
        </p:spPr>
        <p:txBody>
          <a:bodyPr anchor="ctr"/>
          <a:lstStyle/>
          <a:p>
            <a:pPr algn="ctr"/>
            <a:r>
              <a:rPr lang="ja-JP" sz="1200" b="1">
                <a:solidFill>
                  <a:srgbClr val="FF7143"/>
                </a:solidFill>
                <a:ea typeface="Noto Sans JP"/>
              </a:rPr>
              <a:t>1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1371600" y="3319272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2000" b="1">
                <a:solidFill>
                  <a:srgbClr val="414242"/>
                </a:solidFill>
                <a:latin typeface="Noto Sans JP"/>
                <a:ea typeface="Noto Sans JP"/>
              </a:rPr>
              <a:t>Log Lite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1371600" y="36576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400" b="0">
                <a:solidFill>
                  <a:srgbClr val="6D7375"/>
                </a:solidFill>
                <a:latin typeface="Noto Sans JP"/>
                <a:ea typeface="Noto Sans JP"/>
              </a:rPr>
              <a:t>1ID限定 / 980円（税抜）</a:t>
            </a:r>
          </a:p>
          <a:p>
            <a:pPr algn="l"/>
            <a:r>
              <a:rPr lang="ja-JP" sz="1400" b="0">
                <a:solidFill>
                  <a:srgbClr val="6D7375"/>
                </a:solidFill>
                <a:latin typeface="Noto Sans JP"/>
                <a:ea typeface="Noto Sans JP"/>
              </a:rPr>
              <a:t>追加ID不可</a:t>
            </a:r>
          </a:p>
        </p:txBody>
      </p:sp>
      <p:sp>
        <p:nvSpPr>
          <p:cNvPr id="10" name="Rectangle 10"/>
          <p:cNvSpPr/>
          <p:nvPr/>
        </p:nvSpPr>
        <p:spPr>
          <a:xfrm>
            <a:off x="3566160" y="2788920"/>
            <a:ext cx="1737360" cy="1417320"/>
          </a:xfrm>
          <a:prstGeom prst="roundRect">
            <a:avLst/>
          </a:prstGeom>
          <a:solidFill>
            <a:srgbClr val="FFF8F5"/>
          </a:solidFill>
          <a:ln w="15240">
            <a:solidFill>
              <a:srgbClr val="FF7143"/>
            </a:solidFill>
          </a:ln>
        </p:spPr>
        <p:txBody>
          <a:bodyPr/>
          <a:lstStyle/>
          <a:p/>
        </p:txBody>
      </p:sp>
      <p:sp>
        <p:nvSpPr>
          <p:cNvPr id="11" name="Circle 11"/>
          <p:cNvSpPr/>
          <p:nvPr/>
        </p:nvSpPr>
        <p:spPr>
          <a:xfrm>
            <a:off x="3767328" y="2953512"/>
            <a:ext cx="292608" cy="292608"/>
          </a:xfrm>
          <a:prstGeom prst="ellipse">
            <a:avLst/>
          </a:prstGeom>
          <a:solidFill>
            <a:srgbClr val="FF7143"/>
          </a:solidFill>
          <a:ln w="12700">
            <a:solidFill>
              <a:srgbClr val="FF7143"/>
            </a:solidFill>
          </a:ln>
        </p:spPr>
        <p:txBody>
          <a:bodyPr anchor="ctr"/>
          <a:lstStyle/>
          <a:p>
            <a:pPr algn="ctr"/>
            <a:r>
              <a:rPr lang="ja-JP" sz="1200" b="1">
                <a:solidFill>
                  <a:srgbClr val="FFFFFF"/>
                </a:solidFill>
                <a:ea typeface="Noto Sans JP"/>
              </a:rPr>
              <a:t>2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3749040" y="3319272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2000" b="1">
                <a:solidFill>
                  <a:srgbClr val="414242"/>
                </a:solidFill>
                <a:latin typeface="Noto Sans JP"/>
                <a:ea typeface="Noto Sans JP"/>
              </a:rPr>
              <a:t>kintone Pack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3749040" y="36576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400" b="0">
                <a:solidFill>
                  <a:srgbClr val="6D7375"/>
                </a:solidFill>
                <a:latin typeface="Noto Sans JP"/>
                <a:ea typeface="Noto Sans JP"/>
              </a:rPr>
              <a:t>初年度限定 3,980円 / ID（税抜）</a:t>
            </a:r>
          </a:p>
          <a:p>
            <a:pPr algn="l"/>
            <a:r>
              <a:rPr lang="ja-JP" sz="1400" b="0">
                <a:solidFill>
                  <a:srgbClr val="6D7375"/>
                </a:solidFill>
                <a:latin typeface="Noto Sans JP"/>
                <a:ea typeface="Noto Sans JP"/>
              </a:rPr>
              <a:t>2ID以上・連携はこちら</a:t>
            </a:r>
          </a:p>
        </p:txBody>
      </p:sp>
      <p:sp>
        <p:nvSpPr>
          <p:cNvPr id="14" name="Rectangle 14"/>
          <p:cNvSpPr/>
          <p:nvPr/>
        </p:nvSpPr>
        <p:spPr>
          <a:xfrm>
            <a:off x="2971800" y="3474720"/>
            <a:ext cx="502920" cy="36576"/>
          </a:xfrm>
          <a:prstGeom prst="rect">
            <a:avLst/>
          </a:prstGeom>
          <a:solidFill>
            <a:srgbClr val="FF7143"/>
          </a:solidFill>
          <a:ln w="12700">
            <a:solidFill>
              <a:srgbClr val="FF7143"/>
            </a:solidFill>
          </a:ln>
        </p:spPr>
        <p:txBody>
          <a:bodyPr/>
          <a:lstStyle/>
          <a:p/>
        </p:txBody>
      </p:sp>
      <p:sp>
        <p:nvSpPr>
          <p:cNvPr id="15" name="Rectangle 15"/>
          <p:cNvSpPr/>
          <p:nvPr/>
        </p:nvSpPr>
        <p:spPr>
          <a:xfrm>
            <a:off x="5715000" y="1965960"/>
            <a:ext cx="5943600" cy="1417320"/>
          </a:xfrm>
          <a:prstGeom prst="roundRect">
            <a:avLst/>
          </a:prstGeom>
          <a:solidFill>
            <a:srgbClr val="FBFCFC"/>
          </a:solidFill>
          <a:ln w="15240">
            <a:solidFill>
              <a:srgbClr val="CFD6D9"/>
            </a:solidFill>
          </a:ln>
        </p:spPr>
        <p:txBody>
          <a:bodyPr/>
          <a:lstStyle/>
          <a:p/>
        </p:txBody>
      </p:sp>
      <p:sp>
        <p:nvSpPr>
          <p:cNvPr id="16" name="Circle 16"/>
          <p:cNvSpPr/>
          <p:nvPr/>
        </p:nvSpPr>
        <p:spPr>
          <a:xfrm>
            <a:off x="5916168" y="2130552"/>
            <a:ext cx="292608" cy="292608"/>
          </a:xfrm>
          <a:prstGeom prst="ellipse">
            <a:avLst/>
          </a:prstGeom>
          <a:solidFill>
            <a:srgbClr val="FFF1EB"/>
          </a:solidFill>
          <a:ln w="12700">
            <a:solidFill>
              <a:srgbClr val="FF7143"/>
            </a:solidFill>
          </a:ln>
        </p:spPr>
        <p:txBody>
          <a:bodyPr anchor="ctr"/>
          <a:lstStyle/>
          <a:p>
            <a:pPr algn="ctr"/>
            <a:r>
              <a:rPr lang="ja-JP" sz="1200" b="1">
                <a:solidFill>
                  <a:srgbClr val="FF7143"/>
                </a:solidFill>
                <a:ea typeface="Noto Sans JP"/>
              </a:rPr>
              <a:t>1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5897880" y="2496312"/>
            <a:ext cx="55778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2000" b="1">
                <a:solidFill>
                  <a:srgbClr val="414242"/>
                </a:solidFill>
                <a:latin typeface="Noto Sans JP"/>
                <a:ea typeface="Noto Sans JP"/>
              </a:rPr>
              <a:t>Log Lite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5897880" y="2834640"/>
            <a:ext cx="557784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400" b="0">
                <a:solidFill>
                  <a:srgbClr val="6D7375"/>
                </a:solidFill>
                <a:latin typeface="Noto Sans JP"/>
                <a:ea typeface="Noto Sans JP"/>
              </a:rPr>
              <a:t>1ID限定・980円/月（税抜）の見せ球。追加IDは不可。月1,800分・1ログ5時間・AI要約100回までにする。</a:t>
            </a:r>
          </a:p>
        </p:txBody>
      </p:sp>
      <p:sp>
        <p:nvSpPr>
          <p:cNvPr id="19" name="Rectangle 19"/>
          <p:cNvSpPr/>
          <p:nvPr/>
        </p:nvSpPr>
        <p:spPr>
          <a:xfrm>
            <a:off x="5715000" y="3520440"/>
            <a:ext cx="5943600" cy="1600200"/>
          </a:xfrm>
          <a:prstGeom prst="roundRect">
            <a:avLst/>
          </a:prstGeom>
          <a:solidFill>
            <a:srgbClr val="FFF8F5"/>
          </a:solidFill>
          <a:ln w="15240">
            <a:solidFill>
              <a:srgbClr val="FF7143"/>
            </a:solidFill>
          </a:ln>
        </p:spPr>
        <p:txBody>
          <a:bodyPr/>
          <a:lstStyle/>
          <a:p/>
        </p:txBody>
      </p:sp>
      <p:sp>
        <p:nvSpPr>
          <p:cNvPr id="20" name="Circle 20"/>
          <p:cNvSpPr/>
          <p:nvPr/>
        </p:nvSpPr>
        <p:spPr>
          <a:xfrm>
            <a:off x="5916168" y="3685032"/>
            <a:ext cx="292608" cy="292608"/>
          </a:xfrm>
          <a:prstGeom prst="ellipse">
            <a:avLst/>
          </a:prstGeom>
          <a:solidFill>
            <a:srgbClr val="FF7143"/>
          </a:solidFill>
          <a:ln w="12700">
            <a:solidFill>
              <a:srgbClr val="FF7143"/>
            </a:solidFill>
          </a:ln>
        </p:spPr>
        <p:txBody>
          <a:bodyPr anchor="ctr"/>
          <a:lstStyle/>
          <a:p>
            <a:pPr algn="ctr"/>
            <a:r>
              <a:rPr lang="ja-JP" sz="1200" b="1">
                <a:solidFill>
                  <a:srgbClr val="FFFFFF"/>
                </a:solidFill>
                <a:ea typeface="Noto Sans JP"/>
              </a:rPr>
              <a:t>2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5897880" y="4050792"/>
            <a:ext cx="55778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2000" b="1">
                <a:solidFill>
                  <a:srgbClr val="414242"/>
                </a:solidFill>
                <a:latin typeface="Noto Sans JP"/>
                <a:ea typeface="Noto Sans JP"/>
              </a:rPr>
              <a:t>kintone Pack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5897880" y="4389120"/>
            <a:ext cx="557784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400" b="0">
                <a:solidFill>
                  <a:srgbClr val="6D7375"/>
                </a:solidFill>
                <a:latin typeface="Noto Sans JP"/>
                <a:ea typeface="Noto Sans JP"/>
              </a:rPr>
              <a:t>2ID以上・追加ID・kintone連携を受ける本命プラン。3,980円（税抜）は初年度のみ、2年目以降は通常単価。</a:t>
            </a:r>
          </a:p>
        </p:txBody>
      </p:sp>
      <p:sp>
        <p:nvSpPr>
          <p:cNvPr id="23" name="Rectangle 2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7143"/>
          </a:solidFill>
          <a:ln w="12700">
            <a:solidFill>
              <a:srgbClr val="FF7143"/>
            </a:solidFill>
          </a:ln>
        </p:spPr>
        <p:txBody>
          <a:bodyPr/>
          <a:lstStyle/>
          <a:p/>
        </p:txBody>
      </p:sp>
      <p:sp>
        <p:nvSpPr>
          <p:cNvPr id="24" name="Text 24"/>
          <p:cNvSpPr txBox="1"/>
          <p:nvPr/>
        </p:nvSpPr>
        <p:spPr>
          <a:xfrm>
            <a:off x="502920" y="384048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400" b="1">
                <a:solidFill>
                  <a:srgbClr val="6D7375"/>
                </a:solidFill>
                <a:latin typeface="Noto Sans JP"/>
                <a:ea typeface="Noto Sans JP"/>
              </a:rPr>
              <a:t>Executive Summary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10698480" y="384048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r"/>
            <a:r>
              <a:rPr lang="ja-JP" sz="1500" b="1">
                <a:solidFill>
                  <a:srgbClr val="414242"/>
                </a:solidFill>
                <a:latin typeface="Noto Sans JP"/>
                <a:ea typeface="Noto Sans JP"/>
              </a:rPr>
              <a:t>FrontAgent</a:t>
            </a:r>
          </a:p>
        </p:txBody>
      </p:sp>
      <p:sp>
        <p:nvSpPr>
          <p:cNvPr id="26" name="Text 26"/>
          <p:cNvSpPr txBox="1"/>
          <p:nvPr/>
        </p:nvSpPr>
        <p:spPr>
          <a:xfrm>
            <a:off x="502920" y="804672"/>
            <a:ext cx="107899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3300" b="1">
                <a:solidFill>
                  <a:srgbClr val="414242"/>
                </a:solidFill>
                <a:latin typeface="Noto Sans JP"/>
                <a:ea typeface="Noto Sans JP"/>
              </a:rPr>
              <a:t>提案の中心は、Log Liteとkintone Packの2層設計</a:t>
            </a:r>
          </a:p>
        </p:txBody>
      </p:sp>
      <p:sp>
        <p:nvSpPr>
          <p:cNvPr id="27" name="Rectangle 27"/>
          <p:cNvSpPr/>
          <p:nvPr/>
        </p:nvSpPr>
        <p:spPr>
          <a:xfrm>
            <a:off x="502920" y="1417320"/>
            <a:ext cx="11155680" cy="32004"/>
          </a:xfrm>
          <a:prstGeom prst="rect">
            <a:avLst/>
          </a:prstGeom>
          <a:solidFill>
            <a:srgbClr val="FF7143"/>
          </a:solidFill>
          <a:ln w="12700">
            <a:solidFill>
              <a:srgbClr val="FF7143"/>
            </a:solidFill>
          </a:ln>
        </p:spPr>
        <p:txBody>
          <a:bodyPr/>
          <a:lstStyle/>
          <a:p/>
        </p:txBody>
      </p:sp>
      <p:sp>
        <p:nvSpPr>
          <p:cNvPr id="28" name="Rectangle 28"/>
          <p:cNvSpPr/>
          <p:nvPr/>
        </p:nvSpPr>
        <p:spPr>
          <a:xfrm>
            <a:off x="502920" y="6272784"/>
            <a:ext cx="11155680" cy="10973"/>
          </a:xfrm>
          <a:prstGeom prst="rect">
            <a:avLst/>
          </a:prstGeom>
          <a:solidFill>
            <a:srgbClr val="E5EAEC"/>
          </a:solidFill>
          <a:ln w="12700">
            <a:solidFill>
              <a:srgbClr val="E5EAEC"/>
            </a:solidFill>
          </a:ln>
        </p:spPr>
        <p:txBody>
          <a:bodyPr/>
          <a:lstStyle/>
          <a:p/>
        </p:txBody>
      </p:sp>
      <p:sp>
        <p:nvSpPr>
          <p:cNvPr id="29" name="Text 29"/>
          <p:cNvSpPr txBox="1"/>
          <p:nvPr/>
        </p:nvSpPr>
        <p:spPr>
          <a:xfrm>
            <a:off x="502920" y="6391656"/>
            <a:ext cx="89611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300" b="1">
                <a:solidFill>
                  <a:srgbClr val="6D7375"/>
                </a:solidFill>
                <a:latin typeface="Noto Sans JP"/>
                <a:ea typeface="Noto Sans JP"/>
              </a:rPr>
              <a:t>見せ球のLog Liteと、本命のkintone Packを分ける</a:t>
            </a:r>
          </a:p>
        </p:txBody>
      </p:sp>
      <p:sp>
        <p:nvSpPr>
          <p:cNvPr id="30" name="Text 30"/>
          <p:cNvSpPr txBox="1"/>
          <p:nvPr/>
        </p:nvSpPr>
        <p:spPr>
          <a:xfrm>
            <a:off x="11064240" y="6391656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r"/>
            <a:r>
              <a:rPr lang="ja-JP" sz="1300" b="1">
                <a:solidFill>
                  <a:srgbClr val="6D7375"/>
                </a:solidFill>
                <a:latin typeface="Noto Sans JP"/>
                <a:ea typeface="Noto Sans JP"/>
              </a:rPr>
              <a:t>02</a:t>
            </a:r>
          </a:p>
        </p:txBody>
      </p:sp>
      <p:sp>
        <p:nvSpPr>
          <p:cNvPr id="31" name="Circle 31"/>
          <p:cNvSpPr/>
          <p:nvPr/>
        </p:nvSpPr>
        <p:spPr>
          <a:xfrm>
            <a:off x="11841480" y="6473952"/>
            <a:ext cx="54864" cy="54864"/>
          </a:xfrm>
          <a:prstGeom prst="ellipse">
            <a:avLst/>
          </a:prstGeom>
          <a:solidFill>
            <a:srgbClr val="FF7143"/>
          </a:solidFill>
          <a:ln w="12700">
            <a:solidFill>
              <a:srgbClr val="FF7143"/>
            </a:solidFill>
          </a:ln>
        </p:spPr>
        <p:txBody>
          <a:bodyPr anchor="ctr"/>
          <a:lstStyle/>
          <a:p>
            <a:pPr algn="ctr"/>
            <a:r>
              <a:rPr lang="ja-JP" sz="1600" b="1">
                <a:solidFill>
                  <a:srgbClr val="FF7143"/>
                </a:solidFill>
                <a:ea typeface="Noto Sans JP"/>
              </a:rPr>
              <a:t/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/>
          <p:nvPr/>
        </p:nvSpPr>
        <p:spPr>
          <a:xfrm>
            <a:off x="502920" y="2148840"/>
            <a:ext cx="2011680" cy="502920"/>
          </a:xfrm>
          <a:prstGeom prst="rect">
            <a:avLst/>
          </a:prstGeom>
          <a:solidFill>
            <a:srgbClr val="F3F5F5"/>
          </a:solidFill>
          <a:ln w="12700">
            <a:solidFill>
              <a:srgbClr val="E5EAEC"/>
            </a:solidFill>
          </a:ln>
        </p:spPr>
        <p:txBody>
          <a:bodyPr/>
          <a:lstStyle/>
          <a:p/>
        </p:txBody>
      </p:sp>
      <p:sp>
        <p:nvSpPr>
          <p:cNvPr id="5" name="Text 5"/>
          <p:cNvSpPr txBox="1"/>
          <p:nvPr/>
        </p:nvSpPr>
        <p:spPr>
          <a:xfrm>
            <a:off x="539496" y="2194560"/>
            <a:ext cx="1938528" cy="429768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300" b="1">
                <a:solidFill>
                  <a:srgbClr val="414242"/>
                </a:solidFill>
                <a:latin typeface="Noto Sans JP"/>
                <a:ea typeface="Noto Sans JP"/>
              </a:rPr>
              <a:t>比較対象</a:t>
            </a:r>
          </a:p>
        </p:txBody>
      </p:sp>
      <p:sp>
        <p:nvSpPr>
          <p:cNvPr id="6" name="Rectangle 6"/>
          <p:cNvSpPr/>
          <p:nvPr/>
        </p:nvSpPr>
        <p:spPr>
          <a:xfrm>
            <a:off x="2514600" y="2148840"/>
            <a:ext cx="3200400" cy="502920"/>
          </a:xfrm>
          <a:prstGeom prst="rect">
            <a:avLst/>
          </a:prstGeom>
          <a:solidFill>
            <a:srgbClr val="F3F5F5"/>
          </a:solidFill>
          <a:ln w="12700">
            <a:solidFill>
              <a:srgbClr val="E5EAEC"/>
            </a:solidFill>
          </a:ln>
        </p:spPr>
        <p:txBody>
          <a:bodyPr/>
          <a:lstStyle/>
          <a:p/>
        </p:txBody>
      </p:sp>
      <p:sp>
        <p:nvSpPr>
          <p:cNvPr id="7" name="Text 7"/>
          <p:cNvSpPr txBox="1"/>
          <p:nvPr/>
        </p:nvSpPr>
        <p:spPr>
          <a:xfrm>
            <a:off x="2551176" y="2194560"/>
            <a:ext cx="3127248" cy="429768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300" b="1">
                <a:solidFill>
                  <a:srgbClr val="414242"/>
                </a:solidFill>
                <a:latin typeface="Noto Sans JP"/>
                <a:ea typeface="Noto Sans JP"/>
              </a:rPr>
              <a:t>価格アンカー</a:t>
            </a:r>
          </a:p>
        </p:txBody>
      </p:sp>
      <p:sp>
        <p:nvSpPr>
          <p:cNvPr id="8" name="Rectangle 8"/>
          <p:cNvSpPr/>
          <p:nvPr/>
        </p:nvSpPr>
        <p:spPr>
          <a:xfrm>
            <a:off x="5715000" y="2148840"/>
            <a:ext cx="5943600" cy="502920"/>
          </a:xfrm>
          <a:prstGeom prst="rect">
            <a:avLst/>
          </a:prstGeom>
          <a:solidFill>
            <a:srgbClr val="F3F5F5"/>
          </a:solidFill>
          <a:ln w="12700">
            <a:solidFill>
              <a:srgbClr val="E5EAEC"/>
            </a:solidFill>
          </a:ln>
        </p:spPr>
        <p:txBody>
          <a:bodyPr/>
          <a:lstStyle/>
          <a:p/>
        </p:txBody>
      </p:sp>
      <p:sp>
        <p:nvSpPr>
          <p:cNvPr id="9" name="Text 9"/>
          <p:cNvSpPr txBox="1"/>
          <p:nvPr/>
        </p:nvSpPr>
        <p:spPr>
          <a:xfrm>
            <a:off x="5751576" y="2194560"/>
            <a:ext cx="5870448" cy="429768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300" b="1">
                <a:solidFill>
                  <a:srgbClr val="414242"/>
                </a:solidFill>
                <a:latin typeface="Noto Sans JP"/>
                <a:ea typeface="Noto Sans JP"/>
              </a:rPr>
              <a:t>示唆</a:t>
            </a:r>
          </a:p>
        </p:txBody>
      </p:sp>
      <p:sp>
        <p:nvSpPr>
          <p:cNvPr id="10" name="Rectangle 10"/>
          <p:cNvSpPr/>
          <p:nvPr/>
        </p:nvSpPr>
        <p:spPr>
          <a:xfrm>
            <a:off x="502920" y="2651760"/>
            <a:ext cx="2011680" cy="784555"/>
          </a:xfrm>
          <a:prstGeom prst="rect">
            <a:avLst/>
          </a:prstGeom>
          <a:solidFill>
            <a:srgbClr val="FBFCFC"/>
          </a:solidFill>
          <a:ln w="12700">
            <a:solidFill>
              <a:srgbClr val="E5EAEC"/>
            </a:solidFill>
          </a:ln>
        </p:spPr>
        <p:txBody>
          <a:bodyPr/>
          <a:lstStyle/>
          <a:p/>
        </p:txBody>
      </p:sp>
      <p:sp>
        <p:nvSpPr>
          <p:cNvPr id="11" name="Text 11"/>
          <p:cNvSpPr txBox="1"/>
          <p:nvPr/>
        </p:nvSpPr>
        <p:spPr>
          <a:xfrm>
            <a:off x="539496" y="2697480"/>
            <a:ext cx="1938528" cy="711403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400" b="1">
                <a:solidFill>
                  <a:srgbClr val="414242"/>
                </a:solidFill>
                <a:latin typeface="Noto Sans JP"/>
                <a:ea typeface="Noto Sans JP"/>
              </a:rPr>
              <a:t>kintone本体</a:t>
            </a:r>
          </a:p>
        </p:txBody>
      </p:sp>
      <p:sp>
        <p:nvSpPr>
          <p:cNvPr id="12" name="Rectangle 12"/>
          <p:cNvSpPr/>
          <p:nvPr/>
        </p:nvSpPr>
        <p:spPr>
          <a:xfrm>
            <a:off x="2514600" y="2651760"/>
            <a:ext cx="3200400" cy="784555"/>
          </a:xfrm>
          <a:prstGeom prst="rect">
            <a:avLst/>
          </a:prstGeom>
          <a:solidFill>
            <a:srgbClr val="FBFCFC"/>
          </a:solidFill>
          <a:ln w="12700">
            <a:solidFill>
              <a:srgbClr val="E5EAEC"/>
            </a:solidFill>
          </a:ln>
        </p:spPr>
        <p:txBody>
          <a:bodyPr/>
          <a:lstStyle/>
          <a:p/>
        </p:txBody>
      </p:sp>
      <p:sp>
        <p:nvSpPr>
          <p:cNvPr id="13" name="Text 13"/>
          <p:cNvSpPr txBox="1"/>
          <p:nvPr/>
        </p:nvSpPr>
        <p:spPr>
          <a:xfrm>
            <a:off x="2551176" y="2697480"/>
            <a:ext cx="3127248" cy="711403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400" b="0">
                <a:solidFill>
                  <a:srgbClr val="6D7375"/>
                </a:solidFill>
                <a:latin typeface="Noto Sans JP"/>
                <a:ea typeface="Noto Sans JP"/>
              </a:rPr>
              <a:t>1,000円 / 1,800円 / 3,000円</a:t>
            </a:r>
          </a:p>
          <a:p>
            <a:pPr algn="l"/>
            <a:r>
              <a:rPr lang="ja-JP" sz="1400" b="0">
                <a:solidFill>
                  <a:srgbClr val="6D7375"/>
                </a:solidFill>
                <a:latin typeface="Noto Sans JP"/>
                <a:ea typeface="Noto Sans JP"/>
              </a:rPr>
              <a:t>ライト・スタンダード・ワイド</a:t>
            </a:r>
          </a:p>
        </p:txBody>
      </p:sp>
      <p:sp>
        <p:nvSpPr>
          <p:cNvPr id="14" name="Rectangle 14"/>
          <p:cNvSpPr/>
          <p:nvPr/>
        </p:nvSpPr>
        <p:spPr>
          <a:xfrm>
            <a:off x="5715000" y="2651760"/>
            <a:ext cx="5943600" cy="784555"/>
          </a:xfrm>
          <a:prstGeom prst="rect">
            <a:avLst/>
          </a:prstGeom>
          <a:solidFill>
            <a:srgbClr val="FBFCFC"/>
          </a:solidFill>
          <a:ln w="12700">
            <a:solidFill>
              <a:srgbClr val="E5EAEC"/>
            </a:solidFill>
          </a:ln>
        </p:spPr>
        <p:txBody>
          <a:bodyPr/>
          <a:lstStyle/>
          <a:p/>
        </p:txBody>
      </p:sp>
      <p:sp>
        <p:nvSpPr>
          <p:cNvPr id="15" name="Text 15"/>
          <p:cNvSpPr txBox="1"/>
          <p:nvPr/>
        </p:nvSpPr>
        <p:spPr>
          <a:xfrm>
            <a:off x="5751576" y="2697480"/>
            <a:ext cx="5870448" cy="711403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400" b="0">
                <a:solidFill>
                  <a:srgbClr val="6D7375"/>
                </a:solidFill>
                <a:latin typeface="Noto Sans JP"/>
                <a:ea typeface="Noto Sans JP"/>
              </a:rPr>
              <a:t>初見では、1IDあたり1000円台の印象が強い。</a:t>
            </a:r>
          </a:p>
        </p:txBody>
      </p:sp>
      <p:sp>
        <p:nvSpPr>
          <p:cNvPr id="16" name="Rectangle 16"/>
          <p:cNvSpPr/>
          <p:nvPr/>
        </p:nvSpPr>
        <p:spPr>
          <a:xfrm>
            <a:off x="502920" y="3436315"/>
            <a:ext cx="2011680" cy="502920"/>
          </a:xfrm>
          <a:prstGeom prst="rect">
            <a:avLst/>
          </a:prstGeom>
          <a:solidFill>
            <a:srgbClr val="FBFCFC"/>
          </a:solidFill>
          <a:ln w="12700">
            <a:solidFill>
              <a:srgbClr val="E5EAEC"/>
            </a:solidFill>
          </a:ln>
        </p:spPr>
        <p:txBody>
          <a:bodyPr/>
          <a:lstStyle/>
          <a:p/>
        </p:txBody>
      </p:sp>
      <p:sp>
        <p:nvSpPr>
          <p:cNvPr id="17" name="Text 17"/>
          <p:cNvSpPr txBox="1"/>
          <p:nvPr/>
        </p:nvSpPr>
        <p:spPr>
          <a:xfrm>
            <a:off x="539496" y="3482035"/>
            <a:ext cx="1938528" cy="429768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400" b="1">
                <a:solidFill>
                  <a:srgbClr val="414242"/>
                </a:solidFill>
                <a:latin typeface="Noto Sans JP"/>
                <a:ea typeface="Noto Sans JP"/>
              </a:rPr>
              <a:t>kintone連携サービス</a:t>
            </a:r>
          </a:p>
        </p:txBody>
      </p:sp>
      <p:sp>
        <p:nvSpPr>
          <p:cNvPr id="18" name="Rectangle 18"/>
          <p:cNvSpPr/>
          <p:nvPr/>
        </p:nvSpPr>
        <p:spPr>
          <a:xfrm>
            <a:off x="2514600" y="3436315"/>
            <a:ext cx="3200400" cy="502920"/>
          </a:xfrm>
          <a:prstGeom prst="rect">
            <a:avLst/>
          </a:prstGeom>
          <a:solidFill>
            <a:srgbClr val="FBFCFC"/>
          </a:solidFill>
          <a:ln w="12700">
            <a:solidFill>
              <a:srgbClr val="E5EAEC"/>
            </a:solidFill>
          </a:ln>
        </p:spPr>
        <p:txBody>
          <a:bodyPr/>
          <a:lstStyle/>
          <a:p/>
        </p:txBody>
      </p:sp>
      <p:sp>
        <p:nvSpPr>
          <p:cNvPr id="19" name="Text 19"/>
          <p:cNvSpPr txBox="1"/>
          <p:nvPr/>
        </p:nvSpPr>
        <p:spPr>
          <a:xfrm>
            <a:off x="2551176" y="3482035"/>
            <a:ext cx="3127248" cy="429768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400" b="0">
                <a:solidFill>
                  <a:srgbClr val="6D7375"/>
                </a:solidFill>
                <a:latin typeface="Noto Sans JP"/>
                <a:ea typeface="Noto Sans JP"/>
              </a:rPr>
              <a:t>月額7,000円から / 年額12万円など</a:t>
            </a:r>
          </a:p>
        </p:txBody>
      </p:sp>
      <p:sp>
        <p:nvSpPr>
          <p:cNvPr id="20" name="Rectangle 20"/>
          <p:cNvSpPr/>
          <p:nvPr/>
        </p:nvSpPr>
        <p:spPr>
          <a:xfrm>
            <a:off x="5715000" y="3436315"/>
            <a:ext cx="5943600" cy="502920"/>
          </a:xfrm>
          <a:prstGeom prst="rect">
            <a:avLst/>
          </a:prstGeom>
          <a:solidFill>
            <a:srgbClr val="FBFCFC"/>
          </a:solidFill>
          <a:ln w="12700">
            <a:solidFill>
              <a:srgbClr val="E5EAEC"/>
            </a:solidFill>
          </a:ln>
        </p:spPr>
        <p:txBody>
          <a:bodyPr/>
          <a:lstStyle/>
          <a:p/>
        </p:txBody>
      </p:sp>
      <p:sp>
        <p:nvSpPr>
          <p:cNvPr id="21" name="Text 21"/>
          <p:cNvSpPr txBox="1"/>
          <p:nvPr/>
        </p:nvSpPr>
        <p:spPr>
          <a:xfrm>
            <a:off x="5751576" y="3482035"/>
            <a:ext cx="5870448" cy="429768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400" b="0">
                <a:solidFill>
                  <a:srgbClr val="6D7375"/>
                </a:solidFill>
                <a:latin typeface="Noto Sans JP"/>
                <a:ea typeface="Noto Sans JP"/>
              </a:rPr>
              <a:t>1ID単価だけでなく、環境単位・ID上限付きパックも説明しやすい。</a:t>
            </a:r>
          </a:p>
        </p:txBody>
      </p:sp>
      <p:sp>
        <p:nvSpPr>
          <p:cNvPr id="22" name="Rectangle 22"/>
          <p:cNvSpPr/>
          <p:nvPr/>
        </p:nvSpPr>
        <p:spPr>
          <a:xfrm>
            <a:off x="502920" y="3939235"/>
            <a:ext cx="2011680" cy="502920"/>
          </a:xfrm>
          <a:prstGeom prst="rect">
            <a:avLst/>
          </a:prstGeom>
          <a:solidFill>
            <a:srgbClr val="FBFCFC"/>
          </a:solidFill>
          <a:ln w="12700">
            <a:solidFill>
              <a:srgbClr val="E5EAEC"/>
            </a:solidFill>
          </a:ln>
        </p:spPr>
        <p:txBody>
          <a:bodyPr/>
          <a:lstStyle/>
          <a:p/>
        </p:txBody>
      </p:sp>
      <p:sp>
        <p:nvSpPr>
          <p:cNvPr id="23" name="Text 23"/>
          <p:cNvSpPr txBox="1"/>
          <p:nvPr/>
        </p:nvSpPr>
        <p:spPr>
          <a:xfrm>
            <a:off x="539496" y="3984955"/>
            <a:ext cx="1938528" cy="429768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400" b="1">
                <a:solidFill>
                  <a:srgbClr val="414242"/>
                </a:solidFill>
                <a:latin typeface="Noto Sans JP"/>
                <a:ea typeface="Noto Sans JP"/>
              </a:rPr>
              <a:t>AI議事録</a:t>
            </a:r>
          </a:p>
        </p:txBody>
      </p:sp>
      <p:sp>
        <p:nvSpPr>
          <p:cNvPr id="24" name="Rectangle 24"/>
          <p:cNvSpPr/>
          <p:nvPr/>
        </p:nvSpPr>
        <p:spPr>
          <a:xfrm>
            <a:off x="2514600" y="3939235"/>
            <a:ext cx="3200400" cy="502920"/>
          </a:xfrm>
          <a:prstGeom prst="rect">
            <a:avLst/>
          </a:prstGeom>
          <a:solidFill>
            <a:srgbClr val="FBFCFC"/>
          </a:solidFill>
          <a:ln w="12700">
            <a:solidFill>
              <a:srgbClr val="E5EAEC"/>
            </a:solidFill>
          </a:ln>
        </p:spPr>
        <p:txBody>
          <a:bodyPr/>
          <a:lstStyle/>
          <a:p/>
        </p:txBody>
      </p:sp>
      <p:sp>
        <p:nvSpPr>
          <p:cNvPr id="25" name="Text 25"/>
          <p:cNvSpPr txBox="1"/>
          <p:nvPr/>
        </p:nvSpPr>
        <p:spPr>
          <a:xfrm>
            <a:off x="2551176" y="3984955"/>
            <a:ext cx="3127248" cy="429768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400" b="0">
                <a:solidFill>
                  <a:srgbClr val="6D7375"/>
                </a:solidFill>
                <a:latin typeface="Noto Sans JP"/>
                <a:ea typeface="Noto Sans JP"/>
              </a:rPr>
              <a:t>1000円台から5000円台</a:t>
            </a:r>
          </a:p>
        </p:txBody>
      </p:sp>
      <p:sp>
        <p:nvSpPr>
          <p:cNvPr id="26" name="Rectangle 26"/>
          <p:cNvSpPr/>
          <p:nvPr/>
        </p:nvSpPr>
        <p:spPr>
          <a:xfrm>
            <a:off x="5715000" y="3939235"/>
            <a:ext cx="5943600" cy="502920"/>
          </a:xfrm>
          <a:prstGeom prst="rect">
            <a:avLst/>
          </a:prstGeom>
          <a:solidFill>
            <a:srgbClr val="FBFCFC"/>
          </a:solidFill>
          <a:ln w="12700">
            <a:solidFill>
              <a:srgbClr val="E5EAEC"/>
            </a:solidFill>
          </a:ln>
        </p:spPr>
        <p:txBody>
          <a:bodyPr/>
          <a:lstStyle/>
          <a:p/>
        </p:txBody>
      </p:sp>
      <p:sp>
        <p:nvSpPr>
          <p:cNvPr id="27" name="Text 27"/>
          <p:cNvSpPr txBox="1"/>
          <p:nvPr/>
        </p:nvSpPr>
        <p:spPr>
          <a:xfrm>
            <a:off x="5751576" y="3984955"/>
            <a:ext cx="5870448" cy="429768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400" b="0">
                <a:solidFill>
                  <a:srgbClr val="6D7375"/>
                </a:solidFill>
                <a:latin typeface="Noto Sans JP"/>
                <a:ea typeface="Noto Sans JP"/>
              </a:rPr>
              <a:t>Nottaは分数・1回上限・AI要約回数でプラン差を出している。</a:t>
            </a:r>
          </a:p>
        </p:txBody>
      </p:sp>
      <p:sp>
        <p:nvSpPr>
          <p:cNvPr id="28" name="Rectangle 28"/>
          <p:cNvSpPr/>
          <p:nvPr/>
        </p:nvSpPr>
        <p:spPr>
          <a:xfrm>
            <a:off x="502920" y="2148840"/>
            <a:ext cx="11155680" cy="2293315"/>
          </a:xfrm>
          <a:prstGeom prst="rect">
            <a:avLst/>
          </a:prstGeom>
          <a:noFill/>
          <a:ln w="12700">
            <a:solidFill>
              <a:srgbClr val="CFD6D9"/>
            </a:solidFill>
          </a:ln>
        </p:spPr>
        <p:txBody>
          <a:bodyPr/>
          <a:lstStyle/>
          <a:p/>
        </p:txBody>
      </p:sp>
      <p:sp>
        <p:nvSpPr>
          <p:cNvPr id="29" name="Rectangle 29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7143"/>
          </a:solidFill>
          <a:ln w="12700">
            <a:solidFill>
              <a:srgbClr val="FF7143"/>
            </a:solidFill>
          </a:ln>
        </p:spPr>
        <p:txBody>
          <a:bodyPr/>
          <a:lstStyle/>
          <a:p/>
        </p:txBody>
      </p:sp>
      <p:sp>
        <p:nvSpPr>
          <p:cNvPr id="30" name="Text 30"/>
          <p:cNvSpPr txBox="1"/>
          <p:nvPr/>
        </p:nvSpPr>
        <p:spPr>
          <a:xfrm>
            <a:off x="502920" y="384048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400" b="1">
                <a:solidFill>
                  <a:srgbClr val="6D7375"/>
                </a:solidFill>
                <a:latin typeface="Noto Sans JP"/>
                <a:ea typeface="Noto Sans JP"/>
              </a:rPr>
              <a:t>Market Context</a:t>
            </a:r>
          </a:p>
        </p:txBody>
      </p:sp>
      <p:sp>
        <p:nvSpPr>
          <p:cNvPr id="31" name="Text 31"/>
          <p:cNvSpPr txBox="1"/>
          <p:nvPr/>
        </p:nvSpPr>
        <p:spPr>
          <a:xfrm>
            <a:off x="10698480" y="384048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r"/>
            <a:r>
              <a:rPr lang="ja-JP" sz="1500" b="1">
                <a:solidFill>
                  <a:srgbClr val="414242"/>
                </a:solidFill>
                <a:latin typeface="Noto Sans JP"/>
                <a:ea typeface="Noto Sans JP"/>
              </a:rPr>
              <a:t>FrontAgent</a:t>
            </a:r>
          </a:p>
        </p:txBody>
      </p:sp>
      <p:sp>
        <p:nvSpPr>
          <p:cNvPr id="32" name="Text 32"/>
          <p:cNvSpPr txBox="1"/>
          <p:nvPr/>
        </p:nvSpPr>
        <p:spPr>
          <a:xfrm>
            <a:off x="502920" y="804672"/>
            <a:ext cx="107899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3300" b="1">
                <a:solidFill>
                  <a:srgbClr val="414242"/>
                </a:solidFill>
                <a:latin typeface="Noto Sans JP"/>
                <a:ea typeface="Noto Sans JP"/>
              </a:rPr>
              <a:t>kintone利用者の価格感覚は、1000円台から始まる</a:t>
            </a:r>
          </a:p>
        </p:txBody>
      </p:sp>
      <p:sp>
        <p:nvSpPr>
          <p:cNvPr id="33" name="Rectangle 33"/>
          <p:cNvSpPr/>
          <p:nvPr/>
        </p:nvSpPr>
        <p:spPr>
          <a:xfrm>
            <a:off x="502920" y="1417320"/>
            <a:ext cx="11155680" cy="32004"/>
          </a:xfrm>
          <a:prstGeom prst="rect">
            <a:avLst/>
          </a:prstGeom>
          <a:solidFill>
            <a:srgbClr val="FF7143"/>
          </a:solidFill>
          <a:ln w="12700">
            <a:solidFill>
              <a:srgbClr val="FF7143"/>
            </a:solidFill>
          </a:ln>
        </p:spPr>
        <p:txBody>
          <a:bodyPr/>
          <a:lstStyle/>
          <a:p/>
        </p:txBody>
      </p:sp>
      <p:sp>
        <p:nvSpPr>
          <p:cNvPr id="34" name="Rectangle 34"/>
          <p:cNvSpPr/>
          <p:nvPr/>
        </p:nvSpPr>
        <p:spPr>
          <a:xfrm>
            <a:off x="502920" y="6272784"/>
            <a:ext cx="11155680" cy="10973"/>
          </a:xfrm>
          <a:prstGeom prst="rect">
            <a:avLst/>
          </a:prstGeom>
          <a:solidFill>
            <a:srgbClr val="E5EAEC"/>
          </a:solidFill>
          <a:ln w="12700">
            <a:solidFill>
              <a:srgbClr val="E5EAEC"/>
            </a:solidFill>
          </a:ln>
        </p:spPr>
        <p:txBody>
          <a:bodyPr/>
          <a:lstStyle/>
          <a:p/>
        </p:txBody>
      </p:sp>
      <p:sp>
        <p:nvSpPr>
          <p:cNvPr id="35" name="Text 35"/>
          <p:cNvSpPr txBox="1"/>
          <p:nvPr/>
        </p:nvSpPr>
        <p:spPr>
          <a:xfrm>
            <a:off x="502920" y="6391656"/>
            <a:ext cx="89611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300" b="1">
                <a:solidFill>
                  <a:srgbClr val="6D7375"/>
                </a:solidFill>
                <a:latin typeface="Noto Sans JP"/>
                <a:ea typeface="Noto Sans JP"/>
              </a:rPr>
              <a:t>価格表示は1IDから始め、必要ID数で積み上げる</a:t>
            </a:r>
          </a:p>
        </p:txBody>
      </p:sp>
      <p:sp>
        <p:nvSpPr>
          <p:cNvPr id="36" name="Text 36"/>
          <p:cNvSpPr txBox="1"/>
          <p:nvPr/>
        </p:nvSpPr>
        <p:spPr>
          <a:xfrm>
            <a:off x="11064240" y="6391656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r"/>
            <a:r>
              <a:rPr lang="ja-JP" sz="1300" b="1">
                <a:solidFill>
                  <a:srgbClr val="6D7375"/>
                </a:solidFill>
                <a:latin typeface="Noto Sans JP"/>
                <a:ea typeface="Noto Sans JP"/>
              </a:rPr>
              <a:t>03</a:t>
            </a:r>
          </a:p>
        </p:txBody>
      </p:sp>
      <p:sp>
        <p:nvSpPr>
          <p:cNvPr id="37" name="Circle 37"/>
          <p:cNvSpPr/>
          <p:nvPr/>
        </p:nvSpPr>
        <p:spPr>
          <a:xfrm>
            <a:off x="11841480" y="6473952"/>
            <a:ext cx="54864" cy="54864"/>
          </a:xfrm>
          <a:prstGeom prst="ellipse">
            <a:avLst/>
          </a:prstGeom>
          <a:solidFill>
            <a:srgbClr val="FF7143"/>
          </a:solidFill>
          <a:ln w="12700">
            <a:solidFill>
              <a:srgbClr val="FF7143"/>
            </a:solidFill>
          </a:ln>
        </p:spPr>
        <p:txBody>
          <a:bodyPr anchor="ctr"/>
          <a:lstStyle/>
          <a:p>
            <a:pPr algn="ctr"/>
            <a:r>
              <a:rPr lang="ja-JP" sz="1600" b="1">
                <a:solidFill>
                  <a:srgbClr val="FF7143"/>
                </a:solidFill>
                <a:ea typeface="Noto Sans JP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/>
          <p:nvPr/>
        </p:nvSpPr>
        <p:spPr>
          <a:xfrm>
            <a:off x="502920" y="2148840"/>
            <a:ext cx="2606040" cy="3063240"/>
          </a:xfrm>
          <a:prstGeom prst="roundRect">
            <a:avLst/>
          </a:prstGeom>
          <a:solidFill>
            <a:srgbClr val="FBFCFC"/>
          </a:solidFill>
          <a:ln w="15240">
            <a:solidFill>
              <a:srgbClr val="CFD6D9"/>
            </a:solidFill>
          </a:ln>
        </p:spPr>
        <p:txBody>
          <a:bodyPr/>
          <a:lstStyle/>
          <a:p/>
        </p:txBody>
      </p:sp>
      <p:sp>
        <p:nvSpPr>
          <p:cNvPr id="5" name="Circle 5"/>
          <p:cNvSpPr/>
          <p:nvPr/>
        </p:nvSpPr>
        <p:spPr>
          <a:xfrm>
            <a:off x="704088" y="2313432"/>
            <a:ext cx="292608" cy="292608"/>
          </a:xfrm>
          <a:prstGeom prst="ellipse">
            <a:avLst/>
          </a:prstGeom>
          <a:solidFill>
            <a:srgbClr val="FFF1EB"/>
          </a:solidFill>
          <a:ln w="12700">
            <a:solidFill>
              <a:srgbClr val="FF7143"/>
            </a:solidFill>
          </a:ln>
        </p:spPr>
        <p:txBody>
          <a:bodyPr anchor="ctr"/>
          <a:lstStyle/>
          <a:p>
            <a:pPr algn="ctr"/>
            <a:r>
              <a:rPr lang="ja-JP" sz="1200" b="1">
                <a:solidFill>
                  <a:srgbClr val="FF7143"/>
                </a:solidFill>
                <a:ea typeface="Noto Sans JP"/>
              </a:rPr>
              <a:t>1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685800" y="2679192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2000" b="1">
                <a:solidFill>
                  <a:srgbClr val="414242"/>
                </a:solidFill>
                <a:latin typeface="Noto Sans JP"/>
                <a:ea typeface="Noto Sans JP"/>
              </a:rPr>
              <a:t>見せ球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685800" y="3017520"/>
            <a:ext cx="2240280" cy="2103120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400" b="0">
                <a:solidFill>
                  <a:srgbClr val="6D7375"/>
                </a:solidFill>
                <a:latin typeface="Noto Sans JP"/>
                <a:ea typeface="Noto Sans JP"/>
              </a:rPr>
              <a:t>Log Liteは1ID限定 980円/月（税抜）。Notta Premium基準の上限で、比較時の価格アンカーにする。</a:t>
            </a:r>
          </a:p>
        </p:txBody>
      </p:sp>
      <p:sp>
        <p:nvSpPr>
          <p:cNvPr id="8" name="Rectangle 8"/>
          <p:cNvSpPr/>
          <p:nvPr/>
        </p:nvSpPr>
        <p:spPr>
          <a:xfrm>
            <a:off x="3337560" y="2148840"/>
            <a:ext cx="2606040" cy="3063240"/>
          </a:xfrm>
          <a:prstGeom prst="roundRect">
            <a:avLst/>
          </a:prstGeom>
          <a:solidFill>
            <a:srgbClr val="FFF8F5"/>
          </a:solidFill>
          <a:ln w="15240">
            <a:solidFill>
              <a:srgbClr val="FF7143"/>
            </a:solidFill>
          </a:ln>
        </p:spPr>
        <p:txBody>
          <a:bodyPr/>
          <a:lstStyle/>
          <a:p/>
        </p:txBody>
      </p:sp>
      <p:sp>
        <p:nvSpPr>
          <p:cNvPr id="9" name="Circle 9"/>
          <p:cNvSpPr/>
          <p:nvPr/>
        </p:nvSpPr>
        <p:spPr>
          <a:xfrm>
            <a:off x="3538728" y="2313432"/>
            <a:ext cx="292608" cy="292608"/>
          </a:xfrm>
          <a:prstGeom prst="ellipse">
            <a:avLst/>
          </a:prstGeom>
          <a:solidFill>
            <a:srgbClr val="FF7143"/>
          </a:solidFill>
          <a:ln w="12700">
            <a:solidFill>
              <a:srgbClr val="FF7143"/>
            </a:solidFill>
          </a:ln>
        </p:spPr>
        <p:txBody>
          <a:bodyPr anchor="ctr"/>
          <a:lstStyle/>
          <a:p>
            <a:pPr algn="ctr"/>
            <a:r>
              <a:rPr lang="ja-JP" sz="1200" b="1">
                <a:solidFill>
                  <a:srgbClr val="FFFFFF"/>
                </a:solidFill>
                <a:ea typeface="Noto Sans JP"/>
              </a:rPr>
              <a:t>2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3520440" y="2679192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2000" b="1">
                <a:solidFill>
                  <a:srgbClr val="414242"/>
                </a:solidFill>
                <a:latin typeface="Noto Sans JP"/>
                <a:ea typeface="Noto Sans JP"/>
              </a:rPr>
              <a:t>1ID連携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3520440" y="3017520"/>
            <a:ext cx="2240280" cy="2103120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400" b="0">
                <a:solidFill>
                  <a:srgbClr val="6D7375"/>
                </a:solidFill>
                <a:latin typeface="Noto Sans JP"/>
                <a:ea typeface="Noto Sans JP"/>
              </a:rPr>
              <a:t>kintone Packも1IDから。初見の価格ハードルを下げる。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172200" y="2148840"/>
            <a:ext cx="2606040" cy="3063240"/>
          </a:xfrm>
          <a:prstGeom prst="roundRect">
            <a:avLst/>
          </a:prstGeom>
          <a:solidFill>
            <a:srgbClr val="FBFCFC"/>
          </a:solidFill>
          <a:ln w="15240">
            <a:solidFill>
              <a:srgbClr val="CFD6D9"/>
            </a:solidFill>
          </a:ln>
        </p:spPr>
        <p:txBody>
          <a:bodyPr/>
          <a:lstStyle/>
          <a:p/>
        </p:txBody>
      </p:sp>
      <p:sp>
        <p:nvSpPr>
          <p:cNvPr id="13" name="Circle 13"/>
          <p:cNvSpPr/>
          <p:nvPr/>
        </p:nvSpPr>
        <p:spPr>
          <a:xfrm>
            <a:off x="6373368" y="2313432"/>
            <a:ext cx="292608" cy="292608"/>
          </a:xfrm>
          <a:prstGeom prst="ellipse">
            <a:avLst/>
          </a:prstGeom>
          <a:solidFill>
            <a:srgbClr val="FFF1EB"/>
          </a:solidFill>
          <a:ln w="12700">
            <a:solidFill>
              <a:srgbClr val="FF7143"/>
            </a:solidFill>
          </a:ln>
        </p:spPr>
        <p:txBody>
          <a:bodyPr anchor="ctr"/>
          <a:lstStyle/>
          <a:p>
            <a:pPr algn="ctr"/>
            <a:r>
              <a:rPr lang="ja-JP" sz="1200" b="1">
                <a:solidFill>
                  <a:srgbClr val="FF7143"/>
                </a:solidFill>
                <a:ea typeface="Noto Sans JP"/>
              </a:rPr>
              <a:t>3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6355080" y="2679192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2000" b="1">
                <a:solidFill>
                  <a:srgbClr val="414242"/>
                </a:solidFill>
                <a:latin typeface="Noto Sans JP"/>
                <a:ea typeface="Noto Sans JP"/>
              </a:rPr>
              <a:t>ID追加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6355080" y="3017520"/>
            <a:ext cx="2240280" cy="2103120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400" b="0">
                <a:solidFill>
                  <a:srgbClr val="6D7375"/>
                </a:solidFill>
                <a:latin typeface="Noto Sans JP"/>
                <a:ea typeface="Noto Sans JP"/>
              </a:rPr>
              <a:t>追加IDまたは2ID以上はkintone Pack。Liteの安さを複数利用に広げない。</a:t>
            </a:r>
          </a:p>
        </p:txBody>
      </p:sp>
      <p:sp>
        <p:nvSpPr>
          <p:cNvPr id="16" name="Rectangle 16"/>
          <p:cNvSpPr/>
          <p:nvPr/>
        </p:nvSpPr>
        <p:spPr>
          <a:xfrm>
            <a:off x="9006840" y="2148840"/>
            <a:ext cx="2606040" cy="3063240"/>
          </a:xfrm>
          <a:prstGeom prst="roundRect">
            <a:avLst/>
          </a:prstGeom>
          <a:solidFill>
            <a:srgbClr val="FBFCFC"/>
          </a:solidFill>
          <a:ln w="15240">
            <a:solidFill>
              <a:srgbClr val="CFD6D9"/>
            </a:solidFill>
          </a:ln>
        </p:spPr>
        <p:txBody>
          <a:bodyPr/>
          <a:lstStyle/>
          <a:p/>
        </p:txBody>
      </p:sp>
      <p:sp>
        <p:nvSpPr>
          <p:cNvPr id="17" name="Circle 17"/>
          <p:cNvSpPr/>
          <p:nvPr/>
        </p:nvSpPr>
        <p:spPr>
          <a:xfrm>
            <a:off x="9208008" y="2313432"/>
            <a:ext cx="292608" cy="292608"/>
          </a:xfrm>
          <a:prstGeom prst="ellipse">
            <a:avLst/>
          </a:prstGeom>
          <a:solidFill>
            <a:srgbClr val="FFF1EB"/>
          </a:solidFill>
          <a:ln w="12700">
            <a:solidFill>
              <a:srgbClr val="FF7143"/>
            </a:solidFill>
          </a:ln>
        </p:spPr>
        <p:txBody>
          <a:bodyPr anchor="ctr"/>
          <a:lstStyle/>
          <a:p>
            <a:pPr algn="ctr"/>
            <a:r>
              <a:rPr lang="ja-JP" sz="1200" b="1">
                <a:solidFill>
                  <a:srgbClr val="FF7143"/>
                </a:solidFill>
                <a:ea typeface="Noto Sans JP"/>
              </a:rPr>
              <a:t>4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9189720" y="2679192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2000" b="1">
                <a:solidFill>
                  <a:srgbClr val="414242"/>
                </a:solidFill>
                <a:latin typeface="Noto Sans JP"/>
                <a:ea typeface="Noto Sans JP"/>
              </a:rPr>
              <a:t>支援分離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9189720" y="3017520"/>
            <a:ext cx="2240280" cy="2103120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400" b="0">
                <a:solidFill>
                  <a:srgbClr val="6D7375"/>
                </a:solidFill>
                <a:latin typeface="Noto Sans JP"/>
                <a:ea typeface="Noto Sans JP"/>
              </a:rPr>
              <a:t>個別設定や定例支援は本体に含めず、別途提案する。</a:t>
            </a:r>
          </a:p>
        </p:txBody>
      </p:sp>
      <p:sp>
        <p:nvSpPr>
          <p:cNvPr id="20" name="Rectangle 2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7143"/>
          </a:solidFill>
          <a:ln w="12700">
            <a:solidFill>
              <a:srgbClr val="FF7143"/>
            </a:solidFill>
          </a:ln>
        </p:spPr>
        <p:txBody>
          <a:bodyPr/>
          <a:lstStyle/>
          <a:p/>
        </p:txBody>
      </p:sp>
      <p:sp>
        <p:nvSpPr>
          <p:cNvPr id="21" name="Text 21"/>
          <p:cNvSpPr txBox="1"/>
          <p:nvPr/>
        </p:nvSpPr>
        <p:spPr>
          <a:xfrm>
            <a:off x="502920" y="384048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400" b="1">
                <a:solidFill>
                  <a:srgbClr val="6D7375"/>
                </a:solidFill>
                <a:latin typeface="Noto Sans JP"/>
                <a:ea typeface="Noto Sans JP"/>
              </a:rPr>
              <a:t>Design Policy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10698480" y="384048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r"/>
            <a:r>
              <a:rPr lang="ja-JP" sz="1500" b="1">
                <a:solidFill>
                  <a:srgbClr val="414242"/>
                </a:solidFill>
                <a:latin typeface="Noto Sans JP"/>
                <a:ea typeface="Noto Sans JP"/>
              </a:rPr>
              <a:t>FrontAgent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502920" y="804672"/>
            <a:ext cx="107899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3300" b="1">
                <a:solidFill>
                  <a:srgbClr val="414242"/>
                </a:solidFill>
                <a:latin typeface="Noto Sans JP"/>
                <a:ea typeface="Noto Sans JP"/>
              </a:rPr>
              <a:t>見せ球と本命を分け、価格感度と連携価値を両立する</a:t>
            </a:r>
          </a:p>
        </p:txBody>
      </p:sp>
      <p:sp>
        <p:nvSpPr>
          <p:cNvPr id="24" name="Rectangle 24"/>
          <p:cNvSpPr/>
          <p:nvPr/>
        </p:nvSpPr>
        <p:spPr>
          <a:xfrm>
            <a:off x="502920" y="1417320"/>
            <a:ext cx="11155680" cy="32004"/>
          </a:xfrm>
          <a:prstGeom prst="rect">
            <a:avLst/>
          </a:prstGeom>
          <a:solidFill>
            <a:srgbClr val="FF7143"/>
          </a:solidFill>
          <a:ln w="12700">
            <a:solidFill>
              <a:srgbClr val="FF7143"/>
            </a:solidFill>
          </a:ln>
        </p:spPr>
        <p:txBody>
          <a:bodyPr/>
          <a:lstStyle/>
          <a:p/>
        </p:txBody>
      </p:sp>
      <p:sp>
        <p:nvSpPr>
          <p:cNvPr id="25" name="Rectangle 25"/>
          <p:cNvSpPr/>
          <p:nvPr/>
        </p:nvSpPr>
        <p:spPr>
          <a:xfrm>
            <a:off x="502920" y="6272784"/>
            <a:ext cx="11155680" cy="10973"/>
          </a:xfrm>
          <a:prstGeom prst="rect">
            <a:avLst/>
          </a:prstGeom>
          <a:solidFill>
            <a:srgbClr val="E5EAEC"/>
          </a:solidFill>
          <a:ln w="12700">
            <a:solidFill>
              <a:srgbClr val="E5EAEC"/>
            </a:solidFill>
          </a:ln>
        </p:spPr>
        <p:txBody>
          <a:bodyPr/>
          <a:lstStyle/>
          <a:p/>
        </p:txBody>
      </p:sp>
      <p:sp>
        <p:nvSpPr>
          <p:cNvPr id="26" name="Text 26"/>
          <p:cNvSpPr txBox="1"/>
          <p:nvPr/>
        </p:nvSpPr>
        <p:spPr>
          <a:xfrm>
            <a:off x="502920" y="6391656"/>
            <a:ext cx="89611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300" b="1">
                <a:solidFill>
                  <a:srgbClr val="6D7375"/>
                </a:solidFill>
                <a:latin typeface="Noto Sans JP"/>
                <a:ea typeface="Noto Sans JP"/>
              </a:rPr>
              <a:t>本体価格を軽く見せ、個別対応は別枠で回収する</a:t>
            </a:r>
          </a:p>
        </p:txBody>
      </p:sp>
      <p:sp>
        <p:nvSpPr>
          <p:cNvPr id="27" name="Text 27"/>
          <p:cNvSpPr txBox="1"/>
          <p:nvPr/>
        </p:nvSpPr>
        <p:spPr>
          <a:xfrm>
            <a:off x="11064240" y="6391656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r"/>
            <a:r>
              <a:rPr lang="ja-JP" sz="1300" b="1">
                <a:solidFill>
                  <a:srgbClr val="6D7375"/>
                </a:solidFill>
                <a:latin typeface="Noto Sans JP"/>
                <a:ea typeface="Noto Sans JP"/>
              </a:rPr>
              <a:t>04</a:t>
            </a:r>
          </a:p>
        </p:txBody>
      </p:sp>
      <p:sp>
        <p:nvSpPr>
          <p:cNvPr id="28" name="Circle 28"/>
          <p:cNvSpPr/>
          <p:nvPr/>
        </p:nvSpPr>
        <p:spPr>
          <a:xfrm>
            <a:off x="11841480" y="6473952"/>
            <a:ext cx="54864" cy="54864"/>
          </a:xfrm>
          <a:prstGeom prst="ellipse">
            <a:avLst/>
          </a:prstGeom>
          <a:solidFill>
            <a:srgbClr val="FF7143"/>
          </a:solidFill>
          <a:ln w="12700">
            <a:solidFill>
              <a:srgbClr val="FF7143"/>
            </a:solidFill>
          </a:ln>
        </p:spPr>
        <p:txBody>
          <a:bodyPr anchor="ctr"/>
          <a:lstStyle/>
          <a:p>
            <a:pPr algn="ctr"/>
            <a:r>
              <a:rPr lang="ja-JP" sz="1600" b="1">
                <a:solidFill>
                  <a:srgbClr val="FF7143"/>
                </a:solidFill>
                <a:ea typeface="Noto Sans JP"/>
              </a:rPr>
              <a:t/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/>
          <p:nvPr/>
        </p:nvSpPr>
        <p:spPr>
          <a:xfrm>
            <a:off x="502920" y="2514600"/>
            <a:ext cx="1234440" cy="502920"/>
          </a:xfrm>
          <a:prstGeom prst="rect">
            <a:avLst/>
          </a:prstGeom>
          <a:solidFill>
            <a:srgbClr val="F3F5F5"/>
          </a:solidFill>
          <a:ln w="12700">
            <a:solidFill>
              <a:srgbClr val="E5EAEC"/>
            </a:solidFill>
          </a:ln>
        </p:spPr>
        <p:txBody>
          <a:bodyPr/>
          <a:lstStyle/>
          <a:p/>
        </p:txBody>
      </p:sp>
      <p:sp>
        <p:nvSpPr>
          <p:cNvPr id="5" name="Text 5"/>
          <p:cNvSpPr txBox="1"/>
          <p:nvPr/>
        </p:nvSpPr>
        <p:spPr>
          <a:xfrm>
            <a:off x="539496" y="2560320"/>
            <a:ext cx="1161288" cy="429768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300" b="1">
                <a:solidFill>
                  <a:srgbClr val="414242"/>
                </a:solidFill>
                <a:latin typeface="Noto Sans JP"/>
                <a:ea typeface="Noto Sans JP"/>
              </a:rPr>
              <a:t>プラン</a:t>
            </a:r>
          </a:p>
        </p:txBody>
      </p:sp>
      <p:sp>
        <p:nvSpPr>
          <p:cNvPr id="6" name="Rectangle 6"/>
          <p:cNvSpPr/>
          <p:nvPr/>
        </p:nvSpPr>
        <p:spPr>
          <a:xfrm>
            <a:off x="1737360" y="2514600"/>
            <a:ext cx="2057400" cy="502920"/>
          </a:xfrm>
          <a:prstGeom prst="rect">
            <a:avLst/>
          </a:prstGeom>
          <a:solidFill>
            <a:srgbClr val="F3F5F5"/>
          </a:solidFill>
          <a:ln w="12700">
            <a:solidFill>
              <a:srgbClr val="E5EAEC"/>
            </a:solidFill>
          </a:ln>
        </p:spPr>
        <p:txBody>
          <a:bodyPr/>
          <a:lstStyle/>
          <a:p/>
        </p:txBody>
      </p:sp>
      <p:sp>
        <p:nvSpPr>
          <p:cNvPr id="7" name="Text 7"/>
          <p:cNvSpPr txBox="1"/>
          <p:nvPr/>
        </p:nvSpPr>
        <p:spPr>
          <a:xfrm>
            <a:off x="1773936" y="2560320"/>
            <a:ext cx="1984248" cy="429768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300" b="1">
                <a:solidFill>
                  <a:srgbClr val="414242"/>
                </a:solidFill>
                <a:latin typeface="Noto Sans JP"/>
                <a:ea typeface="Noto Sans JP"/>
              </a:rPr>
              <a:t>役割・価格</a:t>
            </a:r>
          </a:p>
        </p:txBody>
      </p:sp>
      <p:sp>
        <p:nvSpPr>
          <p:cNvPr id="8" name="Rectangle 8"/>
          <p:cNvSpPr/>
          <p:nvPr/>
        </p:nvSpPr>
        <p:spPr>
          <a:xfrm>
            <a:off x="3794760" y="2514600"/>
            <a:ext cx="3886200" cy="502920"/>
          </a:xfrm>
          <a:prstGeom prst="rect">
            <a:avLst/>
          </a:prstGeom>
          <a:solidFill>
            <a:srgbClr val="F3F5F5"/>
          </a:solidFill>
          <a:ln w="12700">
            <a:solidFill>
              <a:srgbClr val="E5EAEC"/>
            </a:solidFill>
          </a:ln>
        </p:spPr>
        <p:txBody>
          <a:bodyPr/>
          <a:lstStyle/>
          <a:p/>
        </p:txBody>
      </p:sp>
      <p:sp>
        <p:nvSpPr>
          <p:cNvPr id="9" name="Text 9"/>
          <p:cNvSpPr txBox="1"/>
          <p:nvPr/>
        </p:nvSpPr>
        <p:spPr>
          <a:xfrm>
            <a:off x="3831336" y="2560320"/>
            <a:ext cx="3813048" cy="429768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300" b="1">
                <a:solidFill>
                  <a:srgbClr val="414242"/>
                </a:solidFill>
                <a:latin typeface="Noto Sans JP"/>
                <a:ea typeface="Noto Sans JP"/>
              </a:rPr>
              <a:t>主な機能</a:t>
            </a:r>
          </a:p>
        </p:txBody>
      </p:sp>
      <p:sp>
        <p:nvSpPr>
          <p:cNvPr id="10" name="Rectangle 10"/>
          <p:cNvSpPr/>
          <p:nvPr/>
        </p:nvSpPr>
        <p:spPr>
          <a:xfrm>
            <a:off x="7680960" y="2514600"/>
            <a:ext cx="3977640" cy="502920"/>
          </a:xfrm>
          <a:prstGeom prst="rect">
            <a:avLst/>
          </a:prstGeom>
          <a:solidFill>
            <a:srgbClr val="F3F5F5"/>
          </a:solidFill>
          <a:ln w="12700">
            <a:solidFill>
              <a:srgbClr val="E5EAEC"/>
            </a:solidFill>
          </a:ln>
        </p:spPr>
        <p:txBody>
          <a:bodyPr/>
          <a:lstStyle/>
          <a:p/>
        </p:txBody>
      </p:sp>
      <p:sp>
        <p:nvSpPr>
          <p:cNvPr id="11" name="Text 11"/>
          <p:cNvSpPr txBox="1"/>
          <p:nvPr/>
        </p:nvSpPr>
        <p:spPr>
          <a:xfrm>
            <a:off x="7717536" y="2560320"/>
            <a:ext cx="3904488" cy="429768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300" b="1">
                <a:solidFill>
                  <a:srgbClr val="414242"/>
                </a:solidFill>
                <a:latin typeface="Noto Sans JP"/>
                <a:ea typeface="Noto Sans JP"/>
              </a:rPr>
              <a:t>契約・支援</a:t>
            </a:r>
          </a:p>
        </p:txBody>
      </p:sp>
      <p:sp>
        <p:nvSpPr>
          <p:cNvPr id="12" name="Rectangle 12"/>
          <p:cNvSpPr/>
          <p:nvPr/>
        </p:nvSpPr>
        <p:spPr>
          <a:xfrm>
            <a:off x="502920" y="3017520"/>
            <a:ext cx="1234440" cy="784555"/>
          </a:xfrm>
          <a:prstGeom prst="rect">
            <a:avLst/>
          </a:prstGeom>
          <a:solidFill>
            <a:srgbClr val="FBFCFC"/>
          </a:solidFill>
          <a:ln w="12700">
            <a:solidFill>
              <a:srgbClr val="E5EAEC"/>
            </a:solidFill>
          </a:ln>
        </p:spPr>
        <p:txBody>
          <a:bodyPr/>
          <a:lstStyle/>
          <a:p/>
        </p:txBody>
      </p:sp>
      <p:sp>
        <p:nvSpPr>
          <p:cNvPr id="13" name="Text 13"/>
          <p:cNvSpPr txBox="1"/>
          <p:nvPr/>
        </p:nvSpPr>
        <p:spPr>
          <a:xfrm>
            <a:off x="539496" y="3063240"/>
            <a:ext cx="1161288" cy="711403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300" b="1">
                <a:solidFill>
                  <a:srgbClr val="414242"/>
                </a:solidFill>
                <a:latin typeface="Noto Sans JP"/>
                <a:ea typeface="Noto Sans JP"/>
              </a:rPr>
              <a:t>Log Lite</a:t>
            </a:r>
          </a:p>
        </p:txBody>
      </p:sp>
      <p:sp>
        <p:nvSpPr>
          <p:cNvPr id="14" name="Rectangle 14"/>
          <p:cNvSpPr/>
          <p:nvPr/>
        </p:nvSpPr>
        <p:spPr>
          <a:xfrm>
            <a:off x="1737360" y="3017520"/>
            <a:ext cx="2057400" cy="784555"/>
          </a:xfrm>
          <a:prstGeom prst="rect">
            <a:avLst/>
          </a:prstGeom>
          <a:solidFill>
            <a:srgbClr val="FBFCFC"/>
          </a:solidFill>
          <a:ln w="12700">
            <a:solidFill>
              <a:srgbClr val="E5EAEC"/>
            </a:solidFill>
          </a:ln>
        </p:spPr>
        <p:txBody>
          <a:bodyPr/>
          <a:lstStyle/>
          <a:p/>
        </p:txBody>
      </p:sp>
      <p:sp>
        <p:nvSpPr>
          <p:cNvPr id="15" name="Text 15"/>
          <p:cNvSpPr txBox="1"/>
          <p:nvPr/>
        </p:nvSpPr>
        <p:spPr>
          <a:xfrm>
            <a:off x="1773936" y="3063240"/>
            <a:ext cx="1984248" cy="711403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300" b="0">
                <a:solidFill>
                  <a:srgbClr val="6D7375"/>
                </a:solidFill>
                <a:latin typeface="Noto Sans JP"/>
                <a:ea typeface="Noto Sans JP"/>
              </a:rPr>
              <a:t>1ID限定の見せ球</a:t>
            </a:r>
          </a:p>
          <a:p>
            <a:pPr algn="l"/>
            <a:r>
              <a:rPr lang="ja-JP" sz="1300" b="0">
                <a:solidFill>
                  <a:srgbClr val="6D7375"/>
                </a:solidFill>
                <a:latin typeface="Noto Sans JP"/>
                <a:ea typeface="Noto Sans JP"/>
              </a:rPr>
              <a:t>980円 / 1ID / 月（税抜）</a:t>
            </a:r>
          </a:p>
        </p:txBody>
      </p:sp>
      <p:sp>
        <p:nvSpPr>
          <p:cNvPr id="16" name="Rectangle 16"/>
          <p:cNvSpPr/>
          <p:nvPr/>
        </p:nvSpPr>
        <p:spPr>
          <a:xfrm>
            <a:off x="3794760" y="3017520"/>
            <a:ext cx="3886200" cy="784555"/>
          </a:xfrm>
          <a:prstGeom prst="rect">
            <a:avLst/>
          </a:prstGeom>
          <a:solidFill>
            <a:srgbClr val="FBFCFC"/>
          </a:solidFill>
          <a:ln w="12700">
            <a:solidFill>
              <a:srgbClr val="E5EAEC"/>
            </a:solidFill>
          </a:ln>
        </p:spPr>
        <p:txBody>
          <a:bodyPr/>
          <a:lstStyle/>
          <a:p/>
        </p:txBody>
      </p:sp>
      <p:sp>
        <p:nvSpPr>
          <p:cNvPr id="17" name="Text 17"/>
          <p:cNvSpPr txBox="1"/>
          <p:nvPr/>
        </p:nvSpPr>
        <p:spPr>
          <a:xfrm>
            <a:off x="3831336" y="3063240"/>
            <a:ext cx="3813048" cy="711403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300" b="0">
                <a:solidFill>
                  <a:srgbClr val="6D7375"/>
                </a:solidFill>
                <a:latin typeface="Noto Sans JP"/>
                <a:ea typeface="Noto Sans JP"/>
              </a:rPr>
              <a:t>録音、文字起こし、AI要約</a:t>
            </a:r>
          </a:p>
          <a:p>
            <a:pPr algn="l"/>
            <a:r>
              <a:rPr lang="ja-JP" sz="1300" b="0">
                <a:solidFill>
                  <a:srgbClr val="6D7375"/>
                </a:solidFill>
                <a:latin typeface="Noto Sans JP"/>
                <a:ea typeface="Noto Sans JP"/>
              </a:rPr>
              <a:t>月1,800分・1ログ5時間・要約100回まで。kintone連携なし。</a:t>
            </a:r>
          </a:p>
        </p:txBody>
      </p:sp>
      <p:sp>
        <p:nvSpPr>
          <p:cNvPr id="18" name="Rectangle 18"/>
          <p:cNvSpPr/>
          <p:nvPr/>
        </p:nvSpPr>
        <p:spPr>
          <a:xfrm>
            <a:off x="7680960" y="3017520"/>
            <a:ext cx="3977640" cy="784555"/>
          </a:xfrm>
          <a:prstGeom prst="rect">
            <a:avLst/>
          </a:prstGeom>
          <a:solidFill>
            <a:srgbClr val="FBFCFC"/>
          </a:solidFill>
          <a:ln w="12700">
            <a:solidFill>
              <a:srgbClr val="E5EAEC"/>
            </a:solidFill>
          </a:ln>
        </p:spPr>
        <p:txBody>
          <a:bodyPr/>
          <a:lstStyle/>
          <a:p/>
        </p:txBody>
      </p:sp>
      <p:sp>
        <p:nvSpPr>
          <p:cNvPr id="19" name="Text 19"/>
          <p:cNvSpPr txBox="1"/>
          <p:nvPr/>
        </p:nvSpPr>
        <p:spPr>
          <a:xfrm>
            <a:off x="7717536" y="3063240"/>
            <a:ext cx="3904488" cy="711403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300" b="0">
                <a:solidFill>
                  <a:srgbClr val="6D7375"/>
                </a:solidFill>
                <a:latin typeface="Noto Sans JP"/>
                <a:ea typeface="Noto Sans JP"/>
              </a:rPr>
              <a:t>パートナー限定。月契約可。追加ID不可。2ID以上はPack。</a:t>
            </a:r>
          </a:p>
        </p:txBody>
      </p:sp>
      <p:sp>
        <p:nvSpPr>
          <p:cNvPr id="20" name="Rectangle 20"/>
          <p:cNvSpPr/>
          <p:nvPr/>
        </p:nvSpPr>
        <p:spPr>
          <a:xfrm>
            <a:off x="502920" y="3802075"/>
            <a:ext cx="1234440" cy="784555"/>
          </a:xfrm>
          <a:prstGeom prst="rect">
            <a:avLst/>
          </a:prstGeom>
          <a:solidFill>
            <a:srgbClr val="FBFCFC"/>
          </a:solidFill>
          <a:ln w="12700">
            <a:solidFill>
              <a:srgbClr val="E5EAEC"/>
            </a:solidFill>
          </a:ln>
        </p:spPr>
        <p:txBody>
          <a:bodyPr/>
          <a:lstStyle/>
          <a:p/>
        </p:txBody>
      </p:sp>
      <p:sp>
        <p:nvSpPr>
          <p:cNvPr id="21" name="Text 21"/>
          <p:cNvSpPr txBox="1"/>
          <p:nvPr/>
        </p:nvSpPr>
        <p:spPr>
          <a:xfrm>
            <a:off x="539496" y="3847795"/>
            <a:ext cx="1161288" cy="711403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300" b="1">
                <a:solidFill>
                  <a:srgbClr val="414242"/>
                </a:solidFill>
                <a:latin typeface="Noto Sans JP"/>
                <a:ea typeface="Noto Sans JP"/>
              </a:rPr>
              <a:t>kintone</a:t>
            </a:r>
          </a:p>
          <a:p>
            <a:pPr algn="l"/>
            <a:r>
              <a:rPr lang="ja-JP" sz="1300" b="1">
                <a:solidFill>
                  <a:srgbClr val="414242"/>
                </a:solidFill>
                <a:latin typeface="Noto Sans JP"/>
                <a:ea typeface="Noto Sans JP"/>
              </a:rPr>
              <a:t>Pack</a:t>
            </a:r>
          </a:p>
        </p:txBody>
      </p:sp>
      <p:sp>
        <p:nvSpPr>
          <p:cNvPr id="22" name="Rectangle 22"/>
          <p:cNvSpPr/>
          <p:nvPr/>
        </p:nvSpPr>
        <p:spPr>
          <a:xfrm>
            <a:off x="1737360" y="3802075"/>
            <a:ext cx="2057400" cy="784555"/>
          </a:xfrm>
          <a:prstGeom prst="rect">
            <a:avLst/>
          </a:prstGeom>
          <a:solidFill>
            <a:srgbClr val="FBFCFC"/>
          </a:solidFill>
          <a:ln w="12700">
            <a:solidFill>
              <a:srgbClr val="E5EAEC"/>
            </a:solidFill>
          </a:ln>
        </p:spPr>
        <p:txBody>
          <a:bodyPr/>
          <a:lstStyle/>
          <a:p/>
        </p:txBody>
      </p:sp>
      <p:sp>
        <p:nvSpPr>
          <p:cNvPr id="23" name="Text 23"/>
          <p:cNvSpPr txBox="1"/>
          <p:nvPr/>
        </p:nvSpPr>
        <p:spPr>
          <a:xfrm>
            <a:off x="1773936" y="3847795"/>
            <a:ext cx="1984248" cy="711403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300" b="0">
                <a:solidFill>
                  <a:srgbClr val="6D7375"/>
                </a:solidFill>
                <a:latin typeface="Noto Sans JP"/>
                <a:ea typeface="Noto Sans JP"/>
              </a:rPr>
              <a:t>1IDから使えるkintone連携プラン</a:t>
            </a:r>
          </a:p>
          <a:p>
            <a:pPr algn="l"/>
            <a:r>
              <a:rPr lang="ja-JP" sz="1300" b="0">
                <a:solidFill>
                  <a:srgbClr val="6D7375"/>
                </a:solidFill>
                <a:latin typeface="Noto Sans JP"/>
                <a:ea typeface="Noto Sans JP"/>
              </a:rPr>
              <a:t>通常5,980円 / ID / 月（税抜）</a:t>
            </a:r>
          </a:p>
        </p:txBody>
      </p:sp>
      <p:sp>
        <p:nvSpPr>
          <p:cNvPr id="24" name="Rectangle 24"/>
          <p:cNvSpPr/>
          <p:nvPr/>
        </p:nvSpPr>
        <p:spPr>
          <a:xfrm>
            <a:off x="3794760" y="3802075"/>
            <a:ext cx="3886200" cy="784555"/>
          </a:xfrm>
          <a:prstGeom prst="rect">
            <a:avLst/>
          </a:prstGeom>
          <a:solidFill>
            <a:srgbClr val="FBFCFC"/>
          </a:solidFill>
          <a:ln w="12700">
            <a:solidFill>
              <a:srgbClr val="E5EAEC"/>
            </a:solidFill>
          </a:ln>
        </p:spPr>
        <p:txBody>
          <a:bodyPr/>
          <a:lstStyle/>
          <a:p/>
        </p:txBody>
      </p:sp>
      <p:sp>
        <p:nvSpPr>
          <p:cNvPr id="25" name="Text 25"/>
          <p:cNvSpPr txBox="1"/>
          <p:nvPr/>
        </p:nvSpPr>
        <p:spPr>
          <a:xfrm>
            <a:off x="3831336" y="3847795"/>
            <a:ext cx="3813048" cy="711403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300" b="0">
                <a:solidFill>
                  <a:srgbClr val="6D7375"/>
                </a:solidFill>
                <a:latin typeface="Noto Sans JP"/>
                <a:ea typeface="Noto Sans JP"/>
              </a:rPr>
              <a:t>録音、文字起こし、AI要約、活動履歴登録、レコード紐付け、チーム確認</a:t>
            </a:r>
          </a:p>
        </p:txBody>
      </p:sp>
      <p:sp>
        <p:nvSpPr>
          <p:cNvPr id="26" name="Rectangle 26"/>
          <p:cNvSpPr/>
          <p:nvPr/>
        </p:nvSpPr>
        <p:spPr>
          <a:xfrm>
            <a:off x="7680960" y="3802075"/>
            <a:ext cx="3977640" cy="784555"/>
          </a:xfrm>
          <a:prstGeom prst="rect">
            <a:avLst/>
          </a:prstGeom>
          <a:solidFill>
            <a:srgbClr val="FBFCFC"/>
          </a:solidFill>
          <a:ln w="12700">
            <a:solidFill>
              <a:srgbClr val="E5EAEC"/>
            </a:solidFill>
          </a:ln>
        </p:spPr>
        <p:txBody>
          <a:bodyPr/>
          <a:lstStyle/>
          <a:p/>
        </p:txBody>
      </p:sp>
      <p:sp>
        <p:nvSpPr>
          <p:cNvPr id="27" name="Text 27"/>
          <p:cNvSpPr txBox="1"/>
          <p:nvPr/>
        </p:nvSpPr>
        <p:spPr>
          <a:xfrm>
            <a:off x="7717536" y="3847795"/>
            <a:ext cx="3904488" cy="711403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300" b="0">
                <a:solidFill>
                  <a:srgbClr val="6D7375"/>
                </a:solidFill>
                <a:latin typeface="Noto Sans JP"/>
                <a:ea typeface="Noto Sans JP"/>
              </a:rPr>
              <a:t>12ヶ月契約。3,980円/ID/月（税抜）は初年度のみ。（LogLiteからの移管は対象外）</a:t>
            </a:r>
          </a:p>
        </p:txBody>
      </p:sp>
      <p:sp>
        <p:nvSpPr>
          <p:cNvPr id="28" name="Rectangle 28"/>
          <p:cNvSpPr/>
          <p:nvPr/>
        </p:nvSpPr>
        <p:spPr>
          <a:xfrm>
            <a:off x="502920" y="2514600"/>
            <a:ext cx="11155680" cy="2072030"/>
          </a:xfrm>
          <a:prstGeom prst="rect">
            <a:avLst/>
          </a:prstGeom>
          <a:noFill/>
          <a:ln w="12700">
            <a:solidFill>
              <a:srgbClr val="CFD6D9"/>
            </a:solidFill>
          </a:ln>
        </p:spPr>
        <p:txBody>
          <a:bodyPr/>
          <a:lstStyle/>
          <a:p/>
        </p:txBody>
      </p:sp>
      <p:sp>
        <p:nvSpPr>
          <p:cNvPr id="29" name="Rectangle 29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7143"/>
          </a:solidFill>
          <a:ln w="12700">
            <a:solidFill>
              <a:srgbClr val="FF7143"/>
            </a:solidFill>
          </a:ln>
        </p:spPr>
        <p:txBody>
          <a:bodyPr/>
          <a:lstStyle/>
          <a:p/>
        </p:txBody>
      </p:sp>
      <p:sp>
        <p:nvSpPr>
          <p:cNvPr id="30" name="Text 30"/>
          <p:cNvSpPr txBox="1"/>
          <p:nvPr/>
        </p:nvSpPr>
        <p:spPr>
          <a:xfrm>
            <a:off x="502920" y="384048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400" b="1">
                <a:solidFill>
                  <a:srgbClr val="6D7375"/>
                </a:solidFill>
                <a:latin typeface="Noto Sans JP"/>
                <a:ea typeface="Noto Sans JP"/>
              </a:rPr>
              <a:t>Plan Matrix</a:t>
            </a:r>
          </a:p>
        </p:txBody>
      </p:sp>
      <p:sp>
        <p:nvSpPr>
          <p:cNvPr id="31" name="Text 31"/>
          <p:cNvSpPr txBox="1"/>
          <p:nvPr/>
        </p:nvSpPr>
        <p:spPr>
          <a:xfrm>
            <a:off x="10698480" y="384048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r"/>
            <a:r>
              <a:rPr lang="ja-JP" sz="1500" b="1">
                <a:solidFill>
                  <a:srgbClr val="414242"/>
                </a:solidFill>
                <a:latin typeface="Noto Sans JP"/>
                <a:ea typeface="Noto Sans JP"/>
              </a:rPr>
              <a:t>FrontAgent</a:t>
            </a:r>
          </a:p>
        </p:txBody>
      </p:sp>
      <p:sp>
        <p:nvSpPr>
          <p:cNvPr id="32" name="Text 32"/>
          <p:cNvSpPr txBox="1"/>
          <p:nvPr/>
        </p:nvSpPr>
        <p:spPr>
          <a:xfrm>
            <a:off x="502920" y="804672"/>
            <a:ext cx="107899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3300" b="1">
                <a:solidFill>
                  <a:srgbClr val="414242"/>
                </a:solidFill>
                <a:latin typeface="Noto Sans JP"/>
                <a:ea typeface="Noto Sans JP"/>
              </a:rPr>
              <a:t>2つのプランで、価格感度とkintone連携を分ける</a:t>
            </a:r>
          </a:p>
        </p:txBody>
      </p:sp>
      <p:sp>
        <p:nvSpPr>
          <p:cNvPr id="33" name="Rectangle 33"/>
          <p:cNvSpPr/>
          <p:nvPr/>
        </p:nvSpPr>
        <p:spPr>
          <a:xfrm>
            <a:off x="502920" y="1417320"/>
            <a:ext cx="11155680" cy="32004"/>
          </a:xfrm>
          <a:prstGeom prst="rect">
            <a:avLst/>
          </a:prstGeom>
          <a:solidFill>
            <a:srgbClr val="FF7143"/>
          </a:solidFill>
          <a:ln w="12700">
            <a:solidFill>
              <a:srgbClr val="FF7143"/>
            </a:solidFill>
          </a:ln>
        </p:spPr>
        <p:txBody>
          <a:bodyPr/>
          <a:lstStyle/>
          <a:p/>
        </p:txBody>
      </p:sp>
      <p:sp>
        <p:nvSpPr>
          <p:cNvPr id="34" name="Rectangle 34"/>
          <p:cNvSpPr/>
          <p:nvPr/>
        </p:nvSpPr>
        <p:spPr>
          <a:xfrm>
            <a:off x="502920" y="6272784"/>
            <a:ext cx="11155680" cy="10973"/>
          </a:xfrm>
          <a:prstGeom prst="rect">
            <a:avLst/>
          </a:prstGeom>
          <a:solidFill>
            <a:srgbClr val="E5EAEC"/>
          </a:solidFill>
          <a:ln w="12700">
            <a:solidFill>
              <a:srgbClr val="E5EAEC"/>
            </a:solidFill>
          </a:ln>
        </p:spPr>
        <p:txBody>
          <a:bodyPr/>
          <a:lstStyle/>
          <a:p/>
        </p:txBody>
      </p:sp>
      <p:sp>
        <p:nvSpPr>
          <p:cNvPr id="35" name="Text 35"/>
          <p:cNvSpPr txBox="1"/>
          <p:nvPr/>
        </p:nvSpPr>
        <p:spPr>
          <a:xfrm>
            <a:off x="502920" y="6391656"/>
            <a:ext cx="89611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300" b="1">
                <a:solidFill>
                  <a:srgbClr val="6D7375"/>
                </a:solidFill>
                <a:latin typeface="Noto Sans JP"/>
                <a:ea typeface="Noto Sans JP"/>
              </a:rPr>
              <a:t>Log Liteは価格アンカー、本命はkintone Packで売る</a:t>
            </a:r>
          </a:p>
        </p:txBody>
      </p:sp>
      <p:sp>
        <p:nvSpPr>
          <p:cNvPr id="36" name="Text 36"/>
          <p:cNvSpPr txBox="1"/>
          <p:nvPr/>
        </p:nvSpPr>
        <p:spPr>
          <a:xfrm>
            <a:off x="11064240" y="6391656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r"/>
            <a:r>
              <a:rPr lang="ja-JP" sz="1300" b="1">
                <a:solidFill>
                  <a:srgbClr val="6D7375"/>
                </a:solidFill>
                <a:latin typeface="Noto Sans JP"/>
                <a:ea typeface="Noto Sans JP"/>
              </a:rPr>
              <a:t>05</a:t>
            </a:r>
          </a:p>
        </p:txBody>
      </p:sp>
      <p:sp>
        <p:nvSpPr>
          <p:cNvPr id="37" name="Circle 37"/>
          <p:cNvSpPr/>
          <p:nvPr/>
        </p:nvSpPr>
        <p:spPr>
          <a:xfrm>
            <a:off x="11841480" y="6473952"/>
            <a:ext cx="54864" cy="54864"/>
          </a:xfrm>
          <a:prstGeom prst="ellipse">
            <a:avLst/>
          </a:prstGeom>
          <a:solidFill>
            <a:srgbClr val="FF7143"/>
          </a:solidFill>
          <a:ln w="12700">
            <a:solidFill>
              <a:srgbClr val="FF7143"/>
            </a:solidFill>
          </a:ln>
        </p:spPr>
        <p:txBody>
          <a:bodyPr anchor="ctr"/>
          <a:lstStyle/>
          <a:p>
            <a:pPr algn="ctr"/>
            <a:r>
              <a:rPr lang="ja-JP" sz="1600" b="1">
                <a:solidFill>
                  <a:srgbClr val="FF7143"/>
                </a:solidFill>
                <a:ea typeface="Noto Sans JP"/>
              </a:rPr>
              <a:t/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/>
          <p:nvPr/>
        </p:nvSpPr>
        <p:spPr>
          <a:xfrm>
            <a:off x="502920" y="1965960"/>
            <a:ext cx="5989320" cy="777240"/>
          </a:xfrm>
          <a:prstGeom prst="roundRect">
            <a:avLst/>
          </a:prstGeom>
          <a:solidFill>
            <a:srgbClr val="FFF8F5"/>
          </a:solidFill>
          <a:ln w="15240">
            <a:solidFill>
              <a:srgbClr val="FF7143"/>
            </a:solidFill>
          </a:ln>
        </p:spPr>
        <p:txBody>
          <a:bodyPr/>
          <a:lstStyle/>
          <a:p/>
        </p:txBody>
      </p:sp>
      <p:sp>
        <p:nvSpPr>
          <p:cNvPr id="5" name="Circle 5"/>
          <p:cNvSpPr/>
          <p:nvPr/>
        </p:nvSpPr>
        <p:spPr>
          <a:xfrm>
            <a:off x="704088" y="2130552"/>
            <a:ext cx="292608" cy="292608"/>
          </a:xfrm>
          <a:prstGeom prst="ellipse">
            <a:avLst/>
          </a:prstGeom>
          <a:solidFill>
            <a:srgbClr val="FF7143"/>
          </a:solidFill>
          <a:ln w="12700">
            <a:solidFill>
              <a:srgbClr val="FF7143"/>
            </a:solidFill>
          </a:ln>
        </p:spPr>
        <p:txBody>
          <a:bodyPr anchor="ctr"/>
          <a:lstStyle/>
          <a:p>
            <a:pPr algn="ctr"/>
            <a:r>
              <a:rPr lang="ja-JP" sz="1200" b="1">
                <a:solidFill>
                  <a:srgbClr val="FFFFFF"/>
                </a:solidFill>
                <a:ea typeface="Noto Sans JP"/>
              </a:rPr>
              <a:t>ID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685800" y="2496312"/>
            <a:ext cx="56235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2000" b="1">
                <a:solidFill>
                  <a:srgbClr val="414242"/>
                </a:solidFill>
                <a:latin typeface="Noto Sans JP"/>
                <a:ea typeface="Noto Sans JP"/>
              </a:rPr>
              <a:t>1ID限定 980円/月（税抜）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685800" y="2834640"/>
            <a:ext cx="5623560" cy="-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400" b="0">
                <a:solidFill>
                  <a:srgbClr val="6D7375"/>
                </a:solidFill>
                <a:latin typeface="Noto Sans JP"/>
                <a:ea typeface="Noto Sans JP"/>
              </a:rPr>
              <a:t>追加ID不可。2ID以上・複数名利用はkintone Packで受ける。</a:t>
            </a:r>
          </a:p>
        </p:txBody>
      </p:sp>
      <p:sp>
        <p:nvSpPr>
          <p:cNvPr id="8" name="Rectangle 8"/>
          <p:cNvSpPr/>
          <p:nvPr/>
        </p:nvSpPr>
        <p:spPr>
          <a:xfrm>
            <a:off x="502920" y="2834640"/>
            <a:ext cx="5989320" cy="777240"/>
          </a:xfrm>
          <a:prstGeom prst="roundRect">
            <a:avLst/>
          </a:prstGeom>
          <a:solidFill>
            <a:srgbClr val="FBFCFC"/>
          </a:solidFill>
          <a:ln w="15240">
            <a:solidFill>
              <a:srgbClr val="CFD6D9"/>
            </a:solidFill>
          </a:ln>
        </p:spPr>
        <p:txBody>
          <a:bodyPr/>
          <a:lstStyle/>
          <a:p/>
        </p:txBody>
      </p:sp>
      <p:sp>
        <p:nvSpPr>
          <p:cNvPr id="9" name="Circle 9"/>
          <p:cNvSpPr/>
          <p:nvPr/>
        </p:nvSpPr>
        <p:spPr>
          <a:xfrm>
            <a:off x="704088" y="2999232"/>
            <a:ext cx="292608" cy="292608"/>
          </a:xfrm>
          <a:prstGeom prst="ellipse">
            <a:avLst/>
          </a:prstGeom>
          <a:solidFill>
            <a:srgbClr val="FFF1EB"/>
          </a:solidFill>
          <a:ln w="12700">
            <a:solidFill>
              <a:srgbClr val="FF7143"/>
            </a:solidFill>
          </a:ln>
        </p:spPr>
        <p:txBody>
          <a:bodyPr anchor="ctr"/>
          <a:lstStyle/>
          <a:p>
            <a:pPr algn="ctr"/>
            <a:r>
              <a:rPr lang="ja-JP" sz="1200" b="1">
                <a:solidFill>
                  <a:srgbClr val="FF7143"/>
                </a:solidFill>
                <a:ea typeface="Noto Sans JP"/>
              </a:rPr>
              <a:t>分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685800" y="3364992"/>
            <a:ext cx="56235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2000" b="1">
                <a:solidFill>
                  <a:srgbClr val="414242"/>
                </a:solidFill>
                <a:latin typeface="Noto Sans JP"/>
                <a:ea typeface="Noto Sans JP"/>
              </a:rPr>
              <a:t>月1,800分 / 1ログ5時間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685800" y="3703320"/>
            <a:ext cx="5623560" cy="-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400" b="0">
                <a:solidFill>
                  <a:srgbClr val="6D7375"/>
                </a:solidFill>
                <a:latin typeface="Noto Sans JP"/>
                <a:ea typeface="Noto Sans JP"/>
              </a:rPr>
              <a:t>Notta Premiumと同じ分数・1回上限を置き、Premium比較で見劣りしない設計にする。</a:t>
            </a:r>
          </a:p>
        </p:txBody>
      </p:sp>
      <p:sp>
        <p:nvSpPr>
          <p:cNvPr id="12" name="Rectangle 12"/>
          <p:cNvSpPr/>
          <p:nvPr/>
        </p:nvSpPr>
        <p:spPr>
          <a:xfrm>
            <a:off x="502920" y="3703320"/>
            <a:ext cx="5989320" cy="777240"/>
          </a:xfrm>
          <a:prstGeom prst="roundRect">
            <a:avLst/>
          </a:prstGeom>
          <a:solidFill>
            <a:srgbClr val="FBFCFC"/>
          </a:solidFill>
          <a:ln w="15240">
            <a:solidFill>
              <a:srgbClr val="CFD6D9"/>
            </a:solidFill>
          </a:ln>
        </p:spPr>
        <p:txBody>
          <a:bodyPr/>
          <a:lstStyle/>
          <a:p/>
        </p:txBody>
      </p:sp>
      <p:sp>
        <p:nvSpPr>
          <p:cNvPr id="13" name="Circle 13"/>
          <p:cNvSpPr/>
          <p:nvPr/>
        </p:nvSpPr>
        <p:spPr>
          <a:xfrm>
            <a:off x="704088" y="3867912"/>
            <a:ext cx="292608" cy="292608"/>
          </a:xfrm>
          <a:prstGeom prst="ellipse">
            <a:avLst/>
          </a:prstGeom>
          <a:solidFill>
            <a:srgbClr val="FFF1EB"/>
          </a:solidFill>
          <a:ln w="12700">
            <a:solidFill>
              <a:srgbClr val="FF7143"/>
            </a:solidFill>
          </a:ln>
        </p:spPr>
        <p:txBody>
          <a:bodyPr anchor="ctr"/>
          <a:lstStyle/>
          <a:p>
            <a:pPr algn="ctr"/>
            <a:r>
              <a:rPr lang="ja-JP" sz="1200" b="1">
                <a:solidFill>
                  <a:srgbClr val="FF7143"/>
                </a:solidFill>
                <a:ea typeface="Noto Sans JP"/>
              </a:rPr>
              <a:t>AI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685800" y="4233672"/>
            <a:ext cx="56235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2000" b="1">
                <a:solidFill>
                  <a:srgbClr val="414242"/>
                </a:solidFill>
                <a:latin typeface="Noto Sans JP"/>
                <a:ea typeface="Noto Sans JP"/>
              </a:rPr>
              <a:t>AI要約100回/月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685800" y="4572000"/>
            <a:ext cx="5623560" cy="-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400" b="0">
                <a:solidFill>
                  <a:srgbClr val="6D7375"/>
                </a:solidFill>
                <a:latin typeface="Noto Sans JP"/>
                <a:ea typeface="Noto Sans JP"/>
              </a:rPr>
              <a:t>Notta Premiumの要約100回/月に合わせ、要約回数でも見劣りさせない。</a:t>
            </a:r>
          </a:p>
        </p:txBody>
      </p:sp>
      <p:sp>
        <p:nvSpPr>
          <p:cNvPr id="16" name="Rectangle 16"/>
          <p:cNvSpPr/>
          <p:nvPr/>
        </p:nvSpPr>
        <p:spPr>
          <a:xfrm>
            <a:off x="502920" y="4572000"/>
            <a:ext cx="5989320" cy="777240"/>
          </a:xfrm>
          <a:prstGeom prst="roundRect">
            <a:avLst/>
          </a:prstGeom>
          <a:solidFill>
            <a:srgbClr val="FBFCFC"/>
          </a:solidFill>
          <a:ln w="15240">
            <a:solidFill>
              <a:srgbClr val="CFD6D9"/>
            </a:solidFill>
          </a:ln>
        </p:spPr>
        <p:txBody>
          <a:bodyPr/>
          <a:lstStyle/>
          <a:p/>
        </p:txBody>
      </p:sp>
      <p:sp>
        <p:nvSpPr>
          <p:cNvPr id="17" name="Circle 17"/>
          <p:cNvSpPr/>
          <p:nvPr/>
        </p:nvSpPr>
        <p:spPr>
          <a:xfrm>
            <a:off x="704088" y="4736592"/>
            <a:ext cx="292608" cy="292608"/>
          </a:xfrm>
          <a:prstGeom prst="ellipse">
            <a:avLst/>
          </a:prstGeom>
          <a:solidFill>
            <a:srgbClr val="FFF1EB"/>
          </a:solidFill>
          <a:ln w="12700">
            <a:solidFill>
              <a:srgbClr val="FF7143"/>
            </a:solidFill>
          </a:ln>
        </p:spPr>
        <p:txBody>
          <a:bodyPr anchor="ctr"/>
          <a:lstStyle/>
          <a:p>
            <a:pPr algn="ctr"/>
            <a:r>
              <a:rPr lang="ja-JP" sz="1200" b="1">
                <a:solidFill>
                  <a:srgbClr val="FF7143"/>
                </a:solidFill>
                <a:ea typeface="Noto Sans JP"/>
              </a:rPr>
              <a:t>止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685800" y="5102352"/>
            <a:ext cx="56235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2000" b="1">
                <a:solidFill>
                  <a:srgbClr val="414242"/>
                </a:solidFill>
                <a:latin typeface="Noto Sans JP"/>
                <a:ea typeface="Noto Sans JP"/>
              </a:rPr>
              <a:t>上限超過時は停止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685800" y="5440680"/>
            <a:ext cx="5623560" cy="-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400" b="0">
                <a:solidFill>
                  <a:srgbClr val="6D7375"/>
                </a:solidFill>
                <a:latin typeface="Noto Sans JP"/>
                <a:ea typeface="Noto Sans JP"/>
              </a:rPr>
              <a:t>追加利用は不可。それ以上使いたい場合はkintone Packへの移管を必須にする。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720840" y="1965960"/>
            <a:ext cx="4937760" cy="3383280"/>
          </a:xfrm>
          <a:prstGeom prst="roundRect">
            <a:avLst/>
          </a:prstGeom>
          <a:solidFill>
            <a:srgbClr val="F3F5F5"/>
          </a:solidFill>
          <a:ln w="12700">
            <a:solidFill>
              <a:srgbClr val="CFD6D9"/>
            </a:solidFill>
          </a:ln>
        </p:spPr>
        <p:txBody>
          <a:bodyPr/>
          <a:lstStyle/>
          <a:p/>
        </p:txBody>
      </p:sp>
      <p:sp>
        <p:nvSpPr>
          <p:cNvPr id="21" name="Text 21"/>
          <p:cNvSpPr txBox="1"/>
          <p:nvPr/>
        </p:nvSpPr>
        <p:spPr>
          <a:xfrm>
            <a:off x="7178040" y="242316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2000" b="1">
                <a:solidFill>
                  <a:srgbClr val="414242"/>
                </a:solidFill>
                <a:latin typeface="Noto Sans JP"/>
                <a:ea typeface="Noto Sans JP"/>
              </a:rPr>
              <a:t>Log Lite Usage Cap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7178040" y="278892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300" b="1">
                <a:solidFill>
                  <a:srgbClr val="6D7375"/>
                </a:solidFill>
                <a:latin typeface="Noto Sans JP"/>
                <a:ea typeface="Noto Sans JP"/>
              </a:rPr>
              <a:t>1ID限定 / 980円 / 月（税抜）</a:t>
            </a:r>
          </a:p>
        </p:txBody>
      </p:sp>
      <p:sp>
        <p:nvSpPr>
          <p:cNvPr id="23" name="Rectangle 23"/>
          <p:cNvSpPr/>
          <p:nvPr/>
        </p:nvSpPr>
        <p:spPr>
          <a:xfrm>
            <a:off x="7178040" y="3154680"/>
            <a:ext cx="1219200" cy="1508760"/>
          </a:xfrm>
          <a:prstGeom prst="roundRect">
            <a:avLst/>
          </a:prstGeom>
          <a:solidFill>
            <a:srgbClr val="FBFCFC"/>
          </a:solidFill>
          <a:ln w="12700">
            <a:solidFill>
              <a:srgbClr val="CFD6D9"/>
            </a:solidFill>
          </a:ln>
        </p:spPr>
        <p:txBody>
          <a:bodyPr/>
          <a:lstStyle/>
          <a:p/>
        </p:txBody>
      </p:sp>
      <p:sp>
        <p:nvSpPr>
          <p:cNvPr id="24" name="Text 24"/>
          <p:cNvSpPr txBox="1"/>
          <p:nvPr/>
        </p:nvSpPr>
        <p:spPr>
          <a:xfrm>
            <a:off x="7342632" y="3383280"/>
            <a:ext cx="890016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2800" b="1">
                <a:solidFill>
                  <a:srgbClr val="FF7143"/>
                </a:solidFill>
                <a:latin typeface="Noto Sans JP"/>
                <a:ea typeface="Noto Sans JP"/>
              </a:rPr>
              <a:t>1,800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7342632" y="3813048"/>
            <a:ext cx="890016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600" b="1">
                <a:solidFill>
                  <a:srgbClr val="414242"/>
                </a:solidFill>
                <a:latin typeface="Noto Sans JP"/>
                <a:ea typeface="Noto Sans JP"/>
              </a:rPr>
              <a:t>分 / 月</a:t>
            </a:r>
          </a:p>
        </p:txBody>
      </p:sp>
      <p:sp>
        <p:nvSpPr>
          <p:cNvPr id="26" name="Rectangle 26"/>
          <p:cNvSpPr/>
          <p:nvPr/>
        </p:nvSpPr>
        <p:spPr>
          <a:xfrm>
            <a:off x="7342632" y="4233672"/>
            <a:ext cx="890016" cy="73152"/>
          </a:xfrm>
          <a:prstGeom prst="roundRect">
            <a:avLst/>
          </a:prstGeom>
          <a:solidFill>
            <a:srgbClr val="E5EAEC"/>
          </a:solidFill>
          <a:ln w="12700">
            <a:solidFill>
              <a:srgbClr val="E5EAEC"/>
            </a:solidFill>
          </a:ln>
        </p:spPr>
        <p:txBody>
          <a:bodyPr/>
          <a:lstStyle/>
          <a:p/>
        </p:txBody>
      </p:sp>
      <p:sp>
        <p:nvSpPr>
          <p:cNvPr id="27" name="Rectangle 27"/>
          <p:cNvSpPr/>
          <p:nvPr/>
        </p:nvSpPr>
        <p:spPr>
          <a:xfrm>
            <a:off x="7342632" y="4233672"/>
            <a:ext cx="694212" cy="73152"/>
          </a:xfrm>
          <a:prstGeom prst="roundRect">
            <a:avLst/>
          </a:prstGeom>
          <a:solidFill>
            <a:srgbClr val="FF7143"/>
          </a:solidFill>
          <a:ln w="12700">
            <a:solidFill>
              <a:srgbClr val="FF7143"/>
            </a:solidFill>
          </a:ln>
        </p:spPr>
        <p:txBody>
          <a:bodyPr/>
          <a:lstStyle/>
          <a:p/>
        </p:txBody>
      </p:sp>
      <p:sp>
        <p:nvSpPr>
          <p:cNvPr id="28" name="Text 28"/>
          <p:cNvSpPr txBox="1"/>
          <p:nvPr/>
        </p:nvSpPr>
        <p:spPr>
          <a:xfrm>
            <a:off x="7342632" y="4352544"/>
            <a:ext cx="890016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000" b="0">
                <a:solidFill>
                  <a:srgbClr val="6D7375"/>
                </a:solidFill>
                <a:latin typeface="Noto Sans JP"/>
                <a:ea typeface="Noto Sans JP"/>
              </a:rPr>
              <a:t>Premium基準</a:t>
            </a:r>
          </a:p>
        </p:txBody>
      </p:sp>
      <p:sp>
        <p:nvSpPr>
          <p:cNvPr id="29" name="Rectangle 29"/>
          <p:cNvSpPr/>
          <p:nvPr/>
        </p:nvSpPr>
        <p:spPr>
          <a:xfrm>
            <a:off x="8625840" y="3154680"/>
            <a:ext cx="1219200" cy="1508760"/>
          </a:xfrm>
          <a:prstGeom prst="roundRect">
            <a:avLst/>
          </a:prstGeom>
          <a:solidFill>
            <a:srgbClr val="FBFCFC"/>
          </a:solidFill>
          <a:ln w="12700">
            <a:solidFill>
              <a:srgbClr val="CFD6D9"/>
            </a:solidFill>
          </a:ln>
        </p:spPr>
        <p:txBody>
          <a:bodyPr/>
          <a:lstStyle/>
          <a:p/>
        </p:txBody>
      </p:sp>
      <p:sp>
        <p:nvSpPr>
          <p:cNvPr id="30" name="Text 30"/>
          <p:cNvSpPr txBox="1"/>
          <p:nvPr/>
        </p:nvSpPr>
        <p:spPr>
          <a:xfrm>
            <a:off x="8790432" y="3383280"/>
            <a:ext cx="890016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2800" b="1">
                <a:solidFill>
                  <a:srgbClr val="FF7143"/>
                </a:solidFill>
                <a:latin typeface="Noto Sans JP"/>
                <a:ea typeface="Noto Sans JP"/>
              </a:rPr>
              <a:t>5h</a:t>
            </a:r>
          </a:p>
        </p:txBody>
      </p:sp>
      <p:sp>
        <p:nvSpPr>
          <p:cNvPr id="31" name="Text 31"/>
          <p:cNvSpPr txBox="1"/>
          <p:nvPr/>
        </p:nvSpPr>
        <p:spPr>
          <a:xfrm>
            <a:off x="8790432" y="3813048"/>
            <a:ext cx="890016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600" b="1">
                <a:solidFill>
                  <a:srgbClr val="414242"/>
                </a:solidFill>
                <a:latin typeface="Noto Sans JP"/>
                <a:ea typeface="Noto Sans JP"/>
              </a:rPr>
              <a:t>/ ログ</a:t>
            </a:r>
          </a:p>
        </p:txBody>
      </p:sp>
      <p:sp>
        <p:nvSpPr>
          <p:cNvPr id="32" name="Rectangle 32"/>
          <p:cNvSpPr/>
          <p:nvPr/>
        </p:nvSpPr>
        <p:spPr>
          <a:xfrm>
            <a:off x="8790432" y="4233672"/>
            <a:ext cx="890016" cy="73152"/>
          </a:xfrm>
          <a:prstGeom prst="roundRect">
            <a:avLst/>
          </a:prstGeom>
          <a:solidFill>
            <a:srgbClr val="E5EAEC"/>
          </a:solidFill>
          <a:ln w="12700">
            <a:solidFill>
              <a:srgbClr val="E5EAEC"/>
            </a:solidFill>
          </a:ln>
        </p:spPr>
        <p:txBody>
          <a:bodyPr/>
          <a:lstStyle/>
          <a:p/>
        </p:txBody>
      </p:sp>
      <p:sp>
        <p:nvSpPr>
          <p:cNvPr id="33" name="Rectangle 33"/>
          <p:cNvSpPr/>
          <p:nvPr/>
        </p:nvSpPr>
        <p:spPr>
          <a:xfrm>
            <a:off x="8790432" y="4233672"/>
            <a:ext cx="694212" cy="73152"/>
          </a:xfrm>
          <a:prstGeom prst="roundRect">
            <a:avLst/>
          </a:prstGeom>
          <a:solidFill>
            <a:srgbClr val="FF7143"/>
          </a:solidFill>
          <a:ln w="12700">
            <a:solidFill>
              <a:srgbClr val="FF7143"/>
            </a:solidFill>
          </a:ln>
        </p:spPr>
        <p:txBody>
          <a:bodyPr/>
          <a:lstStyle/>
          <a:p/>
        </p:txBody>
      </p:sp>
      <p:sp>
        <p:nvSpPr>
          <p:cNvPr id="34" name="Text 34"/>
          <p:cNvSpPr txBox="1"/>
          <p:nvPr/>
        </p:nvSpPr>
        <p:spPr>
          <a:xfrm>
            <a:off x="8790432" y="4352544"/>
            <a:ext cx="890016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000" b="0">
                <a:solidFill>
                  <a:srgbClr val="6D7375"/>
                </a:solidFill>
                <a:latin typeface="Noto Sans JP"/>
                <a:ea typeface="Noto Sans JP"/>
              </a:rPr>
              <a:t>1回上限</a:t>
            </a:r>
          </a:p>
        </p:txBody>
      </p:sp>
      <p:sp>
        <p:nvSpPr>
          <p:cNvPr id="35" name="Rectangle 35"/>
          <p:cNvSpPr/>
          <p:nvPr/>
        </p:nvSpPr>
        <p:spPr>
          <a:xfrm>
            <a:off x="10073640" y="3154680"/>
            <a:ext cx="1219200" cy="1508760"/>
          </a:xfrm>
          <a:prstGeom prst="roundRect">
            <a:avLst/>
          </a:prstGeom>
          <a:solidFill>
            <a:srgbClr val="FFF8F5"/>
          </a:solidFill>
          <a:ln w="17780">
            <a:solidFill>
              <a:srgbClr val="FF7143"/>
            </a:solidFill>
          </a:ln>
        </p:spPr>
        <p:txBody>
          <a:bodyPr/>
          <a:lstStyle/>
          <a:p/>
        </p:txBody>
      </p:sp>
      <p:sp>
        <p:nvSpPr>
          <p:cNvPr id="36" name="Text 36"/>
          <p:cNvSpPr txBox="1"/>
          <p:nvPr/>
        </p:nvSpPr>
        <p:spPr>
          <a:xfrm>
            <a:off x="10238232" y="3383280"/>
            <a:ext cx="890016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2800" b="1">
                <a:solidFill>
                  <a:srgbClr val="FF7143"/>
                </a:solidFill>
                <a:latin typeface="Noto Sans JP"/>
                <a:ea typeface="Noto Sans JP"/>
              </a:rPr>
              <a:t>100</a:t>
            </a:r>
          </a:p>
        </p:txBody>
      </p:sp>
      <p:sp>
        <p:nvSpPr>
          <p:cNvPr id="37" name="Text 37"/>
          <p:cNvSpPr txBox="1"/>
          <p:nvPr/>
        </p:nvSpPr>
        <p:spPr>
          <a:xfrm>
            <a:off x="10238232" y="3813048"/>
            <a:ext cx="890016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600" b="1">
                <a:solidFill>
                  <a:srgbClr val="414242"/>
                </a:solidFill>
                <a:latin typeface="Noto Sans JP"/>
                <a:ea typeface="Noto Sans JP"/>
              </a:rPr>
              <a:t>AI要約</a:t>
            </a:r>
          </a:p>
        </p:txBody>
      </p:sp>
      <p:sp>
        <p:nvSpPr>
          <p:cNvPr id="38" name="Rectangle 38"/>
          <p:cNvSpPr/>
          <p:nvPr/>
        </p:nvSpPr>
        <p:spPr>
          <a:xfrm>
            <a:off x="10238232" y="4233672"/>
            <a:ext cx="890016" cy="73152"/>
          </a:xfrm>
          <a:prstGeom prst="roundRect">
            <a:avLst/>
          </a:prstGeom>
          <a:solidFill>
            <a:srgbClr val="E5EAEC"/>
          </a:solidFill>
          <a:ln w="12700">
            <a:solidFill>
              <a:srgbClr val="E5EAEC"/>
            </a:solidFill>
          </a:ln>
        </p:spPr>
        <p:txBody>
          <a:bodyPr/>
          <a:lstStyle/>
          <a:p/>
        </p:txBody>
      </p:sp>
      <p:sp>
        <p:nvSpPr>
          <p:cNvPr id="39" name="Rectangle 39"/>
          <p:cNvSpPr/>
          <p:nvPr/>
        </p:nvSpPr>
        <p:spPr>
          <a:xfrm>
            <a:off x="10238232" y="4233672"/>
            <a:ext cx="694212" cy="73152"/>
          </a:xfrm>
          <a:prstGeom prst="roundRect">
            <a:avLst/>
          </a:prstGeom>
          <a:solidFill>
            <a:srgbClr val="FF7143"/>
          </a:solidFill>
          <a:ln w="12700">
            <a:solidFill>
              <a:srgbClr val="FF7143"/>
            </a:solidFill>
          </a:ln>
        </p:spPr>
        <p:txBody>
          <a:bodyPr/>
          <a:lstStyle/>
          <a:p/>
        </p:txBody>
      </p:sp>
      <p:sp>
        <p:nvSpPr>
          <p:cNvPr id="40" name="Text 40"/>
          <p:cNvSpPr txBox="1"/>
          <p:nvPr/>
        </p:nvSpPr>
        <p:spPr>
          <a:xfrm>
            <a:off x="10238232" y="4352544"/>
            <a:ext cx="890016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000" b="0">
                <a:solidFill>
                  <a:srgbClr val="6D7375"/>
                </a:solidFill>
                <a:latin typeface="Noto Sans JP"/>
                <a:ea typeface="Noto Sans JP"/>
              </a:rPr>
              <a:t>要約100回/月</a:t>
            </a:r>
          </a:p>
        </p:txBody>
      </p:sp>
      <p:sp>
        <p:nvSpPr>
          <p:cNvPr id="41" name="Rectangle 41"/>
          <p:cNvSpPr/>
          <p:nvPr/>
        </p:nvSpPr>
        <p:spPr>
          <a:xfrm>
            <a:off x="7178040" y="4892040"/>
            <a:ext cx="4114800" cy="320040"/>
          </a:xfrm>
          <a:prstGeom prst="roundRect">
            <a:avLst/>
          </a:prstGeom>
          <a:solidFill>
            <a:srgbClr val="E8ECEE"/>
          </a:solidFill>
          <a:ln w="12700">
            <a:solidFill>
              <a:srgbClr val="E8ECEE"/>
            </a:solidFill>
          </a:ln>
        </p:spPr>
        <p:txBody>
          <a:bodyPr/>
          <a:lstStyle/>
          <a:p/>
        </p:txBody>
      </p:sp>
      <p:sp>
        <p:nvSpPr>
          <p:cNvPr id="42" name="Text 42"/>
          <p:cNvSpPr txBox="1"/>
          <p:nvPr/>
        </p:nvSpPr>
        <p:spPr>
          <a:xfrm>
            <a:off x="7333488" y="4956048"/>
            <a:ext cx="384048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100" b="1">
                <a:solidFill>
                  <a:srgbClr val="414242"/>
                </a:solidFill>
                <a:latin typeface="Noto Sans JP"/>
                <a:ea typeface="Noto Sans JP"/>
              </a:rPr>
              <a:t>上限超過時は停止 / 継続利用は kintone Pack 移管必須</a:t>
            </a:r>
          </a:p>
        </p:txBody>
      </p:sp>
      <p:sp>
        <p:nvSpPr>
          <p:cNvPr id="43" name="Rectangle 4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7143"/>
          </a:solidFill>
          <a:ln w="12700">
            <a:solidFill>
              <a:srgbClr val="FF7143"/>
            </a:solidFill>
          </a:ln>
        </p:spPr>
        <p:txBody>
          <a:bodyPr/>
          <a:lstStyle/>
          <a:p/>
        </p:txBody>
      </p:sp>
      <p:sp>
        <p:nvSpPr>
          <p:cNvPr id="44" name="Text 44"/>
          <p:cNvSpPr txBox="1"/>
          <p:nvPr/>
        </p:nvSpPr>
        <p:spPr>
          <a:xfrm>
            <a:off x="502920" y="384048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400" b="1">
                <a:solidFill>
                  <a:srgbClr val="6D7375"/>
                </a:solidFill>
                <a:latin typeface="Noto Sans JP"/>
                <a:ea typeface="Noto Sans JP"/>
              </a:rPr>
              <a:t>Log Lite</a:t>
            </a:r>
          </a:p>
        </p:txBody>
      </p:sp>
      <p:sp>
        <p:nvSpPr>
          <p:cNvPr id="45" name="Text 45"/>
          <p:cNvSpPr txBox="1"/>
          <p:nvPr/>
        </p:nvSpPr>
        <p:spPr>
          <a:xfrm>
            <a:off x="10698480" y="384048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r"/>
            <a:r>
              <a:rPr lang="ja-JP" sz="1500" b="1">
                <a:solidFill>
                  <a:srgbClr val="414242"/>
                </a:solidFill>
                <a:latin typeface="Noto Sans JP"/>
                <a:ea typeface="Noto Sans JP"/>
              </a:rPr>
              <a:t>FrontAgent</a:t>
            </a:r>
          </a:p>
        </p:txBody>
      </p:sp>
      <p:sp>
        <p:nvSpPr>
          <p:cNvPr id="46" name="Text 46"/>
          <p:cNvSpPr txBox="1"/>
          <p:nvPr/>
        </p:nvSpPr>
        <p:spPr>
          <a:xfrm>
            <a:off x="502920" y="804672"/>
            <a:ext cx="107899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3300" b="1">
                <a:solidFill>
                  <a:srgbClr val="414242"/>
                </a:solidFill>
                <a:latin typeface="Noto Sans JP"/>
                <a:ea typeface="Noto Sans JP"/>
              </a:rPr>
              <a:t>Log Liteは、Notta Premium基準の利用上限に寄せる</a:t>
            </a:r>
          </a:p>
        </p:txBody>
      </p:sp>
      <p:sp>
        <p:nvSpPr>
          <p:cNvPr id="47" name="Rectangle 47"/>
          <p:cNvSpPr/>
          <p:nvPr/>
        </p:nvSpPr>
        <p:spPr>
          <a:xfrm>
            <a:off x="502920" y="1417320"/>
            <a:ext cx="11155680" cy="32004"/>
          </a:xfrm>
          <a:prstGeom prst="rect">
            <a:avLst/>
          </a:prstGeom>
          <a:solidFill>
            <a:srgbClr val="FF7143"/>
          </a:solidFill>
          <a:ln w="12700">
            <a:solidFill>
              <a:srgbClr val="FF7143"/>
            </a:solidFill>
          </a:ln>
        </p:spPr>
        <p:txBody>
          <a:bodyPr/>
          <a:lstStyle/>
          <a:p/>
        </p:txBody>
      </p:sp>
      <p:sp>
        <p:nvSpPr>
          <p:cNvPr id="48" name="Rectangle 48"/>
          <p:cNvSpPr/>
          <p:nvPr/>
        </p:nvSpPr>
        <p:spPr>
          <a:xfrm>
            <a:off x="502920" y="6272784"/>
            <a:ext cx="11155680" cy="10973"/>
          </a:xfrm>
          <a:prstGeom prst="rect">
            <a:avLst/>
          </a:prstGeom>
          <a:solidFill>
            <a:srgbClr val="E5EAEC"/>
          </a:solidFill>
          <a:ln w="12700">
            <a:solidFill>
              <a:srgbClr val="E5EAEC"/>
            </a:solidFill>
          </a:ln>
        </p:spPr>
        <p:txBody>
          <a:bodyPr/>
          <a:lstStyle/>
          <a:p/>
        </p:txBody>
      </p:sp>
      <p:sp>
        <p:nvSpPr>
          <p:cNvPr id="49" name="Text 49"/>
          <p:cNvSpPr txBox="1"/>
          <p:nvPr/>
        </p:nvSpPr>
        <p:spPr>
          <a:xfrm>
            <a:off x="502920" y="6391656"/>
            <a:ext cx="89611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300" b="1">
                <a:solidFill>
                  <a:srgbClr val="6D7375"/>
                </a:solidFill>
                <a:latin typeface="Noto Sans JP"/>
                <a:ea typeface="Noto Sans JP"/>
              </a:rPr>
              <a:t>Notta Premium基準の上限で、価格アンカーとして扱う</a:t>
            </a:r>
          </a:p>
        </p:txBody>
      </p:sp>
      <p:sp>
        <p:nvSpPr>
          <p:cNvPr id="50" name="Text 50"/>
          <p:cNvSpPr txBox="1"/>
          <p:nvPr/>
        </p:nvSpPr>
        <p:spPr>
          <a:xfrm>
            <a:off x="11064240" y="6391656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r"/>
            <a:r>
              <a:rPr lang="ja-JP" sz="1300" b="1">
                <a:solidFill>
                  <a:srgbClr val="6D7375"/>
                </a:solidFill>
                <a:latin typeface="Noto Sans JP"/>
                <a:ea typeface="Noto Sans JP"/>
              </a:rPr>
              <a:t>06</a:t>
            </a:r>
          </a:p>
        </p:txBody>
      </p:sp>
      <p:sp>
        <p:nvSpPr>
          <p:cNvPr id="51" name="Circle 51"/>
          <p:cNvSpPr/>
          <p:nvPr/>
        </p:nvSpPr>
        <p:spPr>
          <a:xfrm>
            <a:off x="11841480" y="6473952"/>
            <a:ext cx="54864" cy="54864"/>
          </a:xfrm>
          <a:prstGeom prst="ellipse">
            <a:avLst/>
          </a:prstGeom>
          <a:solidFill>
            <a:srgbClr val="FF7143"/>
          </a:solidFill>
          <a:ln w="12700">
            <a:solidFill>
              <a:srgbClr val="FF7143"/>
            </a:solidFill>
          </a:ln>
        </p:spPr>
        <p:txBody>
          <a:bodyPr anchor="ctr"/>
          <a:lstStyle/>
          <a:p>
            <a:pPr algn="ctr"/>
            <a:r>
              <a:rPr lang="ja-JP" sz="1600" b="1">
                <a:solidFill>
                  <a:srgbClr val="FF7143"/>
                </a:solidFill>
                <a:ea typeface="Noto Sans JP"/>
              </a:rPr>
              <a:t/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/>
          <p:nvPr/>
        </p:nvSpPr>
        <p:spPr>
          <a:xfrm>
            <a:off x="502920" y="2103120"/>
            <a:ext cx="5120640" cy="3017520"/>
          </a:xfrm>
          <a:prstGeom prst="roundRect">
            <a:avLst/>
          </a:prstGeom>
          <a:solidFill>
            <a:srgbClr val="FBFCFC"/>
          </a:solidFill>
          <a:ln w="12700">
            <a:solidFill>
              <a:srgbClr val="FF7143"/>
            </a:solidFill>
          </a:ln>
        </p:spPr>
        <p:txBody>
          <a:bodyPr/>
          <a:lstStyle/>
          <a:p/>
        </p:txBody>
      </p:sp>
      <p:sp>
        <p:nvSpPr>
          <p:cNvPr id="5" name="Text 5"/>
          <p:cNvSpPr txBox="1"/>
          <p:nvPr/>
        </p:nvSpPr>
        <p:spPr>
          <a:xfrm>
            <a:off x="822960" y="2606040"/>
            <a:ext cx="1463040" cy="256032"/>
          </a:xfrm>
          <a:prstGeom prst="rect">
            <a:avLst/>
          </a:prstGeom>
          <a:solidFill>
            <a:srgbClr val="FFF1EB"/>
          </a:solidFill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200" b="1">
                <a:solidFill>
                  <a:srgbClr val="FF7143"/>
                </a:solidFill>
                <a:latin typeface="Noto Sans JP"/>
                <a:ea typeface="Noto Sans JP"/>
              </a:rPr>
              <a:t>初年度限定（税抜）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22960" y="2971800"/>
            <a:ext cx="4206240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3800" b="1">
                <a:solidFill>
                  <a:srgbClr val="FF7143"/>
                </a:solidFill>
                <a:latin typeface="Noto Sans JP"/>
                <a:ea typeface="Noto Sans JP"/>
              </a:rPr>
              <a:t>3,980円/ID/月（税抜）</a:t>
            </a:r>
          </a:p>
        </p:txBody>
      </p:sp>
      <p:sp>
        <p:nvSpPr>
          <p:cNvPr id="7" name="Rectangle 7"/>
          <p:cNvSpPr/>
          <p:nvPr/>
        </p:nvSpPr>
        <p:spPr>
          <a:xfrm>
            <a:off x="822960" y="3703320"/>
            <a:ext cx="4480560" cy="292608"/>
          </a:xfrm>
          <a:prstGeom prst="rect">
            <a:avLst/>
          </a:prstGeom>
          <a:solidFill>
            <a:srgbClr val="FBFCFC"/>
          </a:solidFill>
          <a:ln w="12700">
            <a:solidFill>
              <a:srgbClr val="FFD5C6"/>
            </a:solidFill>
          </a:ln>
        </p:spPr>
        <p:txBody>
          <a:bodyPr/>
          <a:lstStyle/>
          <a:p/>
        </p:txBody>
      </p:sp>
      <p:sp>
        <p:nvSpPr>
          <p:cNvPr id="8" name="Text 8"/>
          <p:cNvSpPr txBox="1"/>
          <p:nvPr/>
        </p:nvSpPr>
        <p:spPr>
          <a:xfrm>
            <a:off x="914400" y="3749040"/>
            <a:ext cx="41148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200" b="1">
                <a:solidFill>
                  <a:srgbClr val="414242"/>
                </a:solidFill>
                <a:latin typeface="Noto Sans JP"/>
                <a:ea typeface="Noto Sans JP"/>
              </a:rPr>
              <a:t>対象 契約開始から12ヶ月</a:t>
            </a:r>
          </a:p>
        </p:txBody>
      </p:sp>
      <p:sp>
        <p:nvSpPr>
          <p:cNvPr id="9" name="Rectangle 9"/>
          <p:cNvSpPr/>
          <p:nvPr/>
        </p:nvSpPr>
        <p:spPr>
          <a:xfrm>
            <a:off x="822960" y="4087368"/>
            <a:ext cx="4480560" cy="292608"/>
          </a:xfrm>
          <a:prstGeom prst="rect">
            <a:avLst/>
          </a:prstGeom>
          <a:solidFill>
            <a:srgbClr val="FBFCFC"/>
          </a:solidFill>
          <a:ln w="12700">
            <a:solidFill>
              <a:srgbClr val="FFD5C6"/>
            </a:solidFill>
          </a:ln>
        </p:spPr>
        <p:txBody>
          <a:bodyPr/>
          <a:lstStyle/>
          <a:p/>
        </p:txBody>
      </p:sp>
      <p:sp>
        <p:nvSpPr>
          <p:cNvPr id="10" name="Text 10"/>
          <p:cNvSpPr txBox="1"/>
          <p:nvPr/>
        </p:nvSpPr>
        <p:spPr>
          <a:xfrm>
            <a:off x="914400" y="4133088"/>
            <a:ext cx="41148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200" b="1">
                <a:solidFill>
                  <a:srgbClr val="414242"/>
                </a:solidFill>
                <a:latin typeface="Noto Sans JP"/>
                <a:ea typeface="Noto Sans JP"/>
              </a:rPr>
              <a:t>対象外 LogLiteからの移管</a:t>
            </a:r>
          </a:p>
        </p:txBody>
      </p:sp>
      <p:sp>
        <p:nvSpPr>
          <p:cNvPr id="11" name="Rectangle 11"/>
          <p:cNvSpPr/>
          <p:nvPr/>
        </p:nvSpPr>
        <p:spPr>
          <a:xfrm>
            <a:off x="822960" y="4471416"/>
            <a:ext cx="4480560" cy="292608"/>
          </a:xfrm>
          <a:prstGeom prst="rect">
            <a:avLst/>
          </a:prstGeom>
          <a:solidFill>
            <a:srgbClr val="FBFCFC"/>
          </a:solidFill>
          <a:ln w="12700">
            <a:solidFill>
              <a:srgbClr val="FFD5C6"/>
            </a:solidFill>
          </a:ln>
        </p:spPr>
        <p:txBody>
          <a:bodyPr/>
          <a:lstStyle/>
          <a:p/>
        </p:txBody>
      </p:sp>
      <p:sp>
        <p:nvSpPr>
          <p:cNvPr id="12" name="Text 12"/>
          <p:cNvSpPr txBox="1"/>
          <p:nvPr/>
        </p:nvSpPr>
        <p:spPr>
          <a:xfrm>
            <a:off x="914400" y="4517136"/>
            <a:ext cx="41148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200" b="1">
                <a:solidFill>
                  <a:srgbClr val="414242"/>
                </a:solidFill>
                <a:latin typeface="Noto Sans JP"/>
                <a:ea typeface="Noto Sans JP"/>
              </a:rPr>
              <a:t>ID 2ID以上・追加IDはこちら</a:t>
            </a:r>
          </a:p>
        </p:txBody>
      </p:sp>
      <p:sp>
        <p:nvSpPr>
          <p:cNvPr id="13" name="Rectangle 13"/>
          <p:cNvSpPr/>
          <p:nvPr/>
        </p:nvSpPr>
        <p:spPr>
          <a:xfrm>
            <a:off x="822960" y="4855464"/>
            <a:ext cx="4480560" cy="292608"/>
          </a:xfrm>
          <a:prstGeom prst="rect">
            <a:avLst/>
          </a:prstGeom>
          <a:solidFill>
            <a:srgbClr val="FBFCFC"/>
          </a:solidFill>
          <a:ln w="12700">
            <a:solidFill>
              <a:srgbClr val="FFD5C6"/>
            </a:solidFill>
          </a:ln>
        </p:spPr>
        <p:txBody>
          <a:bodyPr/>
          <a:lstStyle/>
          <a:p/>
        </p:txBody>
      </p:sp>
      <p:sp>
        <p:nvSpPr>
          <p:cNvPr id="14" name="Text 14"/>
          <p:cNvSpPr txBox="1"/>
          <p:nvPr/>
        </p:nvSpPr>
        <p:spPr>
          <a:xfrm>
            <a:off x="914400" y="4901184"/>
            <a:ext cx="41148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200" b="0">
                <a:solidFill>
                  <a:srgbClr val="6D7375"/>
                </a:solidFill>
                <a:latin typeface="Noto Sans JP"/>
                <a:ea typeface="Noto Sans JP"/>
              </a:rPr>
              <a:t>2年目以降 通常5,980円/ID/月（税抜）</a:t>
            </a:r>
          </a:p>
        </p:txBody>
      </p:sp>
      <p:sp>
        <p:nvSpPr>
          <p:cNvPr id="15" name="Rectangle 15"/>
          <p:cNvSpPr/>
          <p:nvPr/>
        </p:nvSpPr>
        <p:spPr>
          <a:xfrm>
            <a:off x="5806440" y="2103120"/>
            <a:ext cx="914400" cy="502920"/>
          </a:xfrm>
          <a:prstGeom prst="rect">
            <a:avLst/>
          </a:prstGeom>
          <a:solidFill>
            <a:srgbClr val="F3F5F5"/>
          </a:solidFill>
          <a:ln w="12700">
            <a:solidFill>
              <a:srgbClr val="E5EAEC"/>
            </a:solidFill>
          </a:ln>
        </p:spPr>
        <p:txBody>
          <a:bodyPr/>
          <a:lstStyle/>
          <a:p/>
        </p:txBody>
      </p:sp>
      <p:sp>
        <p:nvSpPr>
          <p:cNvPr id="16" name="Text 16"/>
          <p:cNvSpPr txBox="1"/>
          <p:nvPr/>
        </p:nvSpPr>
        <p:spPr>
          <a:xfrm>
            <a:off x="5843016" y="2148840"/>
            <a:ext cx="841248" cy="429768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300" b="1">
                <a:solidFill>
                  <a:srgbClr val="414242"/>
                </a:solidFill>
                <a:latin typeface="Noto Sans JP"/>
                <a:ea typeface="Noto Sans JP"/>
              </a:rPr>
              <a:t>項目</a:t>
            </a:r>
          </a:p>
        </p:txBody>
      </p:sp>
      <p:sp>
        <p:nvSpPr>
          <p:cNvPr id="17" name="Rectangle 17"/>
          <p:cNvSpPr/>
          <p:nvPr/>
        </p:nvSpPr>
        <p:spPr>
          <a:xfrm>
            <a:off x="6720840" y="2103120"/>
            <a:ext cx="1737360" cy="502920"/>
          </a:xfrm>
          <a:prstGeom prst="rect">
            <a:avLst/>
          </a:prstGeom>
          <a:solidFill>
            <a:srgbClr val="F3F5F5"/>
          </a:solidFill>
          <a:ln w="12700">
            <a:solidFill>
              <a:srgbClr val="E5EAEC"/>
            </a:solidFill>
          </a:ln>
        </p:spPr>
        <p:txBody>
          <a:bodyPr/>
          <a:lstStyle/>
          <a:p/>
        </p:txBody>
      </p:sp>
      <p:sp>
        <p:nvSpPr>
          <p:cNvPr id="18" name="Text 18"/>
          <p:cNvSpPr txBox="1"/>
          <p:nvPr/>
        </p:nvSpPr>
        <p:spPr>
          <a:xfrm>
            <a:off x="6757416" y="2148840"/>
            <a:ext cx="1664208" cy="429768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300" b="1">
                <a:solidFill>
                  <a:srgbClr val="414242"/>
                </a:solidFill>
                <a:latin typeface="Noto Sans JP"/>
                <a:ea typeface="Noto Sans JP"/>
              </a:rPr>
              <a:t>通常（税抜）</a:t>
            </a:r>
          </a:p>
        </p:txBody>
      </p:sp>
      <p:sp>
        <p:nvSpPr>
          <p:cNvPr id="19" name="Rectangle 19"/>
          <p:cNvSpPr/>
          <p:nvPr/>
        </p:nvSpPr>
        <p:spPr>
          <a:xfrm>
            <a:off x="8458200" y="2103120"/>
            <a:ext cx="2057400" cy="502920"/>
          </a:xfrm>
          <a:prstGeom prst="rect">
            <a:avLst/>
          </a:prstGeom>
          <a:solidFill>
            <a:srgbClr val="F3F5F5"/>
          </a:solidFill>
          <a:ln w="12700">
            <a:solidFill>
              <a:srgbClr val="E5EAEC"/>
            </a:solidFill>
          </a:ln>
        </p:spPr>
        <p:txBody>
          <a:bodyPr/>
          <a:lstStyle/>
          <a:p/>
        </p:txBody>
      </p:sp>
      <p:sp>
        <p:nvSpPr>
          <p:cNvPr id="20" name="Text 20"/>
          <p:cNvSpPr txBox="1"/>
          <p:nvPr/>
        </p:nvSpPr>
        <p:spPr>
          <a:xfrm>
            <a:off x="8494776" y="2148840"/>
            <a:ext cx="1984248" cy="429768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300" b="1">
                <a:solidFill>
                  <a:srgbClr val="414242"/>
                </a:solidFill>
                <a:latin typeface="Noto Sans JP"/>
                <a:ea typeface="Noto Sans JP"/>
              </a:rPr>
              <a:t>初年度限定（税抜）</a:t>
            </a:r>
          </a:p>
        </p:txBody>
      </p:sp>
      <p:sp>
        <p:nvSpPr>
          <p:cNvPr id="21" name="Rectangle 21"/>
          <p:cNvSpPr/>
          <p:nvPr/>
        </p:nvSpPr>
        <p:spPr>
          <a:xfrm>
            <a:off x="5806440" y="2606040"/>
            <a:ext cx="914400" cy="502920"/>
          </a:xfrm>
          <a:prstGeom prst="rect">
            <a:avLst/>
          </a:prstGeom>
          <a:solidFill>
            <a:srgbClr val="FBFCFC"/>
          </a:solidFill>
          <a:ln w="12700">
            <a:solidFill>
              <a:srgbClr val="E5EAEC"/>
            </a:solidFill>
          </a:ln>
        </p:spPr>
        <p:txBody>
          <a:bodyPr/>
          <a:lstStyle/>
          <a:p/>
        </p:txBody>
      </p:sp>
      <p:sp>
        <p:nvSpPr>
          <p:cNvPr id="22" name="Text 22"/>
          <p:cNvSpPr txBox="1"/>
          <p:nvPr/>
        </p:nvSpPr>
        <p:spPr>
          <a:xfrm>
            <a:off x="5843016" y="2651760"/>
            <a:ext cx="841248" cy="429768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300" b="1">
                <a:solidFill>
                  <a:srgbClr val="414242"/>
                </a:solidFill>
                <a:latin typeface="Noto Sans JP"/>
                <a:ea typeface="Noto Sans JP"/>
              </a:rPr>
              <a:t>ID単価</a:t>
            </a:r>
          </a:p>
        </p:txBody>
      </p:sp>
      <p:sp>
        <p:nvSpPr>
          <p:cNvPr id="23" name="Rectangle 23"/>
          <p:cNvSpPr/>
          <p:nvPr/>
        </p:nvSpPr>
        <p:spPr>
          <a:xfrm>
            <a:off x="6720840" y="2606040"/>
            <a:ext cx="1737360" cy="502920"/>
          </a:xfrm>
          <a:prstGeom prst="rect">
            <a:avLst/>
          </a:prstGeom>
          <a:solidFill>
            <a:srgbClr val="FBFCFC"/>
          </a:solidFill>
          <a:ln w="12700">
            <a:solidFill>
              <a:srgbClr val="E5EAEC"/>
            </a:solidFill>
          </a:ln>
        </p:spPr>
        <p:txBody>
          <a:bodyPr/>
          <a:lstStyle/>
          <a:p/>
        </p:txBody>
      </p:sp>
      <p:sp>
        <p:nvSpPr>
          <p:cNvPr id="24" name="Text 24"/>
          <p:cNvSpPr txBox="1"/>
          <p:nvPr/>
        </p:nvSpPr>
        <p:spPr>
          <a:xfrm>
            <a:off x="6757416" y="2651760"/>
            <a:ext cx="1664208" cy="429768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300" b="0">
                <a:solidFill>
                  <a:srgbClr val="6D7375"/>
                </a:solidFill>
                <a:latin typeface="Noto Sans JP"/>
                <a:ea typeface="Noto Sans JP"/>
              </a:rPr>
              <a:t>5,980円 / ID / 月（税抜）</a:t>
            </a:r>
          </a:p>
        </p:txBody>
      </p:sp>
      <p:sp>
        <p:nvSpPr>
          <p:cNvPr id="25" name="Rectangle 25"/>
          <p:cNvSpPr/>
          <p:nvPr/>
        </p:nvSpPr>
        <p:spPr>
          <a:xfrm>
            <a:off x="8458200" y="2606040"/>
            <a:ext cx="2057400" cy="502920"/>
          </a:xfrm>
          <a:prstGeom prst="rect">
            <a:avLst/>
          </a:prstGeom>
          <a:solidFill>
            <a:srgbClr val="FBFCFC"/>
          </a:solidFill>
          <a:ln w="12700">
            <a:solidFill>
              <a:srgbClr val="E5EAEC"/>
            </a:solidFill>
          </a:ln>
        </p:spPr>
        <p:txBody>
          <a:bodyPr/>
          <a:lstStyle/>
          <a:p/>
        </p:txBody>
      </p:sp>
      <p:sp>
        <p:nvSpPr>
          <p:cNvPr id="26" name="Text 26"/>
          <p:cNvSpPr txBox="1"/>
          <p:nvPr/>
        </p:nvSpPr>
        <p:spPr>
          <a:xfrm>
            <a:off x="8494776" y="2651760"/>
            <a:ext cx="1984248" cy="429768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300" b="0">
                <a:solidFill>
                  <a:srgbClr val="6D7375"/>
                </a:solidFill>
                <a:latin typeface="Noto Sans JP"/>
                <a:ea typeface="Noto Sans JP"/>
              </a:rPr>
              <a:t>3,980円 / ID / 月（税抜）</a:t>
            </a:r>
          </a:p>
        </p:txBody>
      </p:sp>
      <p:sp>
        <p:nvSpPr>
          <p:cNvPr id="27" name="Rectangle 27"/>
          <p:cNvSpPr/>
          <p:nvPr/>
        </p:nvSpPr>
        <p:spPr>
          <a:xfrm>
            <a:off x="5806440" y="3108960"/>
            <a:ext cx="914400" cy="502920"/>
          </a:xfrm>
          <a:prstGeom prst="rect">
            <a:avLst/>
          </a:prstGeom>
          <a:solidFill>
            <a:srgbClr val="FBFCFC"/>
          </a:solidFill>
          <a:ln w="12700">
            <a:solidFill>
              <a:srgbClr val="E5EAEC"/>
            </a:solidFill>
          </a:ln>
        </p:spPr>
        <p:txBody>
          <a:bodyPr/>
          <a:lstStyle/>
          <a:p/>
        </p:txBody>
      </p:sp>
      <p:sp>
        <p:nvSpPr>
          <p:cNvPr id="28" name="Text 28"/>
          <p:cNvSpPr txBox="1"/>
          <p:nvPr/>
        </p:nvSpPr>
        <p:spPr>
          <a:xfrm>
            <a:off x="5843016" y="3154680"/>
            <a:ext cx="841248" cy="429768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300" b="1">
                <a:solidFill>
                  <a:srgbClr val="414242"/>
                </a:solidFill>
                <a:latin typeface="Noto Sans JP"/>
                <a:ea typeface="Noto Sans JP"/>
              </a:rPr>
              <a:t>最小契約</a:t>
            </a:r>
          </a:p>
        </p:txBody>
      </p:sp>
      <p:sp>
        <p:nvSpPr>
          <p:cNvPr id="29" name="Rectangle 29"/>
          <p:cNvSpPr/>
          <p:nvPr/>
        </p:nvSpPr>
        <p:spPr>
          <a:xfrm>
            <a:off x="6720840" y="3108960"/>
            <a:ext cx="1737360" cy="502920"/>
          </a:xfrm>
          <a:prstGeom prst="rect">
            <a:avLst/>
          </a:prstGeom>
          <a:solidFill>
            <a:srgbClr val="FBFCFC"/>
          </a:solidFill>
          <a:ln w="12700">
            <a:solidFill>
              <a:srgbClr val="E5EAEC"/>
            </a:solidFill>
          </a:ln>
        </p:spPr>
        <p:txBody>
          <a:bodyPr/>
          <a:lstStyle/>
          <a:p/>
        </p:txBody>
      </p:sp>
      <p:sp>
        <p:nvSpPr>
          <p:cNvPr id="30" name="Text 30"/>
          <p:cNvSpPr txBox="1"/>
          <p:nvPr/>
        </p:nvSpPr>
        <p:spPr>
          <a:xfrm>
            <a:off x="6757416" y="3154680"/>
            <a:ext cx="1664208" cy="429768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300" b="0">
                <a:solidFill>
                  <a:srgbClr val="6D7375"/>
                </a:solidFill>
                <a:latin typeface="Noto Sans JP"/>
                <a:ea typeface="Noto Sans JP"/>
              </a:rPr>
              <a:t>1ID</a:t>
            </a:r>
          </a:p>
        </p:txBody>
      </p:sp>
      <p:sp>
        <p:nvSpPr>
          <p:cNvPr id="31" name="Rectangle 31"/>
          <p:cNvSpPr/>
          <p:nvPr/>
        </p:nvSpPr>
        <p:spPr>
          <a:xfrm>
            <a:off x="8458200" y="3108960"/>
            <a:ext cx="2057400" cy="502920"/>
          </a:xfrm>
          <a:prstGeom prst="rect">
            <a:avLst/>
          </a:prstGeom>
          <a:solidFill>
            <a:srgbClr val="FBFCFC"/>
          </a:solidFill>
          <a:ln w="12700">
            <a:solidFill>
              <a:srgbClr val="E5EAEC"/>
            </a:solidFill>
          </a:ln>
        </p:spPr>
        <p:txBody>
          <a:bodyPr/>
          <a:lstStyle/>
          <a:p/>
        </p:txBody>
      </p:sp>
      <p:sp>
        <p:nvSpPr>
          <p:cNvPr id="32" name="Text 32"/>
          <p:cNvSpPr txBox="1"/>
          <p:nvPr/>
        </p:nvSpPr>
        <p:spPr>
          <a:xfrm>
            <a:off x="8494776" y="3154680"/>
            <a:ext cx="1984248" cy="429768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300" b="0">
                <a:solidFill>
                  <a:srgbClr val="6D7375"/>
                </a:solidFill>
                <a:latin typeface="Noto Sans JP"/>
                <a:ea typeface="Noto Sans JP"/>
              </a:rPr>
              <a:t>1ID</a:t>
            </a:r>
          </a:p>
        </p:txBody>
      </p:sp>
      <p:sp>
        <p:nvSpPr>
          <p:cNvPr id="33" name="Rectangle 33"/>
          <p:cNvSpPr/>
          <p:nvPr/>
        </p:nvSpPr>
        <p:spPr>
          <a:xfrm>
            <a:off x="5806440" y="3611880"/>
            <a:ext cx="914400" cy="502920"/>
          </a:xfrm>
          <a:prstGeom prst="rect">
            <a:avLst/>
          </a:prstGeom>
          <a:solidFill>
            <a:srgbClr val="FBFCFC"/>
          </a:solidFill>
          <a:ln w="12700">
            <a:solidFill>
              <a:srgbClr val="E5EAEC"/>
            </a:solidFill>
          </a:ln>
        </p:spPr>
        <p:txBody>
          <a:bodyPr/>
          <a:lstStyle/>
          <a:p/>
        </p:txBody>
      </p:sp>
      <p:sp>
        <p:nvSpPr>
          <p:cNvPr id="34" name="Text 34"/>
          <p:cNvSpPr txBox="1"/>
          <p:nvPr/>
        </p:nvSpPr>
        <p:spPr>
          <a:xfrm>
            <a:off x="5843016" y="3657600"/>
            <a:ext cx="841248" cy="429768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300" b="1">
                <a:solidFill>
                  <a:srgbClr val="414242"/>
                </a:solidFill>
                <a:latin typeface="Noto Sans JP"/>
                <a:ea typeface="Noto Sans JP"/>
              </a:rPr>
              <a:t>初期費用</a:t>
            </a:r>
          </a:p>
        </p:txBody>
      </p:sp>
      <p:sp>
        <p:nvSpPr>
          <p:cNvPr id="35" name="Rectangle 35"/>
          <p:cNvSpPr/>
          <p:nvPr/>
        </p:nvSpPr>
        <p:spPr>
          <a:xfrm>
            <a:off x="6720840" y="3611880"/>
            <a:ext cx="1737360" cy="502920"/>
          </a:xfrm>
          <a:prstGeom prst="rect">
            <a:avLst/>
          </a:prstGeom>
          <a:solidFill>
            <a:srgbClr val="FBFCFC"/>
          </a:solidFill>
          <a:ln w="12700">
            <a:solidFill>
              <a:srgbClr val="E5EAEC"/>
            </a:solidFill>
          </a:ln>
        </p:spPr>
        <p:txBody>
          <a:bodyPr/>
          <a:lstStyle/>
          <a:p/>
        </p:txBody>
      </p:sp>
      <p:sp>
        <p:nvSpPr>
          <p:cNvPr id="36" name="Text 36"/>
          <p:cNvSpPr txBox="1"/>
          <p:nvPr/>
        </p:nvSpPr>
        <p:spPr>
          <a:xfrm>
            <a:off x="6757416" y="3657600"/>
            <a:ext cx="1664208" cy="429768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300" b="0">
                <a:solidFill>
                  <a:srgbClr val="6D7375"/>
                </a:solidFill>
                <a:latin typeface="Noto Sans JP"/>
                <a:ea typeface="Noto Sans JP"/>
              </a:rPr>
              <a:t>0円</a:t>
            </a:r>
          </a:p>
        </p:txBody>
      </p:sp>
      <p:sp>
        <p:nvSpPr>
          <p:cNvPr id="37" name="Rectangle 37"/>
          <p:cNvSpPr/>
          <p:nvPr/>
        </p:nvSpPr>
        <p:spPr>
          <a:xfrm>
            <a:off x="8458200" y="3611880"/>
            <a:ext cx="2057400" cy="502920"/>
          </a:xfrm>
          <a:prstGeom prst="rect">
            <a:avLst/>
          </a:prstGeom>
          <a:solidFill>
            <a:srgbClr val="FBFCFC"/>
          </a:solidFill>
          <a:ln w="12700">
            <a:solidFill>
              <a:srgbClr val="E5EAEC"/>
            </a:solidFill>
          </a:ln>
        </p:spPr>
        <p:txBody>
          <a:bodyPr/>
          <a:lstStyle/>
          <a:p/>
        </p:txBody>
      </p:sp>
      <p:sp>
        <p:nvSpPr>
          <p:cNvPr id="38" name="Text 38"/>
          <p:cNvSpPr txBox="1"/>
          <p:nvPr/>
        </p:nvSpPr>
        <p:spPr>
          <a:xfrm>
            <a:off x="8494776" y="3657600"/>
            <a:ext cx="1984248" cy="429768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300" b="0">
                <a:solidFill>
                  <a:srgbClr val="6D7375"/>
                </a:solidFill>
                <a:latin typeface="Noto Sans JP"/>
                <a:ea typeface="Noto Sans JP"/>
              </a:rPr>
              <a:t>0円</a:t>
            </a:r>
          </a:p>
        </p:txBody>
      </p:sp>
      <p:sp>
        <p:nvSpPr>
          <p:cNvPr id="39" name="Rectangle 39"/>
          <p:cNvSpPr/>
          <p:nvPr/>
        </p:nvSpPr>
        <p:spPr>
          <a:xfrm>
            <a:off x="5806440" y="4114800"/>
            <a:ext cx="914400" cy="502920"/>
          </a:xfrm>
          <a:prstGeom prst="rect">
            <a:avLst/>
          </a:prstGeom>
          <a:solidFill>
            <a:srgbClr val="FBFCFC"/>
          </a:solidFill>
          <a:ln w="12700">
            <a:solidFill>
              <a:srgbClr val="E5EAEC"/>
            </a:solidFill>
          </a:ln>
        </p:spPr>
        <p:txBody>
          <a:bodyPr/>
          <a:lstStyle/>
          <a:p/>
        </p:txBody>
      </p:sp>
      <p:sp>
        <p:nvSpPr>
          <p:cNvPr id="40" name="Text 40"/>
          <p:cNvSpPr txBox="1"/>
          <p:nvPr/>
        </p:nvSpPr>
        <p:spPr>
          <a:xfrm>
            <a:off x="5843016" y="4160520"/>
            <a:ext cx="841248" cy="429768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300" b="1">
                <a:solidFill>
                  <a:srgbClr val="414242"/>
                </a:solidFill>
                <a:latin typeface="Noto Sans JP"/>
                <a:ea typeface="Noto Sans JP"/>
              </a:rPr>
              <a:t>契約期間</a:t>
            </a:r>
          </a:p>
        </p:txBody>
      </p:sp>
      <p:sp>
        <p:nvSpPr>
          <p:cNvPr id="41" name="Rectangle 41"/>
          <p:cNvSpPr/>
          <p:nvPr/>
        </p:nvSpPr>
        <p:spPr>
          <a:xfrm>
            <a:off x="6720840" y="4114800"/>
            <a:ext cx="1737360" cy="502920"/>
          </a:xfrm>
          <a:prstGeom prst="rect">
            <a:avLst/>
          </a:prstGeom>
          <a:solidFill>
            <a:srgbClr val="FBFCFC"/>
          </a:solidFill>
          <a:ln w="12700">
            <a:solidFill>
              <a:srgbClr val="E5EAEC"/>
            </a:solidFill>
          </a:ln>
        </p:spPr>
        <p:txBody>
          <a:bodyPr/>
          <a:lstStyle/>
          <a:p/>
        </p:txBody>
      </p:sp>
      <p:sp>
        <p:nvSpPr>
          <p:cNvPr id="42" name="Text 42"/>
          <p:cNvSpPr txBox="1"/>
          <p:nvPr/>
        </p:nvSpPr>
        <p:spPr>
          <a:xfrm>
            <a:off x="6757416" y="4160520"/>
            <a:ext cx="1664208" cy="429768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300" b="0">
                <a:solidFill>
                  <a:srgbClr val="6D7375"/>
                </a:solidFill>
                <a:latin typeface="Noto Sans JP"/>
                <a:ea typeface="Noto Sans JP"/>
              </a:rPr>
              <a:t>12ヶ月</a:t>
            </a:r>
          </a:p>
        </p:txBody>
      </p:sp>
      <p:sp>
        <p:nvSpPr>
          <p:cNvPr id="43" name="Rectangle 43"/>
          <p:cNvSpPr/>
          <p:nvPr/>
        </p:nvSpPr>
        <p:spPr>
          <a:xfrm>
            <a:off x="8458200" y="4114800"/>
            <a:ext cx="2057400" cy="502920"/>
          </a:xfrm>
          <a:prstGeom prst="rect">
            <a:avLst/>
          </a:prstGeom>
          <a:solidFill>
            <a:srgbClr val="FBFCFC"/>
          </a:solidFill>
          <a:ln w="12700">
            <a:solidFill>
              <a:srgbClr val="E5EAEC"/>
            </a:solidFill>
          </a:ln>
        </p:spPr>
        <p:txBody>
          <a:bodyPr/>
          <a:lstStyle/>
          <a:p/>
        </p:txBody>
      </p:sp>
      <p:sp>
        <p:nvSpPr>
          <p:cNvPr id="44" name="Text 44"/>
          <p:cNvSpPr txBox="1"/>
          <p:nvPr/>
        </p:nvSpPr>
        <p:spPr>
          <a:xfrm>
            <a:off x="8494776" y="4160520"/>
            <a:ext cx="1984248" cy="429768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300" b="0">
                <a:solidFill>
                  <a:srgbClr val="6D7375"/>
                </a:solidFill>
                <a:latin typeface="Noto Sans JP"/>
                <a:ea typeface="Noto Sans JP"/>
              </a:rPr>
              <a:t>初年度12ヶ月</a:t>
            </a:r>
          </a:p>
        </p:txBody>
      </p:sp>
      <p:sp>
        <p:nvSpPr>
          <p:cNvPr id="45" name="Rectangle 45"/>
          <p:cNvSpPr/>
          <p:nvPr/>
        </p:nvSpPr>
        <p:spPr>
          <a:xfrm>
            <a:off x="5806440" y="4617720"/>
            <a:ext cx="914400" cy="502920"/>
          </a:xfrm>
          <a:prstGeom prst="rect">
            <a:avLst/>
          </a:prstGeom>
          <a:solidFill>
            <a:srgbClr val="FBFCFC"/>
          </a:solidFill>
          <a:ln w="12700">
            <a:solidFill>
              <a:srgbClr val="E5EAEC"/>
            </a:solidFill>
          </a:ln>
        </p:spPr>
        <p:txBody>
          <a:bodyPr/>
          <a:lstStyle/>
          <a:p/>
        </p:txBody>
      </p:sp>
      <p:sp>
        <p:nvSpPr>
          <p:cNvPr id="46" name="Text 46"/>
          <p:cNvSpPr txBox="1"/>
          <p:nvPr/>
        </p:nvSpPr>
        <p:spPr>
          <a:xfrm>
            <a:off x="5843016" y="4663440"/>
            <a:ext cx="841248" cy="429768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300" b="1">
                <a:solidFill>
                  <a:srgbClr val="414242"/>
                </a:solidFill>
                <a:latin typeface="Noto Sans JP"/>
                <a:ea typeface="Noto Sans JP"/>
              </a:rPr>
              <a:t>適用条件</a:t>
            </a:r>
          </a:p>
        </p:txBody>
      </p:sp>
      <p:sp>
        <p:nvSpPr>
          <p:cNvPr id="47" name="Rectangle 47"/>
          <p:cNvSpPr/>
          <p:nvPr/>
        </p:nvSpPr>
        <p:spPr>
          <a:xfrm>
            <a:off x="6720840" y="4617720"/>
            <a:ext cx="1737360" cy="502920"/>
          </a:xfrm>
          <a:prstGeom prst="rect">
            <a:avLst/>
          </a:prstGeom>
          <a:solidFill>
            <a:srgbClr val="FBFCFC"/>
          </a:solidFill>
          <a:ln w="12700">
            <a:solidFill>
              <a:srgbClr val="E5EAEC"/>
            </a:solidFill>
          </a:ln>
        </p:spPr>
        <p:txBody>
          <a:bodyPr/>
          <a:lstStyle/>
          <a:p/>
        </p:txBody>
      </p:sp>
      <p:sp>
        <p:nvSpPr>
          <p:cNvPr id="48" name="Text 48"/>
          <p:cNvSpPr txBox="1"/>
          <p:nvPr/>
        </p:nvSpPr>
        <p:spPr>
          <a:xfrm>
            <a:off x="6757416" y="4663440"/>
            <a:ext cx="1664208" cy="429768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300" b="0">
                <a:solidFill>
                  <a:srgbClr val="6D7375"/>
                </a:solidFill>
                <a:latin typeface="Noto Sans JP"/>
                <a:ea typeface="Noto Sans JP"/>
              </a:rPr>
              <a:t>継続・移管時はこちら</a:t>
            </a:r>
          </a:p>
        </p:txBody>
      </p:sp>
      <p:sp>
        <p:nvSpPr>
          <p:cNvPr id="49" name="Rectangle 49"/>
          <p:cNvSpPr/>
          <p:nvPr/>
        </p:nvSpPr>
        <p:spPr>
          <a:xfrm>
            <a:off x="8458200" y="4617720"/>
            <a:ext cx="2057400" cy="502920"/>
          </a:xfrm>
          <a:prstGeom prst="rect">
            <a:avLst/>
          </a:prstGeom>
          <a:solidFill>
            <a:srgbClr val="FBFCFC"/>
          </a:solidFill>
          <a:ln w="12700">
            <a:solidFill>
              <a:srgbClr val="E5EAEC"/>
            </a:solidFill>
          </a:ln>
        </p:spPr>
        <p:txBody>
          <a:bodyPr/>
          <a:lstStyle/>
          <a:p/>
        </p:txBody>
      </p:sp>
      <p:sp>
        <p:nvSpPr>
          <p:cNvPr id="50" name="Text 50"/>
          <p:cNvSpPr txBox="1"/>
          <p:nvPr/>
        </p:nvSpPr>
        <p:spPr>
          <a:xfrm>
            <a:off x="8494776" y="4663440"/>
            <a:ext cx="1984248" cy="429768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300" b="0">
                <a:solidFill>
                  <a:srgbClr val="6D7375"/>
                </a:solidFill>
                <a:latin typeface="Noto Sans JP"/>
                <a:ea typeface="Noto Sans JP"/>
              </a:rPr>
              <a:t>初年度のみ。（LogLiteからの移管は対象外）</a:t>
            </a:r>
          </a:p>
        </p:txBody>
      </p:sp>
      <p:sp>
        <p:nvSpPr>
          <p:cNvPr id="51" name="Rectangle 51"/>
          <p:cNvSpPr/>
          <p:nvPr/>
        </p:nvSpPr>
        <p:spPr>
          <a:xfrm>
            <a:off x="5806440" y="2103120"/>
            <a:ext cx="4709160" cy="3017520"/>
          </a:xfrm>
          <a:prstGeom prst="rect">
            <a:avLst/>
          </a:prstGeom>
          <a:noFill/>
          <a:ln w="12700">
            <a:solidFill>
              <a:srgbClr val="CFD6D9"/>
            </a:solidFill>
          </a:ln>
        </p:spPr>
        <p:txBody>
          <a:bodyPr/>
          <a:lstStyle/>
          <a:p/>
        </p:txBody>
      </p:sp>
      <p:sp>
        <p:nvSpPr>
          <p:cNvPr id="52" name="Rectangle 5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7143"/>
          </a:solidFill>
          <a:ln w="12700">
            <a:solidFill>
              <a:srgbClr val="FF7143"/>
            </a:solidFill>
          </a:ln>
        </p:spPr>
        <p:txBody>
          <a:bodyPr/>
          <a:lstStyle/>
          <a:p/>
        </p:txBody>
      </p:sp>
      <p:sp>
        <p:nvSpPr>
          <p:cNvPr id="53" name="Text 53"/>
          <p:cNvSpPr txBox="1"/>
          <p:nvPr/>
        </p:nvSpPr>
        <p:spPr>
          <a:xfrm>
            <a:off x="502920" y="384048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400" b="1">
                <a:solidFill>
                  <a:srgbClr val="6D7375"/>
                </a:solidFill>
                <a:latin typeface="Noto Sans JP"/>
                <a:ea typeface="Noto Sans JP"/>
              </a:rPr>
              <a:t>kintone Pack Price</a:t>
            </a:r>
          </a:p>
        </p:txBody>
      </p:sp>
      <p:sp>
        <p:nvSpPr>
          <p:cNvPr id="54" name="Text 54"/>
          <p:cNvSpPr txBox="1"/>
          <p:nvPr/>
        </p:nvSpPr>
        <p:spPr>
          <a:xfrm>
            <a:off x="10698480" y="384048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r"/>
            <a:r>
              <a:rPr lang="ja-JP" sz="1500" b="1">
                <a:solidFill>
                  <a:srgbClr val="414242"/>
                </a:solidFill>
                <a:latin typeface="Noto Sans JP"/>
                <a:ea typeface="Noto Sans JP"/>
              </a:rPr>
              <a:t>FrontAgent</a:t>
            </a:r>
          </a:p>
        </p:txBody>
      </p:sp>
      <p:sp>
        <p:nvSpPr>
          <p:cNvPr id="55" name="Text 55"/>
          <p:cNvSpPr txBox="1"/>
          <p:nvPr/>
        </p:nvSpPr>
        <p:spPr>
          <a:xfrm>
            <a:off x="502920" y="804672"/>
            <a:ext cx="107899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3300" b="1">
                <a:solidFill>
                  <a:srgbClr val="414242"/>
                </a:solidFill>
                <a:latin typeface="Noto Sans JP"/>
                <a:ea typeface="Noto Sans JP"/>
              </a:rPr>
              <a:t>kintone Packは、1IDから追加IDまで同じ単価で積み上げる</a:t>
            </a:r>
          </a:p>
        </p:txBody>
      </p:sp>
      <p:sp>
        <p:nvSpPr>
          <p:cNvPr id="56" name="Rectangle 56"/>
          <p:cNvSpPr/>
          <p:nvPr/>
        </p:nvSpPr>
        <p:spPr>
          <a:xfrm>
            <a:off x="502920" y="1417320"/>
            <a:ext cx="11155680" cy="32004"/>
          </a:xfrm>
          <a:prstGeom prst="rect">
            <a:avLst/>
          </a:prstGeom>
          <a:solidFill>
            <a:srgbClr val="FF7143"/>
          </a:solidFill>
          <a:ln w="12700">
            <a:solidFill>
              <a:srgbClr val="FF7143"/>
            </a:solidFill>
          </a:ln>
        </p:spPr>
        <p:txBody>
          <a:bodyPr/>
          <a:lstStyle/>
          <a:p/>
        </p:txBody>
      </p:sp>
      <p:sp>
        <p:nvSpPr>
          <p:cNvPr id="57" name="Rectangle 57"/>
          <p:cNvSpPr/>
          <p:nvPr/>
        </p:nvSpPr>
        <p:spPr>
          <a:xfrm>
            <a:off x="502920" y="6272784"/>
            <a:ext cx="11155680" cy="10973"/>
          </a:xfrm>
          <a:prstGeom prst="rect">
            <a:avLst/>
          </a:prstGeom>
          <a:solidFill>
            <a:srgbClr val="E5EAEC"/>
          </a:solidFill>
          <a:ln w="12700">
            <a:solidFill>
              <a:srgbClr val="E5EAEC"/>
            </a:solidFill>
          </a:ln>
        </p:spPr>
        <p:txBody>
          <a:bodyPr/>
          <a:lstStyle/>
          <a:p/>
        </p:txBody>
      </p:sp>
      <p:sp>
        <p:nvSpPr>
          <p:cNvPr id="58" name="Text 58"/>
          <p:cNvSpPr txBox="1"/>
          <p:nvPr/>
        </p:nvSpPr>
        <p:spPr>
          <a:xfrm>
            <a:off x="502920" y="6391656"/>
            <a:ext cx="89611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300" b="1">
                <a:solidFill>
                  <a:srgbClr val="6D7375"/>
                </a:solidFill>
                <a:latin typeface="Noto Sans JP"/>
                <a:ea typeface="Noto Sans JP"/>
              </a:rPr>
              <a:t>1ID開始で見た目の価格を下げ、年契約で稼働を担保する</a:t>
            </a:r>
          </a:p>
        </p:txBody>
      </p:sp>
      <p:sp>
        <p:nvSpPr>
          <p:cNvPr id="59" name="Text 59"/>
          <p:cNvSpPr txBox="1"/>
          <p:nvPr/>
        </p:nvSpPr>
        <p:spPr>
          <a:xfrm>
            <a:off x="11064240" y="6391656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r"/>
            <a:r>
              <a:rPr lang="ja-JP" sz="1300" b="1">
                <a:solidFill>
                  <a:srgbClr val="6D7375"/>
                </a:solidFill>
                <a:latin typeface="Noto Sans JP"/>
                <a:ea typeface="Noto Sans JP"/>
              </a:rPr>
              <a:t>07</a:t>
            </a:r>
          </a:p>
        </p:txBody>
      </p:sp>
      <p:sp>
        <p:nvSpPr>
          <p:cNvPr id="60" name="Circle 60"/>
          <p:cNvSpPr/>
          <p:nvPr/>
        </p:nvSpPr>
        <p:spPr>
          <a:xfrm>
            <a:off x="11841480" y="6473952"/>
            <a:ext cx="54864" cy="54864"/>
          </a:xfrm>
          <a:prstGeom prst="ellipse">
            <a:avLst/>
          </a:prstGeom>
          <a:solidFill>
            <a:srgbClr val="FF7143"/>
          </a:solidFill>
          <a:ln w="12700">
            <a:solidFill>
              <a:srgbClr val="FF7143"/>
            </a:solidFill>
          </a:ln>
        </p:spPr>
        <p:txBody>
          <a:bodyPr anchor="ctr"/>
          <a:lstStyle/>
          <a:p>
            <a:pPr algn="ctr"/>
            <a:r>
              <a:rPr lang="ja-JP" sz="1600" b="1">
                <a:solidFill>
                  <a:srgbClr val="FF7143"/>
                </a:solidFill>
                <a:ea typeface="Noto Sans JP"/>
              </a:rPr>
              <a:t/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/>
          <p:nvPr/>
        </p:nvSpPr>
        <p:spPr>
          <a:xfrm>
            <a:off x="502920" y="2148840"/>
            <a:ext cx="1143000" cy="502920"/>
          </a:xfrm>
          <a:prstGeom prst="rect">
            <a:avLst/>
          </a:prstGeom>
          <a:solidFill>
            <a:srgbClr val="F3F5F5"/>
          </a:solidFill>
          <a:ln w="12700">
            <a:solidFill>
              <a:srgbClr val="E5EAEC"/>
            </a:solidFill>
          </a:ln>
        </p:spPr>
        <p:txBody>
          <a:bodyPr/>
          <a:lstStyle/>
          <a:p/>
        </p:txBody>
      </p:sp>
      <p:sp>
        <p:nvSpPr>
          <p:cNvPr id="5" name="Text 5"/>
          <p:cNvSpPr txBox="1"/>
          <p:nvPr/>
        </p:nvSpPr>
        <p:spPr>
          <a:xfrm>
            <a:off x="539496" y="2194560"/>
            <a:ext cx="1069848" cy="429768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300" b="1">
                <a:solidFill>
                  <a:srgbClr val="414242"/>
                </a:solidFill>
                <a:latin typeface="Noto Sans JP"/>
                <a:ea typeface="Noto Sans JP"/>
              </a:rPr>
              <a:t>利用ID数</a:t>
            </a:r>
          </a:p>
        </p:txBody>
      </p:sp>
      <p:sp>
        <p:nvSpPr>
          <p:cNvPr id="6" name="Rectangle 6"/>
          <p:cNvSpPr/>
          <p:nvPr/>
        </p:nvSpPr>
        <p:spPr>
          <a:xfrm>
            <a:off x="1645920" y="2148840"/>
            <a:ext cx="1234440" cy="502920"/>
          </a:xfrm>
          <a:prstGeom prst="rect">
            <a:avLst/>
          </a:prstGeom>
          <a:solidFill>
            <a:srgbClr val="F3F5F5"/>
          </a:solidFill>
          <a:ln w="12700">
            <a:solidFill>
              <a:srgbClr val="E5EAEC"/>
            </a:solidFill>
          </a:ln>
        </p:spPr>
        <p:txBody>
          <a:bodyPr/>
          <a:lstStyle/>
          <a:p/>
        </p:txBody>
      </p:sp>
      <p:sp>
        <p:nvSpPr>
          <p:cNvPr id="7" name="Text 7"/>
          <p:cNvSpPr txBox="1"/>
          <p:nvPr/>
        </p:nvSpPr>
        <p:spPr>
          <a:xfrm>
            <a:off x="1682496" y="2194560"/>
            <a:ext cx="1161288" cy="429768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300" b="1">
                <a:solidFill>
                  <a:srgbClr val="414242"/>
                </a:solidFill>
                <a:latin typeface="Noto Sans JP"/>
                <a:ea typeface="Noto Sans JP"/>
              </a:rPr>
              <a:t>通常月額（税抜）</a:t>
            </a:r>
          </a:p>
        </p:txBody>
      </p:sp>
      <p:sp>
        <p:nvSpPr>
          <p:cNvPr id="8" name="Rectangle 8"/>
          <p:cNvSpPr/>
          <p:nvPr/>
        </p:nvSpPr>
        <p:spPr>
          <a:xfrm>
            <a:off x="2880360" y="2148840"/>
            <a:ext cx="1691640" cy="502920"/>
          </a:xfrm>
          <a:prstGeom prst="rect">
            <a:avLst/>
          </a:prstGeom>
          <a:solidFill>
            <a:srgbClr val="F3F5F5"/>
          </a:solidFill>
          <a:ln w="12700">
            <a:solidFill>
              <a:srgbClr val="E5EAEC"/>
            </a:solidFill>
          </a:ln>
        </p:spPr>
        <p:txBody>
          <a:bodyPr/>
          <a:lstStyle/>
          <a:p/>
        </p:txBody>
      </p:sp>
      <p:sp>
        <p:nvSpPr>
          <p:cNvPr id="9" name="Text 9"/>
          <p:cNvSpPr txBox="1"/>
          <p:nvPr/>
        </p:nvSpPr>
        <p:spPr>
          <a:xfrm>
            <a:off x="2916936" y="2194560"/>
            <a:ext cx="1618488" cy="429768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300" b="1">
                <a:solidFill>
                  <a:srgbClr val="414242"/>
                </a:solidFill>
                <a:latin typeface="Noto Sans JP"/>
                <a:ea typeface="Noto Sans JP"/>
              </a:rPr>
              <a:t>初年度限定月額（税抜）</a:t>
            </a:r>
          </a:p>
        </p:txBody>
      </p:sp>
      <p:sp>
        <p:nvSpPr>
          <p:cNvPr id="10" name="Rectangle 10"/>
          <p:cNvSpPr/>
          <p:nvPr/>
        </p:nvSpPr>
        <p:spPr>
          <a:xfrm>
            <a:off x="4572000" y="2148840"/>
            <a:ext cx="2011680" cy="502920"/>
          </a:xfrm>
          <a:prstGeom prst="rect">
            <a:avLst/>
          </a:prstGeom>
          <a:solidFill>
            <a:srgbClr val="F3F5F5"/>
          </a:solidFill>
          <a:ln w="12700">
            <a:solidFill>
              <a:srgbClr val="E5EAEC"/>
            </a:solidFill>
          </a:ln>
        </p:spPr>
        <p:txBody>
          <a:bodyPr/>
          <a:lstStyle/>
          <a:p/>
        </p:txBody>
      </p:sp>
      <p:sp>
        <p:nvSpPr>
          <p:cNvPr id="11" name="Text 11"/>
          <p:cNvSpPr txBox="1"/>
          <p:nvPr/>
        </p:nvSpPr>
        <p:spPr>
          <a:xfrm>
            <a:off x="4608576" y="2194560"/>
            <a:ext cx="1938528" cy="429768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300" b="1">
                <a:solidFill>
                  <a:srgbClr val="414242"/>
                </a:solidFill>
                <a:latin typeface="Noto Sans JP"/>
                <a:ea typeface="Noto Sans JP"/>
              </a:rPr>
              <a:t>考え方</a:t>
            </a:r>
          </a:p>
        </p:txBody>
      </p:sp>
      <p:sp>
        <p:nvSpPr>
          <p:cNvPr id="12" name="Rectangle 12"/>
          <p:cNvSpPr/>
          <p:nvPr/>
        </p:nvSpPr>
        <p:spPr>
          <a:xfrm>
            <a:off x="502920" y="2651760"/>
            <a:ext cx="1143000" cy="502920"/>
          </a:xfrm>
          <a:prstGeom prst="rect">
            <a:avLst/>
          </a:prstGeom>
          <a:solidFill>
            <a:srgbClr val="FBFCFC"/>
          </a:solidFill>
          <a:ln w="12700">
            <a:solidFill>
              <a:srgbClr val="E5EAEC"/>
            </a:solidFill>
          </a:ln>
        </p:spPr>
        <p:txBody>
          <a:bodyPr/>
          <a:lstStyle/>
          <a:p/>
        </p:txBody>
      </p:sp>
      <p:sp>
        <p:nvSpPr>
          <p:cNvPr id="13" name="Text 13"/>
          <p:cNvSpPr txBox="1"/>
          <p:nvPr/>
        </p:nvSpPr>
        <p:spPr>
          <a:xfrm>
            <a:off x="539496" y="2697480"/>
            <a:ext cx="1069848" cy="429768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400" b="1">
                <a:solidFill>
                  <a:srgbClr val="414242"/>
                </a:solidFill>
                <a:latin typeface="Noto Sans JP"/>
                <a:ea typeface="Noto Sans JP"/>
              </a:rPr>
              <a:t>1ID</a:t>
            </a:r>
          </a:p>
        </p:txBody>
      </p:sp>
      <p:sp>
        <p:nvSpPr>
          <p:cNvPr id="14" name="Rectangle 14"/>
          <p:cNvSpPr/>
          <p:nvPr/>
        </p:nvSpPr>
        <p:spPr>
          <a:xfrm>
            <a:off x="1645920" y="2651760"/>
            <a:ext cx="1234440" cy="502920"/>
          </a:xfrm>
          <a:prstGeom prst="rect">
            <a:avLst/>
          </a:prstGeom>
          <a:solidFill>
            <a:srgbClr val="FBFCFC"/>
          </a:solidFill>
          <a:ln w="12700">
            <a:solidFill>
              <a:srgbClr val="E5EAEC"/>
            </a:solidFill>
          </a:ln>
        </p:spPr>
        <p:txBody>
          <a:bodyPr/>
          <a:lstStyle/>
          <a:p/>
        </p:txBody>
      </p:sp>
      <p:sp>
        <p:nvSpPr>
          <p:cNvPr id="15" name="Text 15"/>
          <p:cNvSpPr txBox="1"/>
          <p:nvPr/>
        </p:nvSpPr>
        <p:spPr>
          <a:xfrm>
            <a:off x="1682496" y="2697480"/>
            <a:ext cx="1161288" cy="429768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400" b="0">
                <a:solidFill>
                  <a:srgbClr val="6D7375"/>
                </a:solidFill>
                <a:latin typeface="Noto Sans JP"/>
                <a:ea typeface="Noto Sans JP"/>
              </a:rPr>
              <a:t>5,980円</a:t>
            </a:r>
          </a:p>
        </p:txBody>
      </p:sp>
      <p:sp>
        <p:nvSpPr>
          <p:cNvPr id="16" name="Rectangle 16"/>
          <p:cNvSpPr/>
          <p:nvPr/>
        </p:nvSpPr>
        <p:spPr>
          <a:xfrm>
            <a:off x="2880360" y="2651760"/>
            <a:ext cx="1691640" cy="502920"/>
          </a:xfrm>
          <a:prstGeom prst="rect">
            <a:avLst/>
          </a:prstGeom>
          <a:solidFill>
            <a:srgbClr val="FBFCFC"/>
          </a:solidFill>
          <a:ln w="12700">
            <a:solidFill>
              <a:srgbClr val="E5EAEC"/>
            </a:solidFill>
          </a:ln>
        </p:spPr>
        <p:txBody>
          <a:bodyPr/>
          <a:lstStyle/>
          <a:p/>
        </p:txBody>
      </p:sp>
      <p:sp>
        <p:nvSpPr>
          <p:cNvPr id="17" name="Text 17"/>
          <p:cNvSpPr txBox="1"/>
          <p:nvPr/>
        </p:nvSpPr>
        <p:spPr>
          <a:xfrm>
            <a:off x="2916936" y="2697480"/>
            <a:ext cx="1618488" cy="429768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400" b="0">
                <a:solidFill>
                  <a:srgbClr val="6D7375"/>
                </a:solidFill>
                <a:latin typeface="Noto Sans JP"/>
                <a:ea typeface="Noto Sans JP"/>
              </a:rPr>
              <a:t>3,980円</a:t>
            </a:r>
          </a:p>
        </p:txBody>
      </p:sp>
      <p:sp>
        <p:nvSpPr>
          <p:cNvPr id="18" name="Rectangle 18"/>
          <p:cNvSpPr/>
          <p:nvPr/>
        </p:nvSpPr>
        <p:spPr>
          <a:xfrm>
            <a:off x="4572000" y="2651760"/>
            <a:ext cx="2011680" cy="502920"/>
          </a:xfrm>
          <a:prstGeom prst="rect">
            <a:avLst/>
          </a:prstGeom>
          <a:solidFill>
            <a:srgbClr val="FBFCFC"/>
          </a:solidFill>
          <a:ln w="12700">
            <a:solidFill>
              <a:srgbClr val="E5EAEC"/>
            </a:solidFill>
          </a:ln>
        </p:spPr>
        <p:txBody>
          <a:bodyPr/>
          <a:lstStyle/>
          <a:p/>
        </p:txBody>
      </p:sp>
      <p:sp>
        <p:nvSpPr>
          <p:cNvPr id="19" name="Text 19"/>
          <p:cNvSpPr txBox="1"/>
          <p:nvPr/>
        </p:nvSpPr>
        <p:spPr>
          <a:xfrm>
            <a:off x="4608576" y="2697480"/>
            <a:ext cx="1938528" cy="429768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400" b="0">
                <a:solidFill>
                  <a:srgbClr val="6D7375"/>
                </a:solidFill>
                <a:latin typeface="Noto Sans JP"/>
                <a:ea typeface="Noto Sans JP"/>
              </a:rPr>
              <a:t>Packの最小契約</a:t>
            </a:r>
          </a:p>
        </p:txBody>
      </p:sp>
      <p:sp>
        <p:nvSpPr>
          <p:cNvPr id="20" name="Rectangle 20"/>
          <p:cNvSpPr/>
          <p:nvPr/>
        </p:nvSpPr>
        <p:spPr>
          <a:xfrm>
            <a:off x="502920" y="3154680"/>
            <a:ext cx="1143000" cy="502920"/>
          </a:xfrm>
          <a:prstGeom prst="rect">
            <a:avLst/>
          </a:prstGeom>
          <a:solidFill>
            <a:srgbClr val="FBFCFC"/>
          </a:solidFill>
          <a:ln w="12700">
            <a:solidFill>
              <a:srgbClr val="E5EAEC"/>
            </a:solidFill>
          </a:ln>
        </p:spPr>
        <p:txBody>
          <a:bodyPr/>
          <a:lstStyle/>
          <a:p/>
        </p:txBody>
      </p:sp>
      <p:sp>
        <p:nvSpPr>
          <p:cNvPr id="21" name="Text 21"/>
          <p:cNvSpPr txBox="1"/>
          <p:nvPr/>
        </p:nvSpPr>
        <p:spPr>
          <a:xfrm>
            <a:off x="539496" y="3200400"/>
            <a:ext cx="1069848" cy="429768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400" b="1">
                <a:solidFill>
                  <a:srgbClr val="414242"/>
                </a:solidFill>
                <a:latin typeface="Noto Sans JP"/>
                <a:ea typeface="Noto Sans JP"/>
              </a:rPr>
              <a:t>2ID</a:t>
            </a:r>
          </a:p>
        </p:txBody>
      </p:sp>
      <p:sp>
        <p:nvSpPr>
          <p:cNvPr id="22" name="Rectangle 22"/>
          <p:cNvSpPr/>
          <p:nvPr/>
        </p:nvSpPr>
        <p:spPr>
          <a:xfrm>
            <a:off x="1645920" y="3154680"/>
            <a:ext cx="1234440" cy="502920"/>
          </a:xfrm>
          <a:prstGeom prst="rect">
            <a:avLst/>
          </a:prstGeom>
          <a:solidFill>
            <a:srgbClr val="FBFCFC"/>
          </a:solidFill>
          <a:ln w="12700">
            <a:solidFill>
              <a:srgbClr val="E5EAEC"/>
            </a:solidFill>
          </a:ln>
        </p:spPr>
        <p:txBody>
          <a:bodyPr/>
          <a:lstStyle/>
          <a:p/>
        </p:txBody>
      </p:sp>
      <p:sp>
        <p:nvSpPr>
          <p:cNvPr id="23" name="Text 23"/>
          <p:cNvSpPr txBox="1"/>
          <p:nvPr/>
        </p:nvSpPr>
        <p:spPr>
          <a:xfrm>
            <a:off x="1682496" y="3200400"/>
            <a:ext cx="1161288" cy="429768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400" b="0">
                <a:solidFill>
                  <a:srgbClr val="6D7375"/>
                </a:solidFill>
                <a:latin typeface="Noto Sans JP"/>
                <a:ea typeface="Noto Sans JP"/>
              </a:rPr>
              <a:t>11,960円</a:t>
            </a:r>
          </a:p>
        </p:txBody>
      </p:sp>
      <p:sp>
        <p:nvSpPr>
          <p:cNvPr id="24" name="Rectangle 24"/>
          <p:cNvSpPr/>
          <p:nvPr/>
        </p:nvSpPr>
        <p:spPr>
          <a:xfrm>
            <a:off x="2880360" y="3154680"/>
            <a:ext cx="1691640" cy="502920"/>
          </a:xfrm>
          <a:prstGeom prst="rect">
            <a:avLst/>
          </a:prstGeom>
          <a:solidFill>
            <a:srgbClr val="FBFCFC"/>
          </a:solidFill>
          <a:ln w="12700">
            <a:solidFill>
              <a:srgbClr val="E5EAEC"/>
            </a:solidFill>
          </a:ln>
        </p:spPr>
        <p:txBody>
          <a:bodyPr/>
          <a:lstStyle/>
          <a:p/>
        </p:txBody>
      </p:sp>
      <p:sp>
        <p:nvSpPr>
          <p:cNvPr id="25" name="Text 25"/>
          <p:cNvSpPr txBox="1"/>
          <p:nvPr/>
        </p:nvSpPr>
        <p:spPr>
          <a:xfrm>
            <a:off x="2916936" y="3200400"/>
            <a:ext cx="1618488" cy="429768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400" b="0">
                <a:solidFill>
                  <a:srgbClr val="6D7375"/>
                </a:solidFill>
                <a:latin typeface="Noto Sans JP"/>
                <a:ea typeface="Noto Sans JP"/>
              </a:rPr>
              <a:t>7,960円</a:t>
            </a:r>
          </a:p>
        </p:txBody>
      </p:sp>
      <p:sp>
        <p:nvSpPr>
          <p:cNvPr id="26" name="Rectangle 26"/>
          <p:cNvSpPr/>
          <p:nvPr/>
        </p:nvSpPr>
        <p:spPr>
          <a:xfrm>
            <a:off x="4572000" y="3154680"/>
            <a:ext cx="2011680" cy="502920"/>
          </a:xfrm>
          <a:prstGeom prst="rect">
            <a:avLst/>
          </a:prstGeom>
          <a:solidFill>
            <a:srgbClr val="FBFCFC"/>
          </a:solidFill>
          <a:ln w="12700">
            <a:solidFill>
              <a:srgbClr val="E5EAEC"/>
            </a:solidFill>
          </a:ln>
        </p:spPr>
        <p:txBody>
          <a:bodyPr/>
          <a:lstStyle/>
          <a:p/>
        </p:txBody>
      </p:sp>
      <p:sp>
        <p:nvSpPr>
          <p:cNvPr id="27" name="Text 27"/>
          <p:cNvSpPr txBox="1"/>
          <p:nvPr/>
        </p:nvSpPr>
        <p:spPr>
          <a:xfrm>
            <a:off x="4608576" y="3200400"/>
            <a:ext cx="1938528" cy="429768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400" b="0">
                <a:solidFill>
                  <a:srgbClr val="6D7375"/>
                </a:solidFill>
                <a:latin typeface="Noto Sans JP"/>
                <a:ea typeface="Noto Sans JP"/>
              </a:rPr>
              <a:t>LiteではなくPack</a:t>
            </a:r>
          </a:p>
        </p:txBody>
      </p:sp>
      <p:sp>
        <p:nvSpPr>
          <p:cNvPr id="28" name="Rectangle 28"/>
          <p:cNvSpPr/>
          <p:nvPr/>
        </p:nvSpPr>
        <p:spPr>
          <a:xfrm>
            <a:off x="502920" y="3657600"/>
            <a:ext cx="1143000" cy="502920"/>
          </a:xfrm>
          <a:prstGeom prst="rect">
            <a:avLst/>
          </a:prstGeom>
          <a:solidFill>
            <a:srgbClr val="FBFCFC"/>
          </a:solidFill>
          <a:ln w="12700">
            <a:solidFill>
              <a:srgbClr val="E5EAEC"/>
            </a:solidFill>
          </a:ln>
        </p:spPr>
        <p:txBody>
          <a:bodyPr/>
          <a:lstStyle/>
          <a:p/>
        </p:txBody>
      </p:sp>
      <p:sp>
        <p:nvSpPr>
          <p:cNvPr id="29" name="Text 29"/>
          <p:cNvSpPr txBox="1"/>
          <p:nvPr/>
        </p:nvSpPr>
        <p:spPr>
          <a:xfrm>
            <a:off x="539496" y="3703320"/>
            <a:ext cx="1069848" cy="429768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400" b="1">
                <a:solidFill>
                  <a:srgbClr val="414242"/>
                </a:solidFill>
                <a:latin typeface="Noto Sans JP"/>
                <a:ea typeface="Noto Sans JP"/>
              </a:rPr>
              <a:t>5ID</a:t>
            </a:r>
          </a:p>
        </p:txBody>
      </p:sp>
      <p:sp>
        <p:nvSpPr>
          <p:cNvPr id="30" name="Rectangle 30"/>
          <p:cNvSpPr/>
          <p:nvPr/>
        </p:nvSpPr>
        <p:spPr>
          <a:xfrm>
            <a:off x="1645920" y="3657600"/>
            <a:ext cx="1234440" cy="502920"/>
          </a:xfrm>
          <a:prstGeom prst="rect">
            <a:avLst/>
          </a:prstGeom>
          <a:solidFill>
            <a:srgbClr val="FBFCFC"/>
          </a:solidFill>
          <a:ln w="12700">
            <a:solidFill>
              <a:srgbClr val="E5EAEC"/>
            </a:solidFill>
          </a:ln>
        </p:spPr>
        <p:txBody>
          <a:bodyPr/>
          <a:lstStyle/>
          <a:p/>
        </p:txBody>
      </p:sp>
      <p:sp>
        <p:nvSpPr>
          <p:cNvPr id="31" name="Text 31"/>
          <p:cNvSpPr txBox="1"/>
          <p:nvPr/>
        </p:nvSpPr>
        <p:spPr>
          <a:xfrm>
            <a:off x="1682496" y="3703320"/>
            <a:ext cx="1161288" cy="429768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400" b="0">
                <a:solidFill>
                  <a:srgbClr val="6D7375"/>
                </a:solidFill>
                <a:latin typeface="Noto Sans JP"/>
                <a:ea typeface="Noto Sans JP"/>
              </a:rPr>
              <a:t>29,900円</a:t>
            </a:r>
          </a:p>
        </p:txBody>
      </p:sp>
      <p:sp>
        <p:nvSpPr>
          <p:cNvPr id="32" name="Rectangle 32"/>
          <p:cNvSpPr/>
          <p:nvPr/>
        </p:nvSpPr>
        <p:spPr>
          <a:xfrm>
            <a:off x="2880360" y="3657600"/>
            <a:ext cx="1691640" cy="502920"/>
          </a:xfrm>
          <a:prstGeom prst="rect">
            <a:avLst/>
          </a:prstGeom>
          <a:solidFill>
            <a:srgbClr val="FBFCFC"/>
          </a:solidFill>
          <a:ln w="12700">
            <a:solidFill>
              <a:srgbClr val="E5EAEC"/>
            </a:solidFill>
          </a:ln>
        </p:spPr>
        <p:txBody>
          <a:bodyPr/>
          <a:lstStyle/>
          <a:p/>
        </p:txBody>
      </p:sp>
      <p:sp>
        <p:nvSpPr>
          <p:cNvPr id="33" name="Text 33"/>
          <p:cNvSpPr txBox="1"/>
          <p:nvPr/>
        </p:nvSpPr>
        <p:spPr>
          <a:xfrm>
            <a:off x="2916936" y="3703320"/>
            <a:ext cx="1618488" cy="429768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400" b="0">
                <a:solidFill>
                  <a:srgbClr val="6D7375"/>
                </a:solidFill>
                <a:latin typeface="Noto Sans JP"/>
                <a:ea typeface="Noto Sans JP"/>
              </a:rPr>
              <a:t>19,900円</a:t>
            </a:r>
          </a:p>
        </p:txBody>
      </p:sp>
      <p:sp>
        <p:nvSpPr>
          <p:cNvPr id="34" name="Rectangle 34"/>
          <p:cNvSpPr/>
          <p:nvPr/>
        </p:nvSpPr>
        <p:spPr>
          <a:xfrm>
            <a:off x="4572000" y="3657600"/>
            <a:ext cx="2011680" cy="502920"/>
          </a:xfrm>
          <a:prstGeom prst="rect">
            <a:avLst/>
          </a:prstGeom>
          <a:solidFill>
            <a:srgbClr val="FBFCFC"/>
          </a:solidFill>
          <a:ln w="12700">
            <a:solidFill>
              <a:srgbClr val="E5EAEC"/>
            </a:solidFill>
          </a:ln>
        </p:spPr>
        <p:txBody>
          <a:bodyPr/>
          <a:lstStyle/>
          <a:p/>
        </p:txBody>
      </p:sp>
      <p:sp>
        <p:nvSpPr>
          <p:cNvPr id="35" name="Text 35"/>
          <p:cNvSpPr txBox="1"/>
          <p:nvPr/>
        </p:nvSpPr>
        <p:spPr>
          <a:xfrm>
            <a:off x="4608576" y="3703320"/>
            <a:ext cx="1938528" cy="429768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400" b="0">
                <a:solidFill>
                  <a:srgbClr val="6D7375"/>
                </a:solidFill>
                <a:latin typeface="Noto Sans JP"/>
                <a:ea typeface="Noto Sans JP"/>
              </a:rPr>
              <a:t>部門利用</a:t>
            </a:r>
          </a:p>
        </p:txBody>
      </p:sp>
      <p:sp>
        <p:nvSpPr>
          <p:cNvPr id="36" name="Rectangle 36"/>
          <p:cNvSpPr/>
          <p:nvPr/>
        </p:nvSpPr>
        <p:spPr>
          <a:xfrm>
            <a:off x="502920" y="4160520"/>
            <a:ext cx="1143000" cy="502920"/>
          </a:xfrm>
          <a:prstGeom prst="rect">
            <a:avLst/>
          </a:prstGeom>
          <a:solidFill>
            <a:srgbClr val="FBFCFC"/>
          </a:solidFill>
          <a:ln w="12700">
            <a:solidFill>
              <a:srgbClr val="E5EAEC"/>
            </a:solidFill>
          </a:ln>
        </p:spPr>
        <p:txBody>
          <a:bodyPr/>
          <a:lstStyle/>
          <a:p/>
        </p:txBody>
      </p:sp>
      <p:sp>
        <p:nvSpPr>
          <p:cNvPr id="37" name="Text 37"/>
          <p:cNvSpPr txBox="1"/>
          <p:nvPr/>
        </p:nvSpPr>
        <p:spPr>
          <a:xfrm>
            <a:off x="539496" y="4206240"/>
            <a:ext cx="1069848" cy="429768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400" b="1">
                <a:solidFill>
                  <a:srgbClr val="414242"/>
                </a:solidFill>
                <a:latin typeface="Noto Sans JP"/>
                <a:ea typeface="Noto Sans JP"/>
              </a:rPr>
              <a:t>10ID</a:t>
            </a:r>
          </a:p>
        </p:txBody>
      </p:sp>
      <p:sp>
        <p:nvSpPr>
          <p:cNvPr id="38" name="Rectangle 38"/>
          <p:cNvSpPr/>
          <p:nvPr/>
        </p:nvSpPr>
        <p:spPr>
          <a:xfrm>
            <a:off x="1645920" y="4160520"/>
            <a:ext cx="1234440" cy="502920"/>
          </a:xfrm>
          <a:prstGeom prst="rect">
            <a:avLst/>
          </a:prstGeom>
          <a:solidFill>
            <a:srgbClr val="FBFCFC"/>
          </a:solidFill>
          <a:ln w="12700">
            <a:solidFill>
              <a:srgbClr val="E5EAEC"/>
            </a:solidFill>
          </a:ln>
        </p:spPr>
        <p:txBody>
          <a:bodyPr/>
          <a:lstStyle/>
          <a:p/>
        </p:txBody>
      </p:sp>
      <p:sp>
        <p:nvSpPr>
          <p:cNvPr id="39" name="Text 39"/>
          <p:cNvSpPr txBox="1"/>
          <p:nvPr/>
        </p:nvSpPr>
        <p:spPr>
          <a:xfrm>
            <a:off x="1682496" y="4206240"/>
            <a:ext cx="1161288" cy="429768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400" b="0">
                <a:solidFill>
                  <a:srgbClr val="6D7375"/>
                </a:solidFill>
                <a:latin typeface="Noto Sans JP"/>
                <a:ea typeface="Noto Sans JP"/>
              </a:rPr>
              <a:t>59,800円</a:t>
            </a:r>
          </a:p>
        </p:txBody>
      </p:sp>
      <p:sp>
        <p:nvSpPr>
          <p:cNvPr id="40" name="Rectangle 40"/>
          <p:cNvSpPr/>
          <p:nvPr/>
        </p:nvSpPr>
        <p:spPr>
          <a:xfrm>
            <a:off x="2880360" y="4160520"/>
            <a:ext cx="1691640" cy="502920"/>
          </a:xfrm>
          <a:prstGeom prst="rect">
            <a:avLst/>
          </a:prstGeom>
          <a:solidFill>
            <a:srgbClr val="FBFCFC"/>
          </a:solidFill>
          <a:ln w="12700">
            <a:solidFill>
              <a:srgbClr val="E5EAEC"/>
            </a:solidFill>
          </a:ln>
        </p:spPr>
        <p:txBody>
          <a:bodyPr/>
          <a:lstStyle/>
          <a:p/>
        </p:txBody>
      </p:sp>
      <p:sp>
        <p:nvSpPr>
          <p:cNvPr id="41" name="Text 41"/>
          <p:cNvSpPr txBox="1"/>
          <p:nvPr/>
        </p:nvSpPr>
        <p:spPr>
          <a:xfrm>
            <a:off x="2916936" y="4206240"/>
            <a:ext cx="1618488" cy="429768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400" b="0">
                <a:solidFill>
                  <a:srgbClr val="6D7375"/>
                </a:solidFill>
                <a:latin typeface="Noto Sans JP"/>
                <a:ea typeface="Noto Sans JP"/>
              </a:rPr>
              <a:t>39,800円</a:t>
            </a:r>
          </a:p>
        </p:txBody>
      </p:sp>
      <p:sp>
        <p:nvSpPr>
          <p:cNvPr id="42" name="Rectangle 42"/>
          <p:cNvSpPr/>
          <p:nvPr/>
        </p:nvSpPr>
        <p:spPr>
          <a:xfrm>
            <a:off x="4572000" y="4160520"/>
            <a:ext cx="2011680" cy="502920"/>
          </a:xfrm>
          <a:prstGeom prst="rect">
            <a:avLst/>
          </a:prstGeom>
          <a:solidFill>
            <a:srgbClr val="FBFCFC"/>
          </a:solidFill>
          <a:ln w="12700">
            <a:solidFill>
              <a:srgbClr val="E5EAEC"/>
            </a:solidFill>
          </a:ln>
        </p:spPr>
        <p:txBody>
          <a:bodyPr/>
          <a:lstStyle/>
          <a:p/>
        </p:txBody>
      </p:sp>
      <p:sp>
        <p:nvSpPr>
          <p:cNvPr id="43" name="Text 43"/>
          <p:cNvSpPr txBox="1"/>
          <p:nvPr/>
        </p:nvSpPr>
        <p:spPr>
          <a:xfrm>
            <a:off x="4608576" y="4206240"/>
            <a:ext cx="1938528" cy="429768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400" b="0">
                <a:solidFill>
                  <a:srgbClr val="6D7375"/>
                </a:solidFill>
                <a:latin typeface="Noto Sans JP"/>
                <a:ea typeface="Noto Sans JP"/>
              </a:rPr>
              <a:t>複数部門展開</a:t>
            </a:r>
          </a:p>
        </p:txBody>
      </p:sp>
      <p:sp>
        <p:nvSpPr>
          <p:cNvPr id="44" name="Rectangle 44"/>
          <p:cNvSpPr/>
          <p:nvPr/>
        </p:nvSpPr>
        <p:spPr>
          <a:xfrm>
            <a:off x="502920" y="2148840"/>
            <a:ext cx="6080760" cy="2514600"/>
          </a:xfrm>
          <a:prstGeom prst="rect">
            <a:avLst/>
          </a:prstGeom>
          <a:noFill/>
          <a:ln w="12700">
            <a:solidFill>
              <a:srgbClr val="CFD6D9"/>
            </a:solidFill>
          </a:ln>
        </p:spPr>
        <p:txBody>
          <a:bodyPr/>
          <a:lstStyle/>
          <a:p/>
        </p:txBody>
      </p:sp>
      <p:sp>
        <p:nvSpPr>
          <p:cNvPr id="45" name="Rectangle 45"/>
          <p:cNvSpPr/>
          <p:nvPr/>
        </p:nvSpPr>
        <p:spPr>
          <a:xfrm>
            <a:off x="6812280" y="2148840"/>
            <a:ext cx="4846320" cy="3200400"/>
          </a:xfrm>
          <a:prstGeom prst="roundRect">
            <a:avLst/>
          </a:prstGeom>
          <a:solidFill>
            <a:srgbClr val="F3F5F5"/>
          </a:solidFill>
          <a:ln w="12700">
            <a:solidFill>
              <a:srgbClr val="CFD6D9"/>
            </a:solidFill>
          </a:ln>
        </p:spPr>
        <p:txBody>
          <a:bodyPr/>
          <a:lstStyle/>
          <a:p/>
        </p:txBody>
      </p:sp>
      <p:sp>
        <p:nvSpPr>
          <p:cNvPr id="46" name="Text 46"/>
          <p:cNvSpPr txBox="1"/>
          <p:nvPr/>
        </p:nvSpPr>
        <p:spPr>
          <a:xfrm>
            <a:off x="7315200" y="2606040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2000" b="1">
                <a:solidFill>
                  <a:srgbClr val="414242"/>
                </a:solidFill>
                <a:latin typeface="Noto Sans JP"/>
                <a:ea typeface="Noto Sans JP"/>
              </a:rPr>
              <a:t>ID Pricing Ladder</a:t>
            </a:r>
          </a:p>
        </p:txBody>
      </p:sp>
      <p:sp>
        <p:nvSpPr>
          <p:cNvPr id="47" name="Rectangle 47"/>
          <p:cNvSpPr/>
          <p:nvPr/>
        </p:nvSpPr>
        <p:spPr>
          <a:xfrm>
            <a:off x="7543800" y="4572000"/>
            <a:ext cx="548640" cy="502920"/>
          </a:xfrm>
          <a:prstGeom prst="roundRect">
            <a:avLst/>
          </a:prstGeom>
          <a:solidFill>
            <a:srgbClr val="FF7143"/>
          </a:solidFill>
          <a:ln w="12700">
            <a:solidFill>
              <a:srgbClr val="FF7143"/>
            </a:solidFill>
          </a:ln>
        </p:spPr>
        <p:txBody>
          <a:bodyPr/>
          <a:lstStyle/>
          <a:p/>
        </p:txBody>
      </p:sp>
      <p:sp>
        <p:nvSpPr>
          <p:cNvPr id="48" name="Text 48"/>
          <p:cNvSpPr txBox="1"/>
          <p:nvPr/>
        </p:nvSpPr>
        <p:spPr>
          <a:xfrm>
            <a:off x="7498080" y="4297680"/>
            <a:ext cx="6400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c"/>
            <a:r>
              <a:rPr lang="ja-JP" sz="1300" b="1">
                <a:solidFill>
                  <a:srgbClr val="414242"/>
                </a:solidFill>
                <a:latin typeface="Noto Sans JP"/>
                <a:ea typeface="Noto Sans JP"/>
              </a:rPr>
              <a:t>1ID</a:t>
            </a:r>
          </a:p>
        </p:txBody>
      </p:sp>
      <p:sp>
        <p:nvSpPr>
          <p:cNvPr id="49" name="Text 49"/>
          <p:cNvSpPr txBox="1"/>
          <p:nvPr/>
        </p:nvSpPr>
        <p:spPr>
          <a:xfrm>
            <a:off x="7589520" y="4764024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c"/>
            <a:r>
              <a:rPr lang="ja-JP" sz="1100" b="1">
                <a:solidFill>
                  <a:srgbClr val="FFFFFF"/>
                </a:solidFill>
                <a:latin typeface="Noto Sans JP"/>
                <a:ea typeface="Noto Sans JP"/>
              </a:rPr>
              <a:t>3,980</a:t>
            </a:r>
          </a:p>
        </p:txBody>
      </p:sp>
      <p:sp>
        <p:nvSpPr>
          <p:cNvPr id="50" name="Rectangle 50"/>
          <p:cNvSpPr/>
          <p:nvPr/>
        </p:nvSpPr>
        <p:spPr>
          <a:xfrm>
            <a:off x="8412480" y="4297680"/>
            <a:ext cx="548640" cy="777240"/>
          </a:xfrm>
          <a:prstGeom prst="roundRect">
            <a:avLst/>
          </a:prstGeom>
          <a:solidFill>
            <a:srgbClr val="FF7143"/>
          </a:solidFill>
          <a:ln w="12700">
            <a:solidFill>
              <a:srgbClr val="FF7143"/>
            </a:solidFill>
          </a:ln>
        </p:spPr>
        <p:txBody>
          <a:bodyPr/>
          <a:lstStyle/>
          <a:p/>
        </p:txBody>
      </p:sp>
      <p:sp>
        <p:nvSpPr>
          <p:cNvPr id="51" name="Text 51"/>
          <p:cNvSpPr txBox="1"/>
          <p:nvPr/>
        </p:nvSpPr>
        <p:spPr>
          <a:xfrm>
            <a:off x="8366760" y="4023360"/>
            <a:ext cx="6400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c"/>
            <a:r>
              <a:rPr lang="ja-JP" sz="1300" b="1">
                <a:solidFill>
                  <a:srgbClr val="414242"/>
                </a:solidFill>
                <a:latin typeface="Noto Sans JP"/>
                <a:ea typeface="Noto Sans JP"/>
              </a:rPr>
              <a:t>2ID</a:t>
            </a:r>
          </a:p>
        </p:txBody>
      </p:sp>
      <p:sp>
        <p:nvSpPr>
          <p:cNvPr id="52" name="Text 52"/>
          <p:cNvSpPr txBox="1"/>
          <p:nvPr/>
        </p:nvSpPr>
        <p:spPr>
          <a:xfrm>
            <a:off x="8458200" y="4764024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c"/>
            <a:r>
              <a:rPr lang="ja-JP" sz="1100" b="1">
                <a:solidFill>
                  <a:srgbClr val="FFFFFF"/>
                </a:solidFill>
                <a:latin typeface="Noto Sans JP"/>
                <a:ea typeface="Noto Sans JP"/>
              </a:rPr>
              <a:t>7,960</a:t>
            </a:r>
          </a:p>
        </p:txBody>
      </p:sp>
      <p:sp>
        <p:nvSpPr>
          <p:cNvPr id="53" name="Rectangle 53"/>
          <p:cNvSpPr/>
          <p:nvPr/>
        </p:nvSpPr>
        <p:spPr>
          <a:xfrm>
            <a:off x="9281160" y="3886200"/>
            <a:ext cx="548640" cy="1188720"/>
          </a:xfrm>
          <a:prstGeom prst="roundRect">
            <a:avLst/>
          </a:prstGeom>
          <a:solidFill>
            <a:srgbClr val="FF7143"/>
          </a:solidFill>
          <a:ln w="12700">
            <a:solidFill>
              <a:srgbClr val="FF7143"/>
            </a:solidFill>
          </a:ln>
        </p:spPr>
        <p:txBody>
          <a:bodyPr/>
          <a:lstStyle/>
          <a:p/>
        </p:txBody>
      </p:sp>
      <p:sp>
        <p:nvSpPr>
          <p:cNvPr id="54" name="Text 54"/>
          <p:cNvSpPr txBox="1"/>
          <p:nvPr/>
        </p:nvSpPr>
        <p:spPr>
          <a:xfrm>
            <a:off x="9235440" y="3611880"/>
            <a:ext cx="6400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c"/>
            <a:r>
              <a:rPr lang="ja-JP" sz="1300" b="1">
                <a:solidFill>
                  <a:srgbClr val="414242"/>
                </a:solidFill>
                <a:latin typeface="Noto Sans JP"/>
                <a:ea typeface="Noto Sans JP"/>
              </a:rPr>
              <a:t>5ID</a:t>
            </a:r>
          </a:p>
        </p:txBody>
      </p:sp>
      <p:sp>
        <p:nvSpPr>
          <p:cNvPr id="55" name="Text 55"/>
          <p:cNvSpPr txBox="1"/>
          <p:nvPr/>
        </p:nvSpPr>
        <p:spPr>
          <a:xfrm>
            <a:off x="9326880" y="4764024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c"/>
            <a:r>
              <a:rPr lang="ja-JP" sz="1100" b="1">
                <a:solidFill>
                  <a:srgbClr val="FFFFFF"/>
                </a:solidFill>
                <a:latin typeface="Noto Sans JP"/>
                <a:ea typeface="Noto Sans JP"/>
              </a:rPr>
              <a:t>19,900</a:t>
            </a:r>
          </a:p>
        </p:txBody>
      </p:sp>
      <p:sp>
        <p:nvSpPr>
          <p:cNvPr id="56" name="Rectangle 56"/>
          <p:cNvSpPr/>
          <p:nvPr/>
        </p:nvSpPr>
        <p:spPr>
          <a:xfrm>
            <a:off x="10149840" y="3246120"/>
            <a:ext cx="548640" cy="1828800"/>
          </a:xfrm>
          <a:prstGeom prst="roundRect">
            <a:avLst/>
          </a:prstGeom>
          <a:solidFill>
            <a:srgbClr val="FF7143"/>
          </a:solidFill>
          <a:ln w="12700">
            <a:solidFill>
              <a:srgbClr val="FF7143"/>
            </a:solidFill>
          </a:ln>
        </p:spPr>
        <p:txBody>
          <a:bodyPr/>
          <a:lstStyle/>
          <a:p/>
        </p:txBody>
      </p:sp>
      <p:sp>
        <p:nvSpPr>
          <p:cNvPr id="57" name="Text 57"/>
          <p:cNvSpPr txBox="1"/>
          <p:nvPr/>
        </p:nvSpPr>
        <p:spPr>
          <a:xfrm>
            <a:off x="10104120" y="2971800"/>
            <a:ext cx="6400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c"/>
            <a:r>
              <a:rPr lang="ja-JP" sz="1300" b="1">
                <a:solidFill>
                  <a:srgbClr val="414242"/>
                </a:solidFill>
                <a:latin typeface="Noto Sans JP"/>
                <a:ea typeface="Noto Sans JP"/>
              </a:rPr>
              <a:t>10ID</a:t>
            </a:r>
          </a:p>
        </p:txBody>
      </p:sp>
      <p:sp>
        <p:nvSpPr>
          <p:cNvPr id="58" name="Text 58"/>
          <p:cNvSpPr txBox="1"/>
          <p:nvPr/>
        </p:nvSpPr>
        <p:spPr>
          <a:xfrm>
            <a:off x="10195560" y="4764024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c"/>
            <a:r>
              <a:rPr lang="ja-JP" sz="1100" b="1">
                <a:solidFill>
                  <a:srgbClr val="FFFFFF"/>
                </a:solidFill>
                <a:latin typeface="Noto Sans JP"/>
                <a:ea typeface="Noto Sans JP"/>
              </a:rPr>
              <a:t>39,800</a:t>
            </a:r>
          </a:p>
        </p:txBody>
      </p:sp>
      <p:sp>
        <p:nvSpPr>
          <p:cNvPr id="59" name="Rectangle 59"/>
          <p:cNvSpPr/>
          <p:nvPr/>
        </p:nvSpPr>
        <p:spPr>
          <a:xfrm>
            <a:off x="7315200" y="5120640"/>
            <a:ext cx="3657600" cy="13716"/>
          </a:xfrm>
          <a:prstGeom prst="rect">
            <a:avLst/>
          </a:prstGeom>
          <a:solidFill>
            <a:srgbClr val="CFD6D9"/>
          </a:solidFill>
          <a:ln w="12700">
            <a:solidFill>
              <a:srgbClr val="CFD6D9"/>
            </a:solidFill>
          </a:ln>
        </p:spPr>
        <p:txBody>
          <a:bodyPr/>
          <a:lstStyle/>
          <a:p/>
        </p:txBody>
      </p:sp>
      <p:sp>
        <p:nvSpPr>
          <p:cNvPr id="60" name="Rectangle 6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7143"/>
          </a:solidFill>
          <a:ln w="12700">
            <a:solidFill>
              <a:srgbClr val="FF7143"/>
            </a:solidFill>
          </a:ln>
        </p:spPr>
        <p:txBody>
          <a:bodyPr/>
          <a:lstStyle/>
          <a:p/>
        </p:txBody>
      </p:sp>
      <p:sp>
        <p:nvSpPr>
          <p:cNvPr id="61" name="Text 61"/>
          <p:cNvSpPr txBox="1"/>
          <p:nvPr/>
        </p:nvSpPr>
        <p:spPr>
          <a:xfrm>
            <a:off x="502920" y="384048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400" b="1">
                <a:solidFill>
                  <a:srgbClr val="6D7375"/>
                </a:solidFill>
                <a:latin typeface="Noto Sans JP"/>
                <a:ea typeface="Noto Sans JP"/>
              </a:rPr>
              <a:t>ID Pricing</a:t>
            </a:r>
          </a:p>
        </p:txBody>
      </p:sp>
      <p:sp>
        <p:nvSpPr>
          <p:cNvPr id="62" name="Text 62"/>
          <p:cNvSpPr txBox="1"/>
          <p:nvPr/>
        </p:nvSpPr>
        <p:spPr>
          <a:xfrm>
            <a:off x="10698480" y="384048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r"/>
            <a:r>
              <a:rPr lang="ja-JP" sz="1500" b="1">
                <a:solidFill>
                  <a:srgbClr val="414242"/>
                </a:solidFill>
                <a:latin typeface="Noto Sans JP"/>
                <a:ea typeface="Noto Sans JP"/>
              </a:rPr>
              <a:t>FrontAgent</a:t>
            </a:r>
          </a:p>
        </p:txBody>
      </p:sp>
      <p:sp>
        <p:nvSpPr>
          <p:cNvPr id="63" name="Text 63"/>
          <p:cNvSpPr txBox="1"/>
          <p:nvPr/>
        </p:nvSpPr>
        <p:spPr>
          <a:xfrm>
            <a:off x="502920" y="804672"/>
            <a:ext cx="107899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3300" b="1">
                <a:solidFill>
                  <a:srgbClr val="414242"/>
                </a:solidFill>
                <a:latin typeface="Noto Sans JP"/>
                <a:ea typeface="Noto Sans JP"/>
              </a:rPr>
              <a:t>2ID以上・追加IDはkintone Packで同じ単価を積み上げる</a:t>
            </a:r>
          </a:p>
        </p:txBody>
      </p:sp>
      <p:sp>
        <p:nvSpPr>
          <p:cNvPr id="64" name="Rectangle 64"/>
          <p:cNvSpPr/>
          <p:nvPr/>
        </p:nvSpPr>
        <p:spPr>
          <a:xfrm>
            <a:off x="502920" y="1417320"/>
            <a:ext cx="11155680" cy="32004"/>
          </a:xfrm>
          <a:prstGeom prst="rect">
            <a:avLst/>
          </a:prstGeom>
          <a:solidFill>
            <a:srgbClr val="FF7143"/>
          </a:solidFill>
          <a:ln w="12700">
            <a:solidFill>
              <a:srgbClr val="FF7143"/>
            </a:solidFill>
          </a:ln>
        </p:spPr>
        <p:txBody>
          <a:bodyPr/>
          <a:lstStyle/>
          <a:p/>
        </p:txBody>
      </p:sp>
      <p:sp>
        <p:nvSpPr>
          <p:cNvPr id="65" name="Rectangle 65"/>
          <p:cNvSpPr/>
          <p:nvPr/>
        </p:nvSpPr>
        <p:spPr>
          <a:xfrm>
            <a:off x="502920" y="6272784"/>
            <a:ext cx="11155680" cy="10973"/>
          </a:xfrm>
          <a:prstGeom prst="rect">
            <a:avLst/>
          </a:prstGeom>
          <a:solidFill>
            <a:srgbClr val="E5EAEC"/>
          </a:solidFill>
          <a:ln w="12700">
            <a:solidFill>
              <a:srgbClr val="E5EAEC"/>
            </a:solidFill>
          </a:ln>
        </p:spPr>
        <p:txBody>
          <a:bodyPr/>
          <a:lstStyle/>
          <a:p/>
        </p:txBody>
      </p:sp>
      <p:sp>
        <p:nvSpPr>
          <p:cNvPr id="66" name="Text 66"/>
          <p:cNvSpPr txBox="1"/>
          <p:nvPr/>
        </p:nvSpPr>
        <p:spPr>
          <a:xfrm>
            <a:off x="502920" y="6391656"/>
            <a:ext cx="89611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300" b="1">
                <a:solidFill>
                  <a:srgbClr val="6D7375"/>
                </a:solidFill>
                <a:latin typeface="Noto Sans JP"/>
                <a:ea typeface="Noto Sans JP"/>
              </a:rPr>
              <a:t>初年度のみ3,980円/ID（税抜）。2年目以降は通常5,980円/ID（税抜）</a:t>
            </a:r>
          </a:p>
        </p:txBody>
      </p:sp>
      <p:sp>
        <p:nvSpPr>
          <p:cNvPr id="67" name="Text 67"/>
          <p:cNvSpPr txBox="1"/>
          <p:nvPr/>
        </p:nvSpPr>
        <p:spPr>
          <a:xfrm>
            <a:off x="11064240" y="6391656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r"/>
            <a:r>
              <a:rPr lang="ja-JP" sz="1300" b="1">
                <a:solidFill>
                  <a:srgbClr val="6D7375"/>
                </a:solidFill>
                <a:latin typeface="Noto Sans JP"/>
                <a:ea typeface="Noto Sans JP"/>
              </a:rPr>
              <a:t>08</a:t>
            </a:r>
          </a:p>
        </p:txBody>
      </p:sp>
      <p:sp>
        <p:nvSpPr>
          <p:cNvPr id="68" name="Circle 68"/>
          <p:cNvSpPr/>
          <p:nvPr/>
        </p:nvSpPr>
        <p:spPr>
          <a:xfrm>
            <a:off x="11841480" y="6473952"/>
            <a:ext cx="54864" cy="54864"/>
          </a:xfrm>
          <a:prstGeom prst="ellipse">
            <a:avLst/>
          </a:prstGeom>
          <a:solidFill>
            <a:srgbClr val="FF7143"/>
          </a:solidFill>
          <a:ln w="12700">
            <a:solidFill>
              <a:srgbClr val="FF7143"/>
            </a:solidFill>
          </a:ln>
        </p:spPr>
        <p:txBody>
          <a:bodyPr anchor="ctr"/>
          <a:lstStyle/>
          <a:p>
            <a:pPr algn="ctr"/>
            <a:r>
              <a:rPr lang="ja-JP" sz="1600" b="1">
                <a:solidFill>
                  <a:srgbClr val="FF7143"/>
                </a:solidFill>
                <a:ea typeface="Noto Sans JP"/>
              </a:rPr>
              <a:t/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/>
          <p:nvPr/>
        </p:nvSpPr>
        <p:spPr>
          <a:xfrm>
            <a:off x="502920" y="2057400"/>
            <a:ext cx="2011680" cy="502920"/>
          </a:xfrm>
          <a:prstGeom prst="rect">
            <a:avLst/>
          </a:prstGeom>
          <a:solidFill>
            <a:srgbClr val="F3F5F5"/>
          </a:solidFill>
          <a:ln w="12700">
            <a:solidFill>
              <a:srgbClr val="E5EAEC"/>
            </a:solidFill>
          </a:ln>
        </p:spPr>
        <p:txBody>
          <a:bodyPr/>
          <a:lstStyle/>
          <a:p/>
        </p:txBody>
      </p:sp>
      <p:sp>
        <p:nvSpPr>
          <p:cNvPr id="5" name="Text 5"/>
          <p:cNvSpPr txBox="1"/>
          <p:nvPr/>
        </p:nvSpPr>
        <p:spPr>
          <a:xfrm>
            <a:off x="539496" y="2103120"/>
            <a:ext cx="1938528" cy="429768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300" b="1">
                <a:solidFill>
                  <a:srgbClr val="414242"/>
                </a:solidFill>
                <a:latin typeface="Noto Sans JP"/>
                <a:ea typeface="Noto Sans JP"/>
              </a:rPr>
              <a:t>カテゴリ</a:t>
            </a:r>
          </a:p>
        </p:txBody>
      </p:sp>
      <p:sp>
        <p:nvSpPr>
          <p:cNvPr id="6" name="Rectangle 6"/>
          <p:cNvSpPr/>
          <p:nvPr/>
        </p:nvSpPr>
        <p:spPr>
          <a:xfrm>
            <a:off x="2514600" y="2057400"/>
            <a:ext cx="2926080" cy="502920"/>
          </a:xfrm>
          <a:prstGeom prst="rect">
            <a:avLst/>
          </a:prstGeom>
          <a:solidFill>
            <a:srgbClr val="F3F5F5"/>
          </a:solidFill>
          <a:ln w="12700">
            <a:solidFill>
              <a:srgbClr val="E5EAEC"/>
            </a:solidFill>
          </a:ln>
        </p:spPr>
        <p:txBody>
          <a:bodyPr/>
          <a:lstStyle/>
          <a:p/>
        </p:txBody>
      </p:sp>
      <p:sp>
        <p:nvSpPr>
          <p:cNvPr id="7" name="Text 7"/>
          <p:cNvSpPr txBox="1"/>
          <p:nvPr/>
        </p:nvSpPr>
        <p:spPr>
          <a:xfrm>
            <a:off x="2551176" y="2103120"/>
            <a:ext cx="2852928" cy="429768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300" b="1">
                <a:solidFill>
                  <a:srgbClr val="414242"/>
                </a:solidFill>
                <a:latin typeface="Noto Sans JP"/>
                <a:ea typeface="Noto Sans JP"/>
              </a:rPr>
              <a:t>代表例</a:t>
            </a:r>
          </a:p>
        </p:txBody>
      </p:sp>
      <p:sp>
        <p:nvSpPr>
          <p:cNvPr id="8" name="Rectangle 8"/>
          <p:cNvSpPr/>
          <p:nvPr/>
        </p:nvSpPr>
        <p:spPr>
          <a:xfrm>
            <a:off x="5440680" y="2057400"/>
            <a:ext cx="2926080" cy="502920"/>
          </a:xfrm>
          <a:prstGeom prst="rect">
            <a:avLst/>
          </a:prstGeom>
          <a:solidFill>
            <a:srgbClr val="F3F5F5"/>
          </a:solidFill>
          <a:ln w="12700">
            <a:solidFill>
              <a:srgbClr val="E5EAEC"/>
            </a:solidFill>
          </a:ln>
        </p:spPr>
        <p:txBody>
          <a:bodyPr/>
          <a:lstStyle/>
          <a:p/>
        </p:txBody>
      </p:sp>
      <p:sp>
        <p:nvSpPr>
          <p:cNvPr id="9" name="Text 9"/>
          <p:cNvSpPr txBox="1"/>
          <p:nvPr/>
        </p:nvSpPr>
        <p:spPr>
          <a:xfrm>
            <a:off x="5477256" y="2103120"/>
            <a:ext cx="2852928" cy="429768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300" b="1">
                <a:solidFill>
                  <a:srgbClr val="414242"/>
                </a:solidFill>
                <a:latin typeface="Noto Sans JP"/>
                <a:ea typeface="Noto Sans JP"/>
              </a:rPr>
              <a:t>価格感覚</a:t>
            </a:r>
          </a:p>
        </p:txBody>
      </p:sp>
      <p:sp>
        <p:nvSpPr>
          <p:cNvPr id="10" name="Rectangle 10"/>
          <p:cNvSpPr/>
          <p:nvPr/>
        </p:nvSpPr>
        <p:spPr>
          <a:xfrm>
            <a:off x="8366760" y="2057400"/>
            <a:ext cx="3291840" cy="502920"/>
          </a:xfrm>
          <a:prstGeom prst="rect">
            <a:avLst/>
          </a:prstGeom>
          <a:solidFill>
            <a:srgbClr val="F3F5F5"/>
          </a:solidFill>
          <a:ln w="12700">
            <a:solidFill>
              <a:srgbClr val="E5EAEC"/>
            </a:solidFill>
          </a:ln>
        </p:spPr>
        <p:txBody>
          <a:bodyPr/>
          <a:lstStyle/>
          <a:p/>
        </p:txBody>
      </p:sp>
      <p:sp>
        <p:nvSpPr>
          <p:cNvPr id="11" name="Text 11"/>
          <p:cNvSpPr txBox="1"/>
          <p:nvPr/>
        </p:nvSpPr>
        <p:spPr>
          <a:xfrm>
            <a:off x="8403336" y="2103120"/>
            <a:ext cx="3218688" cy="429768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300" b="1">
                <a:solidFill>
                  <a:srgbClr val="414242"/>
                </a:solidFill>
                <a:latin typeface="Noto Sans JP"/>
                <a:ea typeface="Noto Sans JP"/>
              </a:rPr>
              <a:t>提案上の使い方</a:t>
            </a:r>
          </a:p>
        </p:txBody>
      </p:sp>
      <p:sp>
        <p:nvSpPr>
          <p:cNvPr id="12" name="Rectangle 12"/>
          <p:cNvSpPr/>
          <p:nvPr/>
        </p:nvSpPr>
        <p:spPr>
          <a:xfrm>
            <a:off x="502920" y="2560320"/>
            <a:ext cx="2011680" cy="1176833"/>
          </a:xfrm>
          <a:prstGeom prst="rect">
            <a:avLst/>
          </a:prstGeom>
          <a:solidFill>
            <a:srgbClr val="FBFCFC"/>
          </a:solidFill>
          <a:ln w="12700">
            <a:solidFill>
              <a:srgbClr val="E5EAEC"/>
            </a:solidFill>
          </a:ln>
        </p:spPr>
        <p:txBody>
          <a:bodyPr/>
          <a:lstStyle/>
          <a:p/>
        </p:txBody>
      </p:sp>
      <p:sp>
        <p:nvSpPr>
          <p:cNvPr id="13" name="Text 13"/>
          <p:cNvSpPr txBox="1"/>
          <p:nvPr/>
        </p:nvSpPr>
        <p:spPr>
          <a:xfrm>
            <a:off x="539496" y="2606040"/>
            <a:ext cx="1938528" cy="1103681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200" b="1">
                <a:solidFill>
                  <a:srgbClr val="414242"/>
                </a:solidFill>
                <a:latin typeface="Noto Sans JP"/>
                <a:ea typeface="Noto Sans JP"/>
              </a:rPr>
              <a:t>kintone本体</a:t>
            </a:r>
          </a:p>
        </p:txBody>
      </p:sp>
      <p:sp>
        <p:nvSpPr>
          <p:cNvPr id="14" name="Rectangle 14"/>
          <p:cNvSpPr/>
          <p:nvPr/>
        </p:nvSpPr>
        <p:spPr>
          <a:xfrm>
            <a:off x="2514600" y="2560320"/>
            <a:ext cx="2926080" cy="1176833"/>
          </a:xfrm>
          <a:prstGeom prst="rect">
            <a:avLst/>
          </a:prstGeom>
          <a:solidFill>
            <a:srgbClr val="FBFCFC"/>
          </a:solidFill>
          <a:ln w="12700">
            <a:solidFill>
              <a:srgbClr val="E5EAEC"/>
            </a:solidFill>
          </a:ln>
        </p:spPr>
        <p:txBody>
          <a:bodyPr/>
          <a:lstStyle/>
          <a:p/>
        </p:txBody>
      </p:sp>
      <p:sp>
        <p:nvSpPr>
          <p:cNvPr id="15" name="Text 15"/>
          <p:cNvSpPr txBox="1"/>
          <p:nvPr/>
        </p:nvSpPr>
        <p:spPr>
          <a:xfrm>
            <a:off x="2551176" y="2606040"/>
            <a:ext cx="2852928" cy="1103681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200" b="0">
                <a:solidFill>
                  <a:srgbClr val="6D7375"/>
                </a:solidFill>
                <a:latin typeface="Noto Sans JP"/>
                <a:ea typeface="Noto Sans JP"/>
              </a:rPr>
              <a:t>ライト 1,000円 / ID / 月</a:t>
            </a:r>
          </a:p>
          <a:p>
            <a:pPr algn="l"/>
            <a:r>
              <a:rPr lang="ja-JP" sz="1200" b="0">
                <a:solidFill>
                  <a:srgbClr val="6D7375"/>
                </a:solidFill>
                <a:latin typeface="Noto Sans JP"/>
                <a:ea typeface="Noto Sans JP"/>
              </a:rPr>
              <a:t>スタンダード 1,800円 / ID / 月</a:t>
            </a:r>
          </a:p>
          <a:p>
            <a:pPr algn="l"/>
            <a:r>
              <a:rPr lang="ja-JP" sz="1200" b="0">
                <a:solidFill>
                  <a:srgbClr val="6D7375"/>
                </a:solidFill>
                <a:latin typeface="Noto Sans JP"/>
                <a:ea typeface="Noto Sans JP"/>
              </a:rPr>
              <a:t>ワイド 3,000円 / ID / 月</a:t>
            </a:r>
          </a:p>
        </p:txBody>
      </p:sp>
      <p:sp>
        <p:nvSpPr>
          <p:cNvPr id="16" name="Rectangle 16"/>
          <p:cNvSpPr/>
          <p:nvPr/>
        </p:nvSpPr>
        <p:spPr>
          <a:xfrm>
            <a:off x="5440680" y="2560320"/>
            <a:ext cx="2926080" cy="1176833"/>
          </a:xfrm>
          <a:prstGeom prst="rect">
            <a:avLst/>
          </a:prstGeom>
          <a:solidFill>
            <a:srgbClr val="FBFCFC"/>
          </a:solidFill>
          <a:ln w="12700">
            <a:solidFill>
              <a:srgbClr val="E5EAEC"/>
            </a:solidFill>
          </a:ln>
        </p:spPr>
        <p:txBody>
          <a:bodyPr/>
          <a:lstStyle/>
          <a:p/>
        </p:txBody>
      </p:sp>
      <p:sp>
        <p:nvSpPr>
          <p:cNvPr id="17" name="Text 17"/>
          <p:cNvSpPr txBox="1"/>
          <p:nvPr/>
        </p:nvSpPr>
        <p:spPr>
          <a:xfrm>
            <a:off x="5477256" y="2606040"/>
            <a:ext cx="2852928" cy="1103681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200" b="0">
                <a:solidFill>
                  <a:srgbClr val="6D7375"/>
                </a:solidFill>
                <a:latin typeface="Noto Sans JP"/>
                <a:ea typeface="Noto Sans JP"/>
              </a:rPr>
              <a:t>1IDあたり1000円台の印象</a:t>
            </a:r>
          </a:p>
        </p:txBody>
      </p:sp>
      <p:sp>
        <p:nvSpPr>
          <p:cNvPr id="18" name="Rectangle 18"/>
          <p:cNvSpPr/>
          <p:nvPr/>
        </p:nvSpPr>
        <p:spPr>
          <a:xfrm>
            <a:off x="8366760" y="2560320"/>
            <a:ext cx="3291840" cy="1176833"/>
          </a:xfrm>
          <a:prstGeom prst="rect">
            <a:avLst/>
          </a:prstGeom>
          <a:solidFill>
            <a:srgbClr val="FBFCFC"/>
          </a:solidFill>
          <a:ln w="12700">
            <a:solidFill>
              <a:srgbClr val="E5EAEC"/>
            </a:solidFill>
          </a:ln>
        </p:spPr>
        <p:txBody>
          <a:bodyPr/>
          <a:lstStyle/>
          <a:p/>
        </p:txBody>
      </p:sp>
      <p:sp>
        <p:nvSpPr>
          <p:cNvPr id="19" name="Text 19"/>
          <p:cNvSpPr txBox="1"/>
          <p:nvPr/>
        </p:nvSpPr>
        <p:spPr>
          <a:xfrm>
            <a:off x="8403336" y="2606040"/>
            <a:ext cx="3218688" cy="1103681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200" b="0">
                <a:solidFill>
                  <a:srgbClr val="6D7375"/>
                </a:solidFill>
                <a:latin typeface="Noto Sans JP"/>
                <a:ea typeface="Noto Sans JP"/>
              </a:rPr>
              <a:t>Log Liteと初年度Packで初見の価格差を縮める。</a:t>
            </a:r>
          </a:p>
        </p:txBody>
      </p:sp>
      <p:sp>
        <p:nvSpPr>
          <p:cNvPr id="20" name="Rectangle 20"/>
          <p:cNvSpPr/>
          <p:nvPr/>
        </p:nvSpPr>
        <p:spPr>
          <a:xfrm>
            <a:off x="502920" y="3737153"/>
            <a:ext cx="2011680" cy="784555"/>
          </a:xfrm>
          <a:prstGeom prst="rect">
            <a:avLst/>
          </a:prstGeom>
          <a:solidFill>
            <a:srgbClr val="FBFCFC"/>
          </a:solidFill>
          <a:ln w="12700">
            <a:solidFill>
              <a:srgbClr val="E5EAEC"/>
            </a:solidFill>
          </a:ln>
        </p:spPr>
        <p:txBody>
          <a:bodyPr/>
          <a:lstStyle/>
          <a:p/>
        </p:txBody>
      </p:sp>
      <p:sp>
        <p:nvSpPr>
          <p:cNvPr id="21" name="Text 21"/>
          <p:cNvSpPr txBox="1"/>
          <p:nvPr/>
        </p:nvSpPr>
        <p:spPr>
          <a:xfrm>
            <a:off x="539496" y="3782873"/>
            <a:ext cx="1938528" cy="711403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200" b="1">
                <a:solidFill>
                  <a:srgbClr val="414242"/>
                </a:solidFill>
                <a:latin typeface="Noto Sans JP"/>
                <a:ea typeface="Noto Sans JP"/>
              </a:rPr>
              <a:t>kintone連携サービス</a:t>
            </a:r>
          </a:p>
        </p:txBody>
      </p:sp>
      <p:sp>
        <p:nvSpPr>
          <p:cNvPr id="22" name="Rectangle 22"/>
          <p:cNvSpPr/>
          <p:nvPr/>
        </p:nvSpPr>
        <p:spPr>
          <a:xfrm>
            <a:off x="2514600" y="3737153"/>
            <a:ext cx="2926080" cy="784555"/>
          </a:xfrm>
          <a:prstGeom prst="rect">
            <a:avLst/>
          </a:prstGeom>
          <a:solidFill>
            <a:srgbClr val="FBFCFC"/>
          </a:solidFill>
          <a:ln w="12700">
            <a:solidFill>
              <a:srgbClr val="E5EAEC"/>
            </a:solidFill>
          </a:ln>
        </p:spPr>
        <p:txBody>
          <a:bodyPr/>
          <a:lstStyle/>
          <a:p/>
        </p:txBody>
      </p:sp>
      <p:sp>
        <p:nvSpPr>
          <p:cNvPr id="23" name="Text 23"/>
          <p:cNvSpPr txBox="1"/>
          <p:nvPr/>
        </p:nvSpPr>
        <p:spPr>
          <a:xfrm>
            <a:off x="2551176" y="3782873"/>
            <a:ext cx="2852928" cy="711403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200" b="0">
                <a:solidFill>
                  <a:srgbClr val="6D7375"/>
                </a:solidFill>
                <a:latin typeface="Noto Sans JP"/>
                <a:ea typeface="Noto Sans JP"/>
              </a:rPr>
              <a:t>Toyokumo PrintCreator</a:t>
            </a:r>
          </a:p>
          <a:p>
            <a:pPr algn="l"/>
            <a:r>
              <a:rPr lang="ja-JP" sz="1200" b="0">
                <a:solidFill>
                  <a:srgbClr val="6D7375"/>
                </a:solidFill>
                <a:latin typeface="Noto Sans JP"/>
                <a:ea typeface="Noto Sans JP"/>
              </a:rPr>
              <a:t>M-SOLUTIONS Smart at AI</a:t>
            </a:r>
          </a:p>
        </p:txBody>
      </p:sp>
      <p:sp>
        <p:nvSpPr>
          <p:cNvPr id="24" name="Rectangle 24"/>
          <p:cNvSpPr/>
          <p:nvPr/>
        </p:nvSpPr>
        <p:spPr>
          <a:xfrm>
            <a:off x="5440680" y="3737153"/>
            <a:ext cx="2926080" cy="784555"/>
          </a:xfrm>
          <a:prstGeom prst="rect">
            <a:avLst/>
          </a:prstGeom>
          <a:solidFill>
            <a:srgbClr val="FBFCFC"/>
          </a:solidFill>
          <a:ln w="12700">
            <a:solidFill>
              <a:srgbClr val="E5EAEC"/>
            </a:solidFill>
          </a:ln>
        </p:spPr>
        <p:txBody>
          <a:bodyPr/>
          <a:lstStyle/>
          <a:p/>
        </p:txBody>
      </p:sp>
      <p:sp>
        <p:nvSpPr>
          <p:cNvPr id="25" name="Text 25"/>
          <p:cNvSpPr txBox="1"/>
          <p:nvPr/>
        </p:nvSpPr>
        <p:spPr>
          <a:xfrm>
            <a:off x="5477256" y="3782873"/>
            <a:ext cx="2852928" cy="711403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200" b="0">
                <a:solidFill>
                  <a:srgbClr val="6D7375"/>
                </a:solidFill>
                <a:latin typeface="Noto Sans JP"/>
                <a:ea typeface="Noto Sans JP"/>
              </a:rPr>
              <a:t>ID単価よりもパック・支援込みで比較</a:t>
            </a:r>
          </a:p>
        </p:txBody>
      </p:sp>
      <p:sp>
        <p:nvSpPr>
          <p:cNvPr id="26" name="Rectangle 26"/>
          <p:cNvSpPr/>
          <p:nvPr/>
        </p:nvSpPr>
        <p:spPr>
          <a:xfrm>
            <a:off x="8366760" y="3737153"/>
            <a:ext cx="3291840" cy="784555"/>
          </a:xfrm>
          <a:prstGeom prst="rect">
            <a:avLst/>
          </a:prstGeom>
          <a:solidFill>
            <a:srgbClr val="FBFCFC"/>
          </a:solidFill>
          <a:ln w="12700">
            <a:solidFill>
              <a:srgbClr val="E5EAEC"/>
            </a:solidFill>
          </a:ln>
        </p:spPr>
        <p:txBody>
          <a:bodyPr/>
          <a:lstStyle/>
          <a:p/>
        </p:txBody>
      </p:sp>
      <p:sp>
        <p:nvSpPr>
          <p:cNvPr id="27" name="Text 27"/>
          <p:cNvSpPr txBox="1"/>
          <p:nvPr/>
        </p:nvSpPr>
        <p:spPr>
          <a:xfrm>
            <a:off x="8403336" y="3782873"/>
            <a:ext cx="3218688" cy="711403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200" b="0">
                <a:solidFill>
                  <a:srgbClr val="6D7375"/>
                </a:solidFill>
                <a:latin typeface="Noto Sans JP"/>
                <a:ea typeface="Noto Sans JP"/>
              </a:rPr>
              <a:t>kintoneにデータを残す価値をPackで説明する。</a:t>
            </a:r>
          </a:p>
        </p:txBody>
      </p:sp>
      <p:sp>
        <p:nvSpPr>
          <p:cNvPr id="28" name="Rectangle 28"/>
          <p:cNvSpPr/>
          <p:nvPr/>
        </p:nvSpPr>
        <p:spPr>
          <a:xfrm>
            <a:off x="502920" y="4521708"/>
            <a:ext cx="2011680" cy="784555"/>
          </a:xfrm>
          <a:prstGeom prst="rect">
            <a:avLst/>
          </a:prstGeom>
          <a:solidFill>
            <a:srgbClr val="FBFCFC"/>
          </a:solidFill>
          <a:ln w="12700">
            <a:solidFill>
              <a:srgbClr val="E5EAEC"/>
            </a:solidFill>
          </a:ln>
        </p:spPr>
        <p:txBody>
          <a:bodyPr/>
          <a:lstStyle/>
          <a:p/>
        </p:txBody>
      </p:sp>
      <p:sp>
        <p:nvSpPr>
          <p:cNvPr id="29" name="Text 29"/>
          <p:cNvSpPr txBox="1"/>
          <p:nvPr/>
        </p:nvSpPr>
        <p:spPr>
          <a:xfrm>
            <a:off x="539496" y="4567428"/>
            <a:ext cx="1938528" cy="711403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200" b="1">
                <a:solidFill>
                  <a:srgbClr val="414242"/>
                </a:solidFill>
                <a:latin typeface="Noto Sans JP"/>
                <a:ea typeface="Noto Sans JP"/>
              </a:rPr>
              <a:t>AI議事録</a:t>
            </a:r>
          </a:p>
        </p:txBody>
      </p:sp>
      <p:sp>
        <p:nvSpPr>
          <p:cNvPr id="30" name="Rectangle 30"/>
          <p:cNvSpPr/>
          <p:nvPr/>
        </p:nvSpPr>
        <p:spPr>
          <a:xfrm>
            <a:off x="2514600" y="4521708"/>
            <a:ext cx="2926080" cy="784555"/>
          </a:xfrm>
          <a:prstGeom prst="rect">
            <a:avLst/>
          </a:prstGeom>
          <a:solidFill>
            <a:srgbClr val="FBFCFC"/>
          </a:solidFill>
          <a:ln w="12700">
            <a:solidFill>
              <a:srgbClr val="E5EAEC"/>
            </a:solidFill>
          </a:ln>
        </p:spPr>
        <p:txBody>
          <a:bodyPr/>
          <a:lstStyle/>
          <a:p/>
        </p:txBody>
      </p:sp>
      <p:sp>
        <p:nvSpPr>
          <p:cNvPr id="31" name="Text 31"/>
          <p:cNvSpPr txBox="1"/>
          <p:nvPr/>
        </p:nvSpPr>
        <p:spPr>
          <a:xfrm>
            <a:off x="2551176" y="4567428"/>
            <a:ext cx="2852928" cy="711403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200" b="0">
                <a:solidFill>
                  <a:srgbClr val="6D7375"/>
                </a:solidFill>
                <a:latin typeface="Noto Sans JP"/>
                <a:ea typeface="Noto Sans JP"/>
              </a:rPr>
              <a:t>Notta / Rimo / AI議事録取れる君</a:t>
            </a:r>
          </a:p>
          <a:p>
            <a:pPr algn="l"/>
            <a:r>
              <a:rPr lang="ja-JP" sz="1200" b="0">
                <a:solidFill>
                  <a:srgbClr val="6D7375"/>
                </a:solidFill>
                <a:latin typeface="Noto Sans JP"/>
                <a:ea typeface="Noto Sans JP"/>
              </a:rPr>
              <a:t>LINE WORKS AiNote</a:t>
            </a:r>
          </a:p>
        </p:txBody>
      </p:sp>
      <p:sp>
        <p:nvSpPr>
          <p:cNvPr id="32" name="Rectangle 32"/>
          <p:cNvSpPr/>
          <p:nvPr/>
        </p:nvSpPr>
        <p:spPr>
          <a:xfrm>
            <a:off x="5440680" y="4521708"/>
            <a:ext cx="2926080" cy="784555"/>
          </a:xfrm>
          <a:prstGeom prst="rect">
            <a:avLst/>
          </a:prstGeom>
          <a:solidFill>
            <a:srgbClr val="FBFCFC"/>
          </a:solidFill>
          <a:ln w="12700">
            <a:solidFill>
              <a:srgbClr val="E5EAEC"/>
            </a:solidFill>
          </a:ln>
        </p:spPr>
        <p:txBody>
          <a:bodyPr/>
          <a:lstStyle/>
          <a:p/>
        </p:txBody>
      </p:sp>
      <p:sp>
        <p:nvSpPr>
          <p:cNvPr id="33" name="Text 33"/>
          <p:cNvSpPr txBox="1"/>
          <p:nvPr/>
        </p:nvSpPr>
        <p:spPr>
          <a:xfrm>
            <a:off x="5477256" y="4567428"/>
            <a:ext cx="2852928" cy="711403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200" b="0">
                <a:solidFill>
                  <a:srgbClr val="6D7375"/>
                </a:solidFill>
                <a:latin typeface="Noto Sans JP"/>
                <a:ea typeface="Noto Sans JP"/>
              </a:rPr>
              <a:t>議事録単体に見えると、5,980円 / ID（税抜）は高く見える。</a:t>
            </a:r>
          </a:p>
        </p:txBody>
      </p:sp>
      <p:sp>
        <p:nvSpPr>
          <p:cNvPr id="34" name="Rectangle 34"/>
          <p:cNvSpPr/>
          <p:nvPr/>
        </p:nvSpPr>
        <p:spPr>
          <a:xfrm>
            <a:off x="8366760" y="4521708"/>
            <a:ext cx="3291840" cy="784555"/>
          </a:xfrm>
          <a:prstGeom prst="rect">
            <a:avLst/>
          </a:prstGeom>
          <a:solidFill>
            <a:srgbClr val="FBFCFC"/>
          </a:solidFill>
          <a:ln w="12700">
            <a:solidFill>
              <a:srgbClr val="E5EAEC"/>
            </a:solidFill>
          </a:ln>
        </p:spPr>
        <p:txBody>
          <a:bodyPr/>
          <a:lstStyle/>
          <a:p/>
        </p:txBody>
      </p:sp>
      <p:sp>
        <p:nvSpPr>
          <p:cNvPr id="35" name="Text 35"/>
          <p:cNvSpPr txBox="1"/>
          <p:nvPr/>
        </p:nvSpPr>
        <p:spPr>
          <a:xfrm>
            <a:off x="8403336" y="4567428"/>
            <a:ext cx="3218688" cy="711403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200" b="0">
                <a:solidFill>
                  <a:srgbClr val="6D7375"/>
                </a:solidFill>
                <a:latin typeface="Noto Sans JP"/>
                <a:ea typeface="Noto Sans JP"/>
              </a:rPr>
              <a:t>初年度限定3,980円/ID（税抜）を価格アンカーにし、議事録ではなく顧客接点データ化として売る。</a:t>
            </a:r>
          </a:p>
        </p:txBody>
      </p:sp>
      <p:sp>
        <p:nvSpPr>
          <p:cNvPr id="36" name="Rectangle 36"/>
          <p:cNvSpPr/>
          <p:nvPr/>
        </p:nvSpPr>
        <p:spPr>
          <a:xfrm>
            <a:off x="502920" y="2057400"/>
            <a:ext cx="11155680" cy="3248863"/>
          </a:xfrm>
          <a:prstGeom prst="rect">
            <a:avLst/>
          </a:prstGeom>
          <a:noFill/>
          <a:ln w="12700">
            <a:solidFill>
              <a:srgbClr val="CFD6D9"/>
            </a:solidFill>
          </a:ln>
        </p:spPr>
        <p:txBody>
          <a:bodyPr/>
          <a:lstStyle/>
          <a:p/>
        </p:txBody>
      </p:sp>
      <p:sp>
        <p:nvSpPr>
          <p:cNvPr id="37" name="Rectangle 37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7143"/>
          </a:solidFill>
          <a:ln w="12700">
            <a:solidFill>
              <a:srgbClr val="FF7143"/>
            </a:solidFill>
          </a:ln>
        </p:spPr>
        <p:txBody>
          <a:bodyPr/>
          <a:lstStyle/>
          <a:p/>
        </p:txBody>
      </p:sp>
      <p:sp>
        <p:nvSpPr>
          <p:cNvPr id="38" name="Text 38"/>
          <p:cNvSpPr txBox="1"/>
          <p:nvPr/>
        </p:nvSpPr>
        <p:spPr>
          <a:xfrm>
            <a:off x="502920" y="384048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400" b="1">
                <a:solidFill>
                  <a:srgbClr val="6D7375"/>
                </a:solidFill>
                <a:latin typeface="Noto Sans JP"/>
                <a:ea typeface="Noto Sans JP"/>
              </a:rPr>
              <a:t>Competitive Comparison</a:t>
            </a:r>
          </a:p>
        </p:txBody>
      </p:sp>
      <p:sp>
        <p:nvSpPr>
          <p:cNvPr id="39" name="Text 39"/>
          <p:cNvSpPr txBox="1"/>
          <p:nvPr/>
        </p:nvSpPr>
        <p:spPr>
          <a:xfrm>
            <a:off x="10698480" y="384048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r"/>
            <a:r>
              <a:rPr lang="ja-JP" sz="1500" b="1">
                <a:solidFill>
                  <a:srgbClr val="414242"/>
                </a:solidFill>
                <a:latin typeface="Noto Sans JP"/>
                <a:ea typeface="Noto Sans JP"/>
              </a:rPr>
              <a:t>FrontAgent</a:t>
            </a:r>
          </a:p>
        </p:txBody>
      </p:sp>
      <p:sp>
        <p:nvSpPr>
          <p:cNvPr id="40" name="Text 40"/>
          <p:cNvSpPr txBox="1"/>
          <p:nvPr/>
        </p:nvSpPr>
        <p:spPr>
          <a:xfrm>
            <a:off x="502920" y="804672"/>
            <a:ext cx="107899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3300" b="1">
                <a:solidFill>
                  <a:srgbClr val="414242"/>
                </a:solidFill>
                <a:latin typeface="Noto Sans JP"/>
                <a:ea typeface="Noto Sans JP"/>
              </a:rPr>
              <a:t>比較される相手は、3カテゴリに分かれる</a:t>
            </a:r>
          </a:p>
        </p:txBody>
      </p:sp>
      <p:sp>
        <p:nvSpPr>
          <p:cNvPr id="41" name="Rectangle 41"/>
          <p:cNvSpPr/>
          <p:nvPr/>
        </p:nvSpPr>
        <p:spPr>
          <a:xfrm>
            <a:off x="502920" y="1417320"/>
            <a:ext cx="11155680" cy="32004"/>
          </a:xfrm>
          <a:prstGeom prst="rect">
            <a:avLst/>
          </a:prstGeom>
          <a:solidFill>
            <a:srgbClr val="FF7143"/>
          </a:solidFill>
          <a:ln w="12700">
            <a:solidFill>
              <a:srgbClr val="FF7143"/>
            </a:solidFill>
          </a:ln>
        </p:spPr>
        <p:txBody>
          <a:bodyPr/>
          <a:lstStyle/>
          <a:p/>
        </p:txBody>
      </p:sp>
      <p:sp>
        <p:nvSpPr>
          <p:cNvPr id="42" name="Rectangle 42"/>
          <p:cNvSpPr/>
          <p:nvPr/>
        </p:nvSpPr>
        <p:spPr>
          <a:xfrm>
            <a:off x="502920" y="6272784"/>
            <a:ext cx="11155680" cy="10973"/>
          </a:xfrm>
          <a:prstGeom prst="rect">
            <a:avLst/>
          </a:prstGeom>
          <a:solidFill>
            <a:srgbClr val="E5EAEC"/>
          </a:solidFill>
          <a:ln w="12700">
            <a:solidFill>
              <a:srgbClr val="E5EAEC"/>
            </a:solidFill>
          </a:ln>
        </p:spPr>
        <p:txBody>
          <a:bodyPr/>
          <a:lstStyle/>
          <a:p/>
        </p:txBody>
      </p:sp>
      <p:sp>
        <p:nvSpPr>
          <p:cNvPr id="43" name="Text 43"/>
          <p:cNvSpPr txBox="1"/>
          <p:nvPr/>
        </p:nvSpPr>
        <p:spPr>
          <a:xfrm>
            <a:off x="502920" y="6391656"/>
            <a:ext cx="89611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300" b="1">
                <a:solidFill>
                  <a:srgbClr val="6D7375"/>
                </a:solidFill>
                <a:latin typeface="Noto Sans JP"/>
                <a:ea typeface="Noto Sans JP"/>
              </a:rPr>
              <a:t>他社比較は、価格ではなく売り方の設計に使う</a:t>
            </a:r>
          </a:p>
        </p:txBody>
      </p:sp>
      <p:sp>
        <p:nvSpPr>
          <p:cNvPr id="44" name="Text 44"/>
          <p:cNvSpPr txBox="1"/>
          <p:nvPr/>
        </p:nvSpPr>
        <p:spPr>
          <a:xfrm>
            <a:off x="11064240" y="6391656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r"/>
            <a:r>
              <a:rPr lang="ja-JP" sz="1300" b="1">
                <a:solidFill>
                  <a:srgbClr val="6D7375"/>
                </a:solidFill>
                <a:latin typeface="Noto Sans JP"/>
                <a:ea typeface="Noto Sans JP"/>
              </a:rPr>
              <a:t>09</a:t>
            </a:r>
          </a:p>
        </p:txBody>
      </p:sp>
      <p:sp>
        <p:nvSpPr>
          <p:cNvPr id="45" name="Circle 45"/>
          <p:cNvSpPr/>
          <p:nvPr/>
        </p:nvSpPr>
        <p:spPr>
          <a:xfrm>
            <a:off x="11841480" y="6473952"/>
            <a:ext cx="54864" cy="54864"/>
          </a:xfrm>
          <a:prstGeom prst="ellipse">
            <a:avLst/>
          </a:prstGeom>
          <a:solidFill>
            <a:srgbClr val="FF7143"/>
          </a:solidFill>
          <a:ln w="12700">
            <a:solidFill>
              <a:srgbClr val="FF7143"/>
            </a:solidFill>
          </a:ln>
        </p:spPr>
        <p:txBody>
          <a:bodyPr anchor="ctr"/>
          <a:lstStyle/>
          <a:p>
            <a:pPr algn="ctr"/>
            <a:r>
              <a:rPr lang="ja-JP" sz="1600" b="1">
                <a:solidFill>
                  <a:srgbClr val="FF7143"/>
                </a:solidFill>
                <a:ea typeface="Noto Sans JP"/>
              </a:rPr>
              <a:t/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/>
          <p:nvPr/>
        </p:nvSpPr>
        <p:spPr>
          <a:xfrm>
            <a:off x="502920" y="2331720"/>
            <a:ext cx="1280160" cy="502920"/>
          </a:xfrm>
          <a:prstGeom prst="rect">
            <a:avLst/>
          </a:prstGeom>
          <a:solidFill>
            <a:srgbClr val="F3F5F5"/>
          </a:solidFill>
          <a:ln w="12700">
            <a:solidFill>
              <a:srgbClr val="E5EAEC"/>
            </a:solidFill>
          </a:ln>
        </p:spPr>
        <p:txBody>
          <a:bodyPr/>
          <a:lstStyle/>
          <a:p/>
        </p:txBody>
      </p:sp>
      <p:sp>
        <p:nvSpPr>
          <p:cNvPr id="5" name="Text 5"/>
          <p:cNvSpPr txBox="1"/>
          <p:nvPr/>
        </p:nvSpPr>
        <p:spPr>
          <a:xfrm>
            <a:off x="539496" y="2377440"/>
            <a:ext cx="1207008" cy="429768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300" b="1">
                <a:solidFill>
                  <a:srgbClr val="414242"/>
                </a:solidFill>
                <a:latin typeface="Noto Sans JP"/>
                <a:ea typeface="Noto Sans JP"/>
              </a:rPr>
              <a:t>区分</a:t>
            </a:r>
          </a:p>
        </p:txBody>
      </p:sp>
      <p:sp>
        <p:nvSpPr>
          <p:cNvPr id="6" name="Rectangle 6"/>
          <p:cNvSpPr/>
          <p:nvPr/>
        </p:nvSpPr>
        <p:spPr>
          <a:xfrm>
            <a:off x="1783080" y="2331720"/>
            <a:ext cx="7315200" cy="502920"/>
          </a:xfrm>
          <a:prstGeom prst="rect">
            <a:avLst/>
          </a:prstGeom>
          <a:solidFill>
            <a:srgbClr val="F3F5F5"/>
          </a:solidFill>
          <a:ln w="12700">
            <a:solidFill>
              <a:srgbClr val="E5EAEC"/>
            </a:solidFill>
          </a:ln>
        </p:spPr>
        <p:txBody>
          <a:bodyPr/>
          <a:lstStyle/>
          <a:p/>
        </p:txBody>
      </p:sp>
      <p:sp>
        <p:nvSpPr>
          <p:cNvPr id="7" name="Text 7"/>
          <p:cNvSpPr txBox="1"/>
          <p:nvPr/>
        </p:nvSpPr>
        <p:spPr>
          <a:xfrm>
            <a:off x="1819656" y="2377440"/>
            <a:ext cx="7242048" cy="429768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300" b="1">
                <a:solidFill>
                  <a:srgbClr val="414242"/>
                </a:solidFill>
                <a:latin typeface="Noto Sans JP"/>
                <a:ea typeface="Noto Sans JP"/>
              </a:rPr>
              <a:t>内容</a:t>
            </a:r>
          </a:p>
        </p:txBody>
      </p:sp>
      <p:sp>
        <p:nvSpPr>
          <p:cNvPr id="8" name="Rectangle 8"/>
          <p:cNvSpPr/>
          <p:nvPr/>
        </p:nvSpPr>
        <p:spPr>
          <a:xfrm>
            <a:off x="9098280" y="2331720"/>
            <a:ext cx="2560320" cy="502920"/>
          </a:xfrm>
          <a:prstGeom prst="rect">
            <a:avLst/>
          </a:prstGeom>
          <a:solidFill>
            <a:srgbClr val="F3F5F5"/>
          </a:solidFill>
          <a:ln w="12700">
            <a:solidFill>
              <a:srgbClr val="E5EAEC"/>
            </a:solidFill>
          </a:ln>
        </p:spPr>
        <p:txBody>
          <a:bodyPr/>
          <a:lstStyle/>
          <a:p/>
        </p:txBody>
      </p:sp>
      <p:sp>
        <p:nvSpPr>
          <p:cNvPr id="9" name="Text 9"/>
          <p:cNvSpPr txBox="1"/>
          <p:nvPr/>
        </p:nvSpPr>
        <p:spPr>
          <a:xfrm>
            <a:off x="9134856" y="2377440"/>
            <a:ext cx="2487168" cy="429768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300" b="1">
                <a:solidFill>
                  <a:srgbClr val="414242"/>
                </a:solidFill>
                <a:latin typeface="Noto Sans JP"/>
                <a:ea typeface="Noto Sans JP"/>
              </a:rPr>
              <a:t>扱い</a:t>
            </a:r>
          </a:p>
        </p:txBody>
      </p:sp>
      <p:sp>
        <p:nvSpPr>
          <p:cNvPr id="10" name="Rectangle 10"/>
          <p:cNvSpPr/>
          <p:nvPr/>
        </p:nvSpPr>
        <p:spPr>
          <a:xfrm>
            <a:off x="502920" y="2834640"/>
            <a:ext cx="1280160" cy="502920"/>
          </a:xfrm>
          <a:prstGeom prst="rect">
            <a:avLst/>
          </a:prstGeom>
          <a:solidFill>
            <a:srgbClr val="FBFCFC"/>
          </a:solidFill>
          <a:ln w="12700">
            <a:solidFill>
              <a:srgbClr val="E5EAEC"/>
            </a:solidFill>
          </a:ln>
        </p:spPr>
        <p:txBody>
          <a:bodyPr/>
          <a:lstStyle/>
          <a:p/>
        </p:txBody>
      </p:sp>
      <p:sp>
        <p:nvSpPr>
          <p:cNvPr id="11" name="Text 11"/>
          <p:cNvSpPr txBox="1"/>
          <p:nvPr/>
        </p:nvSpPr>
        <p:spPr>
          <a:xfrm>
            <a:off x="539496" y="2880360"/>
            <a:ext cx="1207008" cy="429768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300" b="1">
                <a:solidFill>
                  <a:srgbClr val="414242"/>
                </a:solidFill>
                <a:latin typeface="Noto Sans JP"/>
                <a:ea typeface="Noto Sans JP"/>
              </a:rPr>
              <a:t>標準機能</a:t>
            </a:r>
          </a:p>
        </p:txBody>
      </p:sp>
      <p:sp>
        <p:nvSpPr>
          <p:cNvPr id="12" name="Rectangle 12"/>
          <p:cNvSpPr/>
          <p:nvPr/>
        </p:nvSpPr>
        <p:spPr>
          <a:xfrm>
            <a:off x="1783080" y="2834640"/>
            <a:ext cx="7315200" cy="502920"/>
          </a:xfrm>
          <a:prstGeom prst="rect">
            <a:avLst/>
          </a:prstGeom>
          <a:solidFill>
            <a:srgbClr val="FBFCFC"/>
          </a:solidFill>
          <a:ln w="12700">
            <a:solidFill>
              <a:srgbClr val="E5EAEC"/>
            </a:solidFill>
          </a:ln>
        </p:spPr>
        <p:txBody>
          <a:bodyPr/>
          <a:lstStyle/>
          <a:p/>
        </p:txBody>
      </p:sp>
      <p:sp>
        <p:nvSpPr>
          <p:cNvPr id="13" name="Text 13"/>
          <p:cNvSpPr txBox="1"/>
          <p:nvPr/>
        </p:nvSpPr>
        <p:spPr>
          <a:xfrm>
            <a:off x="1819656" y="2880360"/>
            <a:ext cx="7242048" cy="429768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300" b="0">
                <a:solidFill>
                  <a:srgbClr val="6D7375"/>
                </a:solidFill>
                <a:latin typeface="Noto Sans JP"/>
                <a:ea typeface="Noto Sans JP"/>
              </a:rPr>
              <a:t>録音、文字起こし、AI要約、kintone活動履歴登録、kintoneレコード紐付け、チーム内データ確認</a:t>
            </a:r>
          </a:p>
        </p:txBody>
      </p:sp>
      <p:sp>
        <p:nvSpPr>
          <p:cNvPr id="14" name="Rectangle 14"/>
          <p:cNvSpPr/>
          <p:nvPr/>
        </p:nvSpPr>
        <p:spPr>
          <a:xfrm>
            <a:off x="9098280" y="2834640"/>
            <a:ext cx="2560320" cy="502920"/>
          </a:xfrm>
          <a:prstGeom prst="rect">
            <a:avLst/>
          </a:prstGeom>
          <a:solidFill>
            <a:srgbClr val="FBFCFC"/>
          </a:solidFill>
          <a:ln w="12700">
            <a:solidFill>
              <a:srgbClr val="E5EAEC"/>
            </a:solidFill>
          </a:ln>
        </p:spPr>
        <p:txBody>
          <a:bodyPr/>
          <a:lstStyle/>
          <a:p/>
        </p:txBody>
      </p:sp>
      <p:sp>
        <p:nvSpPr>
          <p:cNvPr id="15" name="Text 15"/>
          <p:cNvSpPr txBox="1"/>
          <p:nvPr/>
        </p:nvSpPr>
        <p:spPr>
          <a:xfrm>
            <a:off x="9134856" y="2880360"/>
            <a:ext cx="2487168" cy="429768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300" b="0">
                <a:solidFill>
                  <a:srgbClr val="6D7375"/>
                </a:solidFill>
                <a:latin typeface="Noto Sans JP"/>
                <a:ea typeface="Noto Sans JP"/>
              </a:rPr>
              <a:t>kintone Pack本体に含める</a:t>
            </a:r>
          </a:p>
        </p:txBody>
      </p:sp>
      <p:sp>
        <p:nvSpPr>
          <p:cNvPr id="16" name="Rectangle 16"/>
          <p:cNvSpPr/>
          <p:nvPr/>
        </p:nvSpPr>
        <p:spPr>
          <a:xfrm>
            <a:off x="502920" y="3337560"/>
            <a:ext cx="1280160" cy="502920"/>
          </a:xfrm>
          <a:prstGeom prst="rect">
            <a:avLst/>
          </a:prstGeom>
          <a:solidFill>
            <a:srgbClr val="FBFCFC"/>
          </a:solidFill>
          <a:ln w="12700">
            <a:solidFill>
              <a:srgbClr val="E5EAEC"/>
            </a:solidFill>
          </a:ln>
        </p:spPr>
        <p:txBody>
          <a:bodyPr/>
          <a:lstStyle/>
          <a:p/>
        </p:txBody>
      </p:sp>
      <p:sp>
        <p:nvSpPr>
          <p:cNvPr id="17" name="Text 17"/>
          <p:cNvSpPr txBox="1"/>
          <p:nvPr/>
        </p:nvSpPr>
        <p:spPr>
          <a:xfrm>
            <a:off x="539496" y="3383280"/>
            <a:ext cx="1207008" cy="429768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300" b="1">
                <a:solidFill>
                  <a:srgbClr val="414242"/>
                </a:solidFill>
                <a:latin typeface="Noto Sans JP"/>
                <a:ea typeface="Noto Sans JP"/>
              </a:rPr>
              <a:t>標準サポート</a:t>
            </a:r>
          </a:p>
        </p:txBody>
      </p:sp>
      <p:sp>
        <p:nvSpPr>
          <p:cNvPr id="18" name="Rectangle 18"/>
          <p:cNvSpPr/>
          <p:nvPr/>
        </p:nvSpPr>
        <p:spPr>
          <a:xfrm>
            <a:off x="1783080" y="3337560"/>
            <a:ext cx="7315200" cy="502920"/>
          </a:xfrm>
          <a:prstGeom prst="rect">
            <a:avLst/>
          </a:prstGeom>
          <a:solidFill>
            <a:srgbClr val="FBFCFC"/>
          </a:solidFill>
          <a:ln w="12700">
            <a:solidFill>
              <a:srgbClr val="E5EAEC"/>
            </a:solidFill>
          </a:ln>
        </p:spPr>
        <p:txBody>
          <a:bodyPr/>
          <a:lstStyle/>
          <a:p/>
        </p:txBody>
      </p:sp>
      <p:sp>
        <p:nvSpPr>
          <p:cNvPr id="19" name="Text 19"/>
          <p:cNvSpPr txBox="1"/>
          <p:nvPr/>
        </p:nvSpPr>
        <p:spPr>
          <a:xfrm>
            <a:off x="1819656" y="3383280"/>
            <a:ext cx="7242048" cy="429768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300" b="0">
                <a:solidFill>
                  <a:srgbClr val="6D7375"/>
                </a:solidFill>
                <a:latin typeface="Noto Sans JP"/>
                <a:ea typeface="Noto Sans JP"/>
              </a:rPr>
              <a:t>ヘルプページ、FAQ、メール等の問い合わせ対応、既定のkintone連携手順案内</a:t>
            </a:r>
          </a:p>
        </p:txBody>
      </p:sp>
      <p:sp>
        <p:nvSpPr>
          <p:cNvPr id="20" name="Rectangle 20"/>
          <p:cNvSpPr/>
          <p:nvPr/>
        </p:nvSpPr>
        <p:spPr>
          <a:xfrm>
            <a:off x="9098280" y="3337560"/>
            <a:ext cx="2560320" cy="502920"/>
          </a:xfrm>
          <a:prstGeom prst="rect">
            <a:avLst/>
          </a:prstGeom>
          <a:solidFill>
            <a:srgbClr val="FBFCFC"/>
          </a:solidFill>
          <a:ln w="12700">
            <a:solidFill>
              <a:srgbClr val="E5EAEC"/>
            </a:solidFill>
          </a:ln>
        </p:spPr>
        <p:txBody>
          <a:bodyPr/>
          <a:lstStyle/>
          <a:p/>
        </p:txBody>
      </p:sp>
      <p:sp>
        <p:nvSpPr>
          <p:cNvPr id="21" name="Text 21"/>
          <p:cNvSpPr txBox="1"/>
          <p:nvPr/>
        </p:nvSpPr>
        <p:spPr>
          <a:xfrm>
            <a:off x="9134856" y="3383280"/>
            <a:ext cx="2487168" cy="429768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300" b="0">
                <a:solidFill>
                  <a:srgbClr val="6D7375"/>
                </a:solidFill>
                <a:latin typeface="Noto Sans JP"/>
                <a:ea typeface="Noto Sans JP"/>
              </a:rPr>
              <a:t>問い合わせベースで対応</a:t>
            </a:r>
          </a:p>
        </p:txBody>
      </p:sp>
      <p:sp>
        <p:nvSpPr>
          <p:cNvPr id="22" name="Rectangle 22"/>
          <p:cNvSpPr/>
          <p:nvPr/>
        </p:nvSpPr>
        <p:spPr>
          <a:xfrm>
            <a:off x="502920" y="3840480"/>
            <a:ext cx="1280160" cy="502920"/>
          </a:xfrm>
          <a:prstGeom prst="rect">
            <a:avLst/>
          </a:prstGeom>
          <a:solidFill>
            <a:srgbClr val="FBFCFC"/>
          </a:solidFill>
          <a:ln w="12700">
            <a:solidFill>
              <a:srgbClr val="E5EAEC"/>
            </a:solidFill>
          </a:ln>
        </p:spPr>
        <p:txBody>
          <a:bodyPr/>
          <a:lstStyle/>
          <a:p/>
        </p:txBody>
      </p:sp>
      <p:sp>
        <p:nvSpPr>
          <p:cNvPr id="23" name="Text 23"/>
          <p:cNvSpPr txBox="1"/>
          <p:nvPr/>
        </p:nvSpPr>
        <p:spPr>
          <a:xfrm>
            <a:off x="539496" y="3886200"/>
            <a:ext cx="1207008" cy="429768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300" b="1">
                <a:solidFill>
                  <a:srgbClr val="414242"/>
                </a:solidFill>
                <a:latin typeface="Noto Sans JP"/>
                <a:ea typeface="Noto Sans JP"/>
              </a:rPr>
              <a:t>有償支援</a:t>
            </a:r>
          </a:p>
        </p:txBody>
      </p:sp>
      <p:sp>
        <p:nvSpPr>
          <p:cNvPr id="24" name="Rectangle 24"/>
          <p:cNvSpPr/>
          <p:nvPr/>
        </p:nvSpPr>
        <p:spPr>
          <a:xfrm>
            <a:off x="1783080" y="3840480"/>
            <a:ext cx="7315200" cy="502920"/>
          </a:xfrm>
          <a:prstGeom prst="rect">
            <a:avLst/>
          </a:prstGeom>
          <a:solidFill>
            <a:srgbClr val="FBFCFC"/>
          </a:solidFill>
          <a:ln w="12700">
            <a:solidFill>
              <a:srgbClr val="E5EAEC"/>
            </a:solidFill>
          </a:ln>
        </p:spPr>
        <p:txBody>
          <a:bodyPr/>
          <a:lstStyle/>
          <a:p/>
        </p:txBody>
      </p:sp>
      <p:sp>
        <p:nvSpPr>
          <p:cNvPr id="25" name="Text 25"/>
          <p:cNvSpPr txBox="1"/>
          <p:nvPr/>
        </p:nvSpPr>
        <p:spPr>
          <a:xfrm>
            <a:off x="1819656" y="3886200"/>
            <a:ext cx="7242048" cy="429768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300" b="0">
                <a:solidFill>
                  <a:srgbClr val="6D7375"/>
                </a:solidFill>
                <a:latin typeface="Noto Sans JP"/>
                <a:ea typeface="Noto Sans JP"/>
              </a:rPr>
              <a:t>初期設定支援、項目設計、フィールドマッピング、管理者向け説明会、月1回相談</a:t>
            </a:r>
          </a:p>
        </p:txBody>
      </p:sp>
      <p:sp>
        <p:nvSpPr>
          <p:cNvPr id="26" name="Rectangle 26"/>
          <p:cNvSpPr/>
          <p:nvPr/>
        </p:nvSpPr>
        <p:spPr>
          <a:xfrm>
            <a:off x="9098280" y="3840480"/>
            <a:ext cx="2560320" cy="502920"/>
          </a:xfrm>
          <a:prstGeom prst="rect">
            <a:avLst/>
          </a:prstGeom>
          <a:solidFill>
            <a:srgbClr val="FBFCFC"/>
          </a:solidFill>
          <a:ln w="12700">
            <a:solidFill>
              <a:srgbClr val="E5EAEC"/>
            </a:solidFill>
          </a:ln>
        </p:spPr>
        <p:txBody>
          <a:bodyPr/>
          <a:lstStyle/>
          <a:p/>
        </p:txBody>
      </p:sp>
      <p:sp>
        <p:nvSpPr>
          <p:cNvPr id="27" name="Text 27"/>
          <p:cNvSpPr txBox="1"/>
          <p:nvPr/>
        </p:nvSpPr>
        <p:spPr>
          <a:xfrm>
            <a:off x="9134856" y="3886200"/>
            <a:ext cx="2487168" cy="429768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300" b="0">
                <a:solidFill>
                  <a:srgbClr val="6D7375"/>
                </a:solidFill>
                <a:latin typeface="Noto Sans JP"/>
                <a:ea typeface="Noto Sans JP"/>
              </a:rPr>
              <a:t>別途支援として提案</a:t>
            </a:r>
          </a:p>
        </p:txBody>
      </p:sp>
      <p:sp>
        <p:nvSpPr>
          <p:cNvPr id="28" name="Rectangle 28"/>
          <p:cNvSpPr/>
          <p:nvPr/>
        </p:nvSpPr>
        <p:spPr>
          <a:xfrm>
            <a:off x="502920" y="4343400"/>
            <a:ext cx="1280160" cy="502920"/>
          </a:xfrm>
          <a:prstGeom prst="rect">
            <a:avLst/>
          </a:prstGeom>
          <a:solidFill>
            <a:srgbClr val="FBFCFC"/>
          </a:solidFill>
          <a:ln w="12700">
            <a:solidFill>
              <a:srgbClr val="E5EAEC"/>
            </a:solidFill>
          </a:ln>
        </p:spPr>
        <p:txBody>
          <a:bodyPr/>
          <a:lstStyle/>
          <a:p/>
        </p:txBody>
      </p:sp>
      <p:sp>
        <p:nvSpPr>
          <p:cNvPr id="29" name="Text 29"/>
          <p:cNvSpPr txBox="1"/>
          <p:nvPr/>
        </p:nvSpPr>
        <p:spPr>
          <a:xfrm>
            <a:off x="539496" y="4389120"/>
            <a:ext cx="1207008" cy="429768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300" b="1">
                <a:solidFill>
                  <a:srgbClr val="414242"/>
                </a:solidFill>
                <a:latin typeface="Noto Sans JP"/>
                <a:ea typeface="Noto Sans JP"/>
              </a:rPr>
              <a:t>対象外</a:t>
            </a:r>
          </a:p>
        </p:txBody>
      </p:sp>
      <p:sp>
        <p:nvSpPr>
          <p:cNvPr id="30" name="Rectangle 30"/>
          <p:cNvSpPr/>
          <p:nvPr/>
        </p:nvSpPr>
        <p:spPr>
          <a:xfrm>
            <a:off x="1783080" y="4343400"/>
            <a:ext cx="7315200" cy="502920"/>
          </a:xfrm>
          <a:prstGeom prst="rect">
            <a:avLst/>
          </a:prstGeom>
          <a:solidFill>
            <a:srgbClr val="FBFCFC"/>
          </a:solidFill>
          <a:ln w="12700">
            <a:solidFill>
              <a:srgbClr val="E5EAEC"/>
            </a:solidFill>
          </a:ln>
        </p:spPr>
        <p:txBody>
          <a:bodyPr/>
          <a:lstStyle/>
          <a:p/>
        </p:txBody>
      </p:sp>
      <p:sp>
        <p:nvSpPr>
          <p:cNvPr id="31" name="Text 31"/>
          <p:cNvSpPr txBox="1"/>
          <p:nvPr/>
        </p:nvSpPr>
        <p:spPr>
          <a:xfrm>
            <a:off x="1819656" y="4389120"/>
            <a:ext cx="7242048" cy="429768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300" b="0">
                <a:solidFill>
                  <a:srgbClr val="6D7375"/>
                </a:solidFill>
                <a:latin typeface="Noto Sans JP"/>
                <a:ea typeface="Noto Sans JP"/>
              </a:rPr>
              <a:t>業務フロー整理、分析設計、個別ダッシュボード構築、個別レポート作成</a:t>
            </a:r>
          </a:p>
        </p:txBody>
      </p:sp>
      <p:sp>
        <p:nvSpPr>
          <p:cNvPr id="32" name="Rectangle 32"/>
          <p:cNvSpPr/>
          <p:nvPr/>
        </p:nvSpPr>
        <p:spPr>
          <a:xfrm>
            <a:off x="9098280" y="4343400"/>
            <a:ext cx="2560320" cy="502920"/>
          </a:xfrm>
          <a:prstGeom prst="rect">
            <a:avLst/>
          </a:prstGeom>
          <a:solidFill>
            <a:srgbClr val="FBFCFC"/>
          </a:solidFill>
          <a:ln w="12700">
            <a:solidFill>
              <a:srgbClr val="E5EAEC"/>
            </a:solidFill>
          </a:ln>
        </p:spPr>
        <p:txBody>
          <a:bodyPr/>
          <a:lstStyle/>
          <a:p/>
        </p:txBody>
      </p:sp>
      <p:sp>
        <p:nvSpPr>
          <p:cNvPr id="33" name="Text 33"/>
          <p:cNvSpPr txBox="1"/>
          <p:nvPr/>
        </p:nvSpPr>
        <p:spPr>
          <a:xfrm>
            <a:off x="9134856" y="4389120"/>
            <a:ext cx="2487168" cy="429768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300" b="0">
                <a:solidFill>
                  <a:srgbClr val="6D7375"/>
                </a:solidFill>
                <a:latin typeface="Noto Sans JP"/>
                <a:ea typeface="Noto Sans JP"/>
              </a:rPr>
              <a:t>別提案</a:t>
            </a:r>
          </a:p>
        </p:txBody>
      </p:sp>
      <p:sp>
        <p:nvSpPr>
          <p:cNvPr id="34" name="Rectangle 34"/>
          <p:cNvSpPr/>
          <p:nvPr/>
        </p:nvSpPr>
        <p:spPr>
          <a:xfrm>
            <a:off x="502920" y="2331720"/>
            <a:ext cx="11155680" cy="2514600"/>
          </a:xfrm>
          <a:prstGeom prst="rect">
            <a:avLst/>
          </a:prstGeom>
          <a:noFill/>
          <a:ln w="12700">
            <a:solidFill>
              <a:srgbClr val="CFD6D9"/>
            </a:solidFill>
          </a:ln>
        </p:spPr>
        <p:txBody>
          <a:bodyPr/>
          <a:lstStyle/>
          <a:p/>
        </p:txBody>
      </p:sp>
      <p:sp>
        <p:nvSpPr>
          <p:cNvPr id="35" name="Rectangle 35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7143"/>
          </a:solidFill>
          <a:ln w="12700">
            <a:solidFill>
              <a:srgbClr val="FF7143"/>
            </a:solidFill>
          </a:ln>
        </p:spPr>
        <p:txBody>
          <a:bodyPr/>
          <a:lstStyle/>
          <a:p/>
        </p:txBody>
      </p:sp>
      <p:sp>
        <p:nvSpPr>
          <p:cNvPr id="36" name="Text 36"/>
          <p:cNvSpPr txBox="1"/>
          <p:nvPr/>
        </p:nvSpPr>
        <p:spPr>
          <a:xfrm>
            <a:off x="502920" y="384048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400" b="1">
                <a:solidFill>
                  <a:srgbClr val="6D7375"/>
                </a:solidFill>
                <a:latin typeface="Noto Sans JP"/>
                <a:ea typeface="Noto Sans JP"/>
              </a:rPr>
              <a:t>Support Boundary</a:t>
            </a:r>
          </a:p>
        </p:txBody>
      </p:sp>
      <p:sp>
        <p:nvSpPr>
          <p:cNvPr id="37" name="Text 37"/>
          <p:cNvSpPr txBox="1"/>
          <p:nvPr/>
        </p:nvSpPr>
        <p:spPr>
          <a:xfrm>
            <a:off x="10698480" y="384048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r"/>
            <a:r>
              <a:rPr lang="ja-JP" sz="1500" b="1">
                <a:solidFill>
                  <a:srgbClr val="414242"/>
                </a:solidFill>
                <a:latin typeface="Noto Sans JP"/>
                <a:ea typeface="Noto Sans JP"/>
              </a:rPr>
              <a:t>FrontAgent</a:t>
            </a:r>
          </a:p>
        </p:txBody>
      </p:sp>
      <p:sp>
        <p:nvSpPr>
          <p:cNvPr id="38" name="Text 38"/>
          <p:cNvSpPr txBox="1"/>
          <p:nvPr/>
        </p:nvSpPr>
        <p:spPr>
          <a:xfrm>
            <a:off x="502920" y="804672"/>
            <a:ext cx="107899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3300" b="1">
                <a:solidFill>
                  <a:srgbClr val="414242"/>
                </a:solidFill>
                <a:latin typeface="Noto Sans JP"/>
                <a:ea typeface="Noto Sans JP"/>
              </a:rPr>
              <a:t>標準機能と個別支援を分け、本体価格を安く見せる</a:t>
            </a:r>
          </a:p>
        </p:txBody>
      </p:sp>
      <p:sp>
        <p:nvSpPr>
          <p:cNvPr id="39" name="Rectangle 39"/>
          <p:cNvSpPr/>
          <p:nvPr/>
        </p:nvSpPr>
        <p:spPr>
          <a:xfrm>
            <a:off x="502920" y="1417320"/>
            <a:ext cx="11155680" cy="32004"/>
          </a:xfrm>
          <a:prstGeom prst="rect">
            <a:avLst/>
          </a:prstGeom>
          <a:solidFill>
            <a:srgbClr val="FF7143"/>
          </a:solidFill>
          <a:ln w="12700">
            <a:solidFill>
              <a:srgbClr val="FF7143"/>
            </a:solidFill>
          </a:ln>
        </p:spPr>
        <p:txBody>
          <a:bodyPr/>
          <a:lstStyle/>
          <a:p/>
        </p:txBody>
      </p:sp>
      <p:sp>
        <p:nvSpPr>
          <p:cNvPr id="40" name="Rectangle 40"/>
          <p:cNvSpPr/>
          <p:nvPr/>
        </p:nvSpPr>
        <p:spPr>
          <a:xfrm>
            <a:off x="502920" y="6272784"/>
            <a:ext cx="11155680" cy="10973"/>
          </a:xfrm>
          <a:prstGeom prst="rect">
            <a:avLst/>
          </a:prstGeom>
          <a:solidFill>
            <a:srgbClr val="E5EAEC"/>
          </a:solidFill>
          <a:ln w="12700">
            <a:solidFill>
              <a:srgbClr val="E5EAEC"/>
            </a:solidFill>
          </a:ln>
        </p:spPr>
        <p:txBody>
          <a:bodyPr/>
          <a:lstStyle/>
          <a:p/>
        </p:txBody>
      </p:sp>
      <p:sp>
        <p:nvSpPr>
          <p:cNvPr id="41" name="Text 41"/>
          <p:cNvSpPr txBox="1"/>
          <p:nvPr/>
        </p:nvSpPr>
        <p:spPr>
          <a:xfrm>
            <a:off x="502920" y="6391656"/>
            <a:ext cx="89611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300" b="1">
                <a:solidFill>
                  <a:srgbClr val="6D7375"/>
                </a:solidFill>
                <a:latin typeface="Noto Sans JP"/>
                <a:ea typeface="Noto Sans JP"/>
              </a:rPr>
              <a:t>見た目の本体価格を安く保ち、個別対応は別枠で回収する</a:t>
            </a:r>
          </a:p>
        </p:txBody>
      </p:sp>
      <p:sp>
        <p:nvSpPr>
          <p:cNvPr id="42" name="Text 42"/>
          <p:cNvSpPr txBox="1"/>
          <p:nvPr/>
        </p:nvSpPr>
        <p:spPr>
          <a:xfrm>
            <a:off x="11064240" y="6391656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r"/>
            <a:r>
              <a:rPr lang="ja-JP" sz="1300" b="1">
                <a:solidFill>
                  <a:srgbClr val="6D7375"/>
                </a:solidFill>
                <a:latin typeface="Noto Sans JP"/>
                <a:ea typeface="Noto Sans JP"/>
              </a:rPr>
              <a:t>10</a:t>
            </a:r>
          </a:p>
        </p:txBody>
      </p:sp>
      <p:sp>
        <p:nvSpPr>
          <p:cNvPr id="43" name="Circle 43"/>
          <p:cNvSpPr/>
          <p:nvPr/>
        </p:nvSpPr>
        <p:spPr>
          <a:xfrm>
            <a:off x="11841480" y="6473952"/>
            <a:ext cx="54864" cy="54864"/>
          </a:xfrm>
          <a:prstGeom prst="ellipse">
            <a:avLst/>
          </a:prstGeom>
          <a:solidFill>
            <a:srgbClr val="FF7143"/>
          </a:solidFill>
          <a:ln w="12700">
            <a:solidFill>
              <a:srgbClr val="FF7143"/>
            </a:solidFill>
          </a:ln>
        </p:spPr>
        <p:txBody>
          <a:bodyPr anchor="ctr"/>
          <a:lstStyle/>
          <a:p>
            <a:pPr algn="ctr"/>
            <a:r>
              <a:rPr lang="ja-JP" sz="1600" b="1">
                <a:solidFill>
                  <a:srgbClr val="FF7143"/>
                </a:solidFill>
                <a:ea typeface="Noto Sans JP"/>
              </a:rPr>
              <a:t/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/>
          <p:nvPr/>
        </p:nvSpPr>
        <p:spPr>
          <a:xfrm>
            <a:off x="502920" y="1965960"/>
            <a:ext cx="5166360" cy="3611880"/>
          </a:xfrm>
          <a:prstGeom prst="roundRect">
            <a:avLst/>
          </a:prstGeom>
          <a:solidFill>
            <a:srgbClr val="F3F5F5"/>
          </a:solidFill>
          <a:ln w="12700">
            <a:solidFill>
              <a:srgbClr val="CFD6D9"/>
            </a:solidFill>
          </a:ln>
        </p:spPr>
        <p:txBody>
          <a:bodyPr/>
          <a:lstStyle/>
          <a:p/>
        </p:txBody>
      </p:sp>
      <p:sp>
        <p:nvSpPr>
          <p:cNvPr id="5" name="Text 5"/>
          <p:cNvSpPr txBox="1"/>
          <p:nvPr/>
        </p:nvSpPr>
        <p:spPr>
          <a:xfrm>
            <a:off x="1051560" y="2514600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2200" b="1">
                <a:solidFill>
                  <a:srgbClr val="414242"/>
                </a:solidFill>
                <a:latin typeface="Noto Sans JP"/>
                <a:ea typeface="Noto Sans JP"/>
              </a:rPr>
              <a:t>GTM Positioning</a:t>
            </a:r>
          </a:p>
        </p:txBody>
      </p:sp>
      <p:sp>
        <p:nvSpPr>
          <p:cNvPr id="6" name="Rectangle 6"/>
          <p:cNvSpPr/>
          <p:nvPr/>
        </p:nvSpPr>
        <p:spPr>
          <a:xfrm>
            <a:off x="1051560" y="3154680"/>
            <a:ext cx="1325880" cy="1234440"/>
          </a:xfrm>
          <a:prstGeom prst="roundRect">
            <a:avLst/>
          </a:prstGeom>
          <a:solidFill>
            <a:srgbClr val="FBFCFC"/>
          </a:solidFill>
          <a:ln w="15240">
            <a:solidFill>
              <a:srgbClr val="CFD6D9"/>
            </a:solidFill>
          </a:ln>
        </p:spPr>
        <p:txBody>
          <a:bodyPr/>
          <a:lstStyle/>
          <a:p/>
        </p:txBody>
      </p:sp>
      <p:sp>
        <p:nvSpPr>
          <p:cNvPr id="7" name="Circle 7"/>
          <p:cNvSpPr/>
          <p:nvPr/>
        </p:nvSpPr>
        <p:spPr>
          <a:xfrm>
            <a:off x="1252728" y="3319272"/>
            <a:ext cx="292608" cy="292608"/>
          </a:xfrm>
          <a:prstGeom prst="ellipse">
            <a:avLst/>
          </a:prstGeom>
          <a:solidFill>
            <a:srgbClr val="FFF1EB"/>
          </a:solidFill>
          <a:ln w="12700">
            <a:solidFill>
              <a:srgbClr val="FF7143"/>
            </a:solidFill>
          </a:ln>
        </p:spPr>
        <p:txBody>
          <a:bodyPr anchor="ctr"/>
          <a:lstStyle/>
          <a:p>
            <a:pPr algn="ctr"/>
            <a:r>
              <a:rPr lang="ja-JP" sz="1200" b="1">
                <a:solidFill>
                  <a:srgbClr val="FF7143"/>
                </a:solidFill>
                <a:ea typeface="Noto Sans JP"/>
              </a:rPr>
              <a:t>1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1234440" y="3685032"/>
            <a:ext cx="9601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2000" b="1">
                <a:solidFill>
                  <a:srgbClr val="414242"/>
                </a:solidFill>
                <a:latin typeface="Noto Sans JP"/>
                <a:ea typeface="Noto Sans JP"/>
              </a:rPr>
              <a:t>Log Lite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1234440" y="4023360"/>
            <a:ext cx="9601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400" b="0">
                <a:solidFill>
                  <a:srgbClr val="6D7375"/>
                </a:solidFill>
                <a:latin typeface="Noto Sans JP"/>
                <a:ea typeface="Noto Sans JP"/>
              </a:rPr>
              <a:t>見せ球</a:t>
            </a:r>
          </a:p>
          <a:p>
            <a:pPr algn="l"/>
            <a:r>
              <a:rPr lang="ja-JP" sz="1400" b="0">
                <a:solidFill>
                  <a:srgbClr val="6D7375"/>
                </a:solidFill>
                <a:latin typeface="Noto Sans JP"/>
                <a:ea typeface="Noto Sans JP"/>
              </a:rPr>
              <a:t>1ID限定・連携なし</a:t>
            </a:r>
          </a:p>
        </p:txBody>
      </p:sp>
      <p:sp>
        <p:nvSpPr>
          <p:cNvPr id="10" name="Rectangle 10"/>
          <p:cNvSpPr/>
          <p:nvPr/>
        </p:nvSpPr>
        <p:spPr>
          <a:xfrm>
            <a:off x="2651760" y="3154680"/>
            <a:ext cx="1325880" cy="1234440"/>
          </a:xfrm>
          <a:prstGeom prst="roundRect">
            <a:avLst/>
          </a:prstGeom>
          <a:solidFill>
            <a:srgbClr val="FFF8F5"/>
          </a:solidFill>
          <a:ln w="15240">
            <a:solidFill>
              <a:srgbClr val="FF7143"/>
            </a:solidFill>
          </a:ln>
        </p:spPr>
        <p:txBody>
          <a:bodyPr/>
          <a:lstStyle/>
          <a:p/>
        </p:txBody>
      </p:sp>
      <p:sp>
        <p:nvSpPr>
          <p:cNvPr id="11" name="Circle 11"/>
          <p:cNvSpPr/>
          <p:nvPr/>
        </p:nvSpPr>
        <p:spPr>
          <a:xfrm>
            <a:off x="2852928" y="3319272"/>
            <a:ext cx="292608" cy="292608"/>
          </a:xfrm>
          <a:prstGeom prst="ellipse">
            <a:avLst/>
          </a:prstGeom>
          <a:solidFill>
            <a:srgbClr val="FF7143"/>
          </a:solidFill>
          <a:ln w="12700">
            <a:solidFill>
              <a:srgbClr val="FF7143"/>
            </a:solidFill>
          </a:ln>
        </p:spPr>
        <p:txBody>
          <a:bodyPr anchor="ctr"/>
          <a:lstStyle/>
          <a:p>
            <a:pPr algn="ctr"/>
            <a:r>
              <a:rPr lang="ja-JP" sz="1200" b="1">
                <a:solidFill>
                  <a:srgbClr val="FFFFFF"/>
                </a:solidFill>
                <a:ea typeface="Noto Sans JP"/>
              </a:rPr>
              <a:t>2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2834640" y="3685032"/>
            <a:ext cx="9601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2000" b="1">
                <a:solidFill>
                  <a:srgbClr val="414242"/>
                </a:solidFill>
                <a:latin typeface="Noto Sans JP"/>
                <a:ea typeface="Noto Sans JP"/>
              </a:rPr>
              <a:t>kintone Pack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2834640" y="4023360"/>
            <a:ext cx="9601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400" b="0">
                <a:solidFill>
                  <a:srgbClr val="6D7375"/>
                </a:solidFill>
                <a:latin typeface="Noto Sans JP"/>
                <a:ea typeface="Noto Sans JP"/>
              </a:rPr>
              <a:t>本命</a:t>
            </a:r>
          </a:p>
          <a:p>
            <a:pPr algn="l"/>
            <a:r>
              <a:rPr lang="ja-JP" sz="1400" b="0">
                <a:solidFill>
                  <a:srgbClr val="6D7375"/>
                </a:solidFill>
                <a:latin typeface="Noto Sans JP"/>
                <a:ea typeface="Noto Sans JP"/>
              </a:rPr>
              <a:t>新規・部門利用</a:t>
            </a:r>
          </a:p>
        </p:txBody>
      </p:sp>
      <p:sp>
        <p:nvSpPr>
          <p:cNvPr id="14" name="Rectangle 14"/>
          <p:cNvSpPr/>
          <p:nvPr/>
        </p:nvSpPr>
        <p:spPr>
          <a:xfrm>
            <a:off x="4251960" y="3154680"/>
            <a:ext cx="1325880" cy="1234440"/>
          </a:xfrm>
          <a:prstGeom prst="roundRect">
            <a:avLst/>
          </a:prstGeom>
          <a:solidFill>
            <a:srgbClr val="FFF8F5"/>
          </a:solidFill>
          <a:ln w="15240">
            <a:solidFill>
              <a:srgbClr val="FF7143"/>
            </a:solidFill>
          </a:ln>
        </p:spPr>
        <p:txBody>
          <a:bodyPr/>
          <a:lstStyle/>
          <a:p/>
        </p:txBody>
      </p:sp>
      <p:sp>
        <p:nvSpPr>
          <p:cNvPr id="15" name="Circle 15"/>
          <p:cNvSpPr/>
          <p:nvPr/>
        </p:nvSpPr>
        <p:spPr>
          <a:xfrm>
            <a:off x="4453128" y="3319272"/>
            <a:ext cx="292608" cy="292608"/>
          </a:xfrm>
          <a:prstGeom prst="ellipse">
            <a:avLst/>
          </a:prstGeom>
          <a:solidFill>
            <a:srgbClr val="FF7143"/>
          </a:solidFill>
          <a:ln w="12700">
            <a:solidFill>
              <a:srgbClr val="FF7143"/>
            </a:solidFill>
          </a:ln>
        </p:spPr>
        <p:txBody>
          <a:bodyPr anchor="ctr"/>
          <a:lstStyle/>
          <a:p>
            <a:pPr algn="ctr"/>
            <a:r>
              <a:rPr lang="ja-JP" sz="1200" b="1">
                <a:solidFill>
                  <a:srgbClr val="FFFFFF"/>
                </a:solidFill>
                <a:ea typeface="Noto Sans JP"/>
              </a:rPr>
              <a:t>3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4434840" y="3685032"/>
            <a:ext cx="9601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2000" b="1">
                <a:solidFill>
                  <a:srgbClr val="414242"/>
                </a:solidFill>
                <a:latin typeface="Noto Sans JP"/>
                <a:ea typeface="Noto Sans JP"/>
              </a:rPr>
              <a:t>FrontAX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4434840" y="4023360"/>
            <a:ext cx="9601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400" b="0">
                <a:solidFill>
                  <a:srgbClr val="6D7375"/>
                </a:solidFill>
                <a:latin typeface="Noto Sans JP"/>
                <a:ea typeface="Noto Sans JP"/>
              </a:rPr>
              <a:t>上位導線</a:t>
            </a:r>
          </a:p>
          <a:p>
            <a:pPr algn="l"/>
            <a:r>
              <a:rPr lang="ja-JP" sz="1400" b="0">
                <a:solidFill>
                  <a:srgbClr val="6D7375"/>
                </a:solidFill>
                <a:latin typeface="Noto Sans JP"/>
                <a:ea typeface="Noto Sans JP"/>
              </a:rPr>
              <a:t>既存・営業利用</a:t>
            </a:r>
          </a:p>
        </p:txBody>
      </p:sp>
      <p:sp>
        <p:nvSpPr>
          <p:cNvPr id="18" name="Rectangle 18"/>
          <p:cNvSpPr/>
          <p:nvPr/>
        </p:nvSpPr>
        <p:spPr>
          <a:xfrm>
            <a:off x="1051560" y="4709160"/>
            <a:ext cx="4251960" cy="411480"/>
          </a:xfrm>
          <a:prstGeom prst="roundRect">
            <a:avLst/>
          </a:prstGeom>
          <a:solidFill>
            <a:srgbClr val="E8ECEE"/>
          </a:solidFill>
          <a:ln w="12700">
            <a:solidFill>
              <a:srgbClr val="CFD6D9"/>
            </a:solidFill>
          </a:ln>
        </p:spPr>
        <p:txBody>
          <a:bodyPr/>
          <a:lstStyle/>
          <a:p/>
        </p:txBody>
      </p:sp>
      <p:sp>
        <p:nvSpPr>
          <p:cNvPr id="19" name="Text 19"/>
          <p:cNvSpPr txBox="1"/>
          <p:nvPr/>
        </p:nvSpPr>
        <p:spPr>
          <a:xfrm>
            <a:off x="1234440" y="4800600"/>
            <a:ext cx="384048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200" b="1">
                <a:solidFill>
                  <a:srgbClr val="414242"/>
                </a:solidFill>
                <a:latin typeface="Noto Sans JP"/>
                <a:ea typeface="Noto Sans JP"/>
              </a:rPr>
              <a:t>有償支援は商品導線ではなく、必要時に付帯</a:t>
            </a:r>
          </a:p>
        </p:txBody>
      </p:sp>
      <p:sp>
        <p:nvSpPr>
          <p:cNvPr id="20" name="Rectangle 20"/>
          <p:cNvSpPr/>
          <p:nvPr/>
        </p:nvSpPr>
        <p:spPr>
          <a:xfrm>
            <a:off x="5806440" y="1965960"/>
            <a:ext cx="1097280" cy="411480"/>
          </a:xfrm>
          <a:prstGeom prst="rect">
            <a:avLst/>
          </a:prstGeom>
          <a:solidFill>
            <a:srgbClr val="F3F5F5"/>
          </a:solidFill>
          <a:ln w="12700">
            <a:solidFill>
              <a:srgbClr val="E5EAEC"/>
            </a:solidFill>
          </a:ln>
        </p:spPr>
        <p:txBody>
          <a:bodyPr/>
          <a:lstStyle/>
          <a:p/>
        </p:txBody>
      </p:sp>
      <p:sp>
        <p:nvSpPr>
          <p:cNvPr id="21" name="Text 21"/>
          <p:cNvSpPr txBox="1"/>
          <p:nvPr/>
        </p:nvSpPr>
        <p:spPr>
          <a:xfrm>
            <a:off x="5843016" y="2011680"/>
            <a:ext cx="1024128" cy="338328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300" b="1">
                <a:solidFill>
                  <a:srgbClr val="414242"/>
                </a:solidFill>
                <a:latin typeface="Noto Sans JP"/>
                <a:ea typeface="Noto Sans JP"/>
              </a:rPr>
              <a:t>位置づけ</a:t>
            </a:r>
          </a:p>
        </p:txBody>
      </p:sp>
      <p:sp>
        <p:nvSpPr>
          <p:cNvPr id="22" name="Rectangle 22"/>
          <p:cNvSpPr/>
          <p:nvPr/>
        </p:nvSpPr>
        <p:spPr>
          <a:xfrm>
            <a:off x="6903720" y="1965960"/>
            <a:ext cx="2560320" cy="411480"/>
          </a:xfrm>
          <a:prstGeom prst="rect">
            <a:avLst/>
          </a:prstGeom>
          <a:solidFill>
            <a:srgbClr val="F3F5F5"/>
          </a:solidFill>
          <a:ln w="12700">
            <a:solidFill>
              <a:srgbClr val="E5EAEC"/>
            </a:solidFill>
          </a:ln>
        </p:spPr>
        <p:txBody>
          <a:bodyPr/>
          <a:lstStyle/>
          <a:p/>
        </p:txBody>
      </p:sp>
      <p:sp>
        <p:nvSpPr>
          <p:cNvPr id="23" name="Text 23"/>
          <p:cNvSpPr txBox="1"/>
          <p:nvPr/>
        </p:nvSpPr>
        <p:spPr>
          <a:xfrm>
            <a:off x="6940296" y="2011680"/>
            <a:ext cx="2487168" cy="338328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300" b="1">
                <a:solidFill>
                  <a:srgbClr val="414242"/>
                </a:solidFill>
                <a:latin typeface="Noto Sans JP"/>
                <a:ea typeface="Noto Sans JP"/>
              </a:rPr>
              <a:t>対象</a:t>
            </a:r>
          </a:p>
        </p:txBody>
      </p:sp>
      <p:sp>
        <p:nvSpPr>
          <p:cNvPr id="24" name="Rectangle 24"/>
          <p:cNvSpPr/>
          <p:nvPr/>
        </p:nvSpPr>
        <p:spPr>
          <a:xfrm>
            <a:off x="9464040" y="1965960"/>
            <a:ext cx="3291840" cy="411480"/>
          </a:xfrm>
          <a:prstGeom prst="rect">
            <a:avLst/>
          </a:prstGeom>
          <a:solidFill>
            <a:srgbClr val="F3F5F5"/>
          </a:solidFill>
          <a:ln w="12700">
            <a:solidFill>
              <a:srgbClr val="E5EAEC"/>
            </a:solidFill>
          </a:ln>
        </p:spPr>
        <p:txBody>
          <a:bodyPr/>
          <a:lstStyle/>
          <a:p/>
        </p:txBody>
      </p:sp>
      <p:sp>
        <p:nvSpPr>
          <p:cNvPr id="25" name="Text 25"/>
          <p:cNvSpPr txBox="1"/>
          <p:nvPr/>
        </p:nvSpPr>
        <p:spPr>
          <a:xfrm>
            <a:off x="9500616" y="2011680"/>
            <a:ext cx="3218688" cy="338328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300" b="1">
                <a:solidFill>
                  <a:srgbClr val="414242"/>
                </a:solidFill>
                <a:latin typeface="Noto Sans JP"/>
                <a:ea typeface="Noto Sans JP"/>
              </a:rPr>
              <a:t>扱い</a:t>
            </a:r>
          </a:p>
        </p:txBody>
      </p:sp>
      <p:sp>
        <p:nvSpPr>
          <p:cNvPr id="26" name="Rectangle 26"/>
          <p:cNvSpPr/>
          <p:nvPr/>
        </p:nvSpPr>
        <p:spPr>
          <a:xfrm>
            <a:off x="5806440" y="2377440"/>
            <a:ext cx="1097280" cy="641909"/>
          </a:xfrm>
          <a:prstGeom prst="rect">
            <a:avLst/>
          </a:prstGeom>
          <a:solidFill>
            <a:srgbClr val="FBFCFC"/>
          </a:solidFill>
          <a:ln w="12700">
            <a:solidFill>
              <a:srgbClr val="E5EAEC"/>
            </a:solidFill>
          </a:ln>
        </p:spPr>
        <p:txBody>
          <a:bodyPr/>
          <a:lstStyle/>
          <a:p/>
        </p:txBody>
      </p:sp>
      <p:sp>
        <p:nvSpPr>
          <p:cNvPr id="27" name="Text 27"/>
          <p:cNvSpPr txBox="1"/>
          <p:nvPr/>
        </p:nvSpPr>
        <p:spPr>
          <a:xfrm>
            <a:off x="5843016" y="2423160"/>
            <a:ext cx="1024128" cy="568757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100" b="1">
                <a:solidFill>
                  <a:srgbClr val="414242"/>
                </a:solidFill>
                <a:latin typeface="Noto Sans JP"/>
                <a:ea typeface="Noto Sans JP"/>
              </a:rPr>
              <a:t>Log Lite</a:t>
            </a:r>
          </a:p>
          <a:p>
            <a:pPr algn="l"/>
            <a:r>
              <a:rPr lang="ja-JP" sz="1100" b="1">
                <a:solidFill>
                  <a:srgbClr val="414242"/>
                </a:solidFill>
                <a:latin typeface="Noto Sans JP"/>
                <a:ea typeface="Noto Sans JP"/>
              </a:rPr>
              <a:t>見せ球</a:t>
            </a:r>
          </a:p>
        </p:txBody>
      </p:sp>
      <p:sp>
        <p:nvSpPr>
          <p:cNvPr id="28" name="Rectangle 28"/>
          <p:cNvSpPr/>
          <p:nvPr/>
        </p:nvSpPr>
        <p:spPr>
          <a:xfrm>
            <a:off x="6903720" y="2377440"/>
            <a:ext cx="2560320" cy="641909"/>
          </a:xfrm>
          <a:prstGeom prst="rect">
            <a:avLst/>
          </a:prstGeom>
          <a:solidFill>
            <a:srgbClr val="FBFCFC"/>
          </a:solidFill>
          <a:ln w="12700">
            <a:solidFill>
              <a:srgbClr val="E5EAEC"/>
            </a:solidFill>
          </a:ln>
        </p:spPr>
        <p:txBody>
          <a:bodyPr/>
          <a:lstStyle/>
          <a:p/>
        </p:txBody>
      </p:sp>
      <p:sp>
        <p:nvSpPr>
          <p:cNvPr id="29" name="Text 29"/>
          <p:cNvSpPr txBox="1"/>
          <p:nvPr/>
        </p:nvSpPr>
        <p:spPr>
          <a:xfrm>
            <a:off x="6940296" y="2423160"/>
            <a:ext cx="2487168" cy="568757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100" b="0">
                <a:solidFill>
                  <a:srgbClr val="6D7375"/>
                </a:solidFill>
                <a:latin typeface="Noto Sans JP"/>
                <a:ea typeface="Noto Sans JP"/>
              </a:rPr>
              <a:t>1名だけで最低限使いたい顧客、価格比較が強い顧客</a:t>
            </a:r>
          </a:p>
        </p:txBody>
      </p:sp>
      <p:sp>
        <p:nvSpPr>
          <p:cNvPr id="30" name="Rectangle 30"/>
          <p:cNvSpPr/>
          <p:nvPr/>
        </p:nvSpPr>
        <p:spPr>
          <a:xfrm>
            <a:off x="9464040" y="2377440"/>
            <a:ext cx="3291840" cy="641909"/>
          </a:xfrm>
          <a:prstGeom prst="rect">
            <a:avLst/>
          </a:prstGeom>
          <a:solidFill>
            <a:srgbClr val="FBFCFC"/>
          </a:solidFill>
          <a:ln w="12700">
            <a:solidFill>
              <a:srgbClr val="E5EAEC"/>
            </a:solidFill>
          </a:ln>
        </p:spPr>
        <p:txBody>
          <a:bodyPr/>
          <a:lstStyle/>
          <a:p/>
        </p:txBody>
      </p:sp>
      <p:sp>
        <p:nvSpPr>
          <p:cNvPr id="31" name="Text 31"/>
          <p:cNvSpPr txBox="1"/>
          <p:nvPr/>
        </p:nvSpPr>
        <p:spPr>
          <a:xfrm>
            <a:off x="9500616" y="2423160"/>
            <a:ext cx="3218688" cy="568757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100" b="0">
                <a:solidFill>
                  <a:srgbClr val="6D7375"/>
                </a:solidFill>
                <a:latin typeface="Noto Sans JP"/>
                <a:ea typeface="Noto Sans JP"/>
              </a:rPr>
              <a:t>1ID限定・追加ID不可。2ID以上はkintone Packで受ける。</a:t>
            </a:r>
          </a:p>
        </p:txBody>
      </p:sp>
      <p:sp>
        <p:nvSpPr>
          <p:cNvPr id="32" name="Rectangle 32"/>
          <p:cNvSpPr/>
          <p:nvPr/>
        </p:nvSpPr>
        <p:spPr>
          <a:xfrm>
            <a:off x="5806440" y="3019349"/>
            <a:ext cx="1097280" cy="962863"/>
          </a:xfrm>
          <a:prstGeom prst="rect">
            <a:avLst/>
          </a:prstGeom>
          <a:solidFill>
            <a:srgbClr val="FBFCFC"/>
          </a:solidFill>
          <a:ln w="12700">
            <a:solidFill>
              <a:srgbClr val="E5EAEC"/>
            </a:solidFill>
          </a:ln>
        </p:spPr>
        <p:txBody>
          <a:bodyPr/>
          <a:lstStyle/>
          <a:p/>
        </p:txBody>
      </p:sp>
      <p:sp>
        <p:nvSpPr>
          <p:cNvPr id="33" name="Text 33"/>
          <p:cNvSpPr txBox="1"/>
          <p:nvPr/>
        </p:nvSpPr>
        <p:spPr>
          <a:xfrm>
            <a:off x="5843016" y="3065069"/>
            <a:ext cx="1024128" cy="889711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100" b="1">
                <a:solidFill>
                  <a:srgbClr val="414242"/>
                </a:solidFill>
                <a:latin typeface="Noto Sans JP"/>
                <a:ea typeface="Noto Sans JP"/>
              </a:rPr>
              <a:t>kintone</a:t>
            </a:r>
          </a:p>
          <a:p>
            <a:pPr algn="l"/>
            <a:r>
              <a:rPr lang="ja-JP" sz="1100" b="1">
                <a:solidFill>
                  <a:srgbClr val="414242"/>
                </a:solidFill>
                <a:latin typeface="Noto Sans JP"/>
                <a:ea typeface="Noto Sans JP"/>
              </a:rPr>
              <a:t>Pack</a:t>
            </a:r>
          </a:p>
          <a:p>
            <a:pPr algn="l"/>
            <a:r>
              <a:rPr lang="ja-JP" sz="1100" b="1">
                <a:solidFill>
                  <a:srgbClr val="414242"/>
                </a:solidFill>
                <a:latin typeface="Noto Sans JP"/>
                <a:ea typeface="Noto Sans JP"/>
              </a:rPr>
              <a:t>本命</a:t>
            </a:r>
          </a:p>
        </p:txBody>
      </p:sp>
      <p:sp>
        <p:nvSpPr>
          <p:cNvPr id="34" name="Rectangle 34"/>
          <p:cNvSpPr/>
          <p:nvPr/>
        </p:nvSpPr>
        <p:spPr>
          <a:xfrm>
            <a:off x="6903720" y="3019349"/>
            <a:ext cx="2560320" cy="962863"/>
          </a:xfrm>
          <a:prstGeom prst="rect">
            <a:avLst/>
          </a:prstGeom>
          <a:solidFill>
            <a:srgbClr val="FBFCFC"/>
          </a:solidFill>
          <a:ln w="12700">
            <a:solidFill>
              <a:srgbClr val="E5EAEC"/>
            </a:solidFill>
          </a:ln>
        </p:spPr>
        <p:txBody>
          <a:bodyPr/>
          <a:lstStyle/>
          <a:p/>
        </p:txBody>
      </p:sp>
      <p:sp>
        <p:nvSpPr>
          <p:cNvPr id="35" name="Text 35"/>
          <p:cNvSpPr txBox="1"/>
          <p:nvPr/>
        </p:nvSpPr>
        <p:spPr>
          <a:xfrm>
            <a:off x="6940296" y="3065069"/>
            <a:ext cx="2487168" cy="889711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100" b="0">
                <a:solidFill>
                  <a:srgbClr val="6D7375"/>
                </a:solidFill>
                <a:latin typeface="Noto Sans JP"/>
                <a:ea typeface="Noto Sans JP"/>
              </a:rPr>
              <a:t>kintoneに顧客接点データを残したい新規・部門利用</a:t>
            </a:r>
          </a:p>
        </p:txBody>
      </p:sp>
      <p:sp>
        <p:nvSpPr>
          <p:cNvPr id="36" name="Rectangle 36"/>
          <p:cNvSpPr/>
          <p:nvPr/>
        </p:nvSpPr>
        <p:spPr>
          <a:xfrm>
            <a:off x="9464040" y="3019349"/>
            <a:ext cx="3291840" cy="962863"/>
          </a:xfrm>
          <a:prstGeom prst="rect">
            <a:avLst/>
          </a:prstGeom>
          <a:solidFill>
            <a:srgbClr val="FBFCFC"/>
          </a:solidFill>
          <a:ln w="12700">
            <a:solidFill>
              <a:srgbClr val="E5EAEC"/>
            </a:solidFill>
          </a:ln>
        </p:spPr>
        <p:txBody>
          <a:bodyPr/>
          <a:lstStyle/>
          <a:p/>
        </p:txBody>
      </p:sp>
      <p:sp>
        <p:nvSpPr>
          <p:cNvPr id="37" name="Text 37"/>
          <p:cNvSpPr txBox="1"/>
          <p:nvPr/>
        </p:nvSpPr>
        <p:spPr>
          <a:xfrm>
            <a:off x="9500616" y="3065069"/>
            <a:ext cx="3218688" cy="889711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100" b="0">
                <a:solidFill>
                  <a:srgbClr val="6D7375"/>
                </a:solidFill>
                <a:latin typeface="Noto Sans JP"/>
                <a:ea typeface="Noto Sans JP"/>
              </a:rPr>
              <a:t>1IDからの連携パック。追加IDも同一単価で積み上げる。</a:t>
            </a:r>
          </a:p>
        </p:txBody>
      </p:sp>
      <p:sp>
        <p:nvSpPr>
          <p:cNvPr id="38" name="Rectangle 38"/>
          <p:cNvSpPr/>
          <p:nvPr/>
        </p:nvSpPr>
        <p:spPr>
          <a:xfrm>
            <a:off x="5806440" y="3982212"/>
            <a:ext cx="1097280" cy="641909"/>
          </a:xfrm>
          <a:prstGeom prst="rect">
            <a:avLst/>
          </a:prstGeom>
          <a:solidFill>
            <a:srgbClr val="FBFCFC"/>
          </a:solidFill>
          <a:ln w="12700">
            <a:solidFill>
              <a:srgbClr val="E5EAEC"/>
            </a:solidFill>
          </a:ln>
        </p:spPr>
        <p:txBody>
          <a:bodyPr/>
          <a:lstStyle/>
          <a:p/>
        </p:txBody>
      </p:sp>
      <p:sp>
        <p:nvSpPr>
          <p:cNvPr id="39" name="Text 39"/>
          <p:cNvSpPr txBox="1"/>
          <p:nvPr/>
        </p:nvSpPr>
        <p:spPr>
          <a:xfrm>
            <a:off x="5843016" y="4027932"/>
            <a:ext cx="1024128" cy="568757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100" b="1">
                <a:solidFill>
                  <a:srgbClr val="414242"/>
                </a:solidFill>
                <a:latin typeface="Noto Sans JP"/>
                <a:ea typeface="Noto Sans JP"/>
              </a:rPr>
              <a:t>FrontAX</a:t>
            </a:r>
          </a:p>
          <a:p>
            <a:pPr algn="l"/>
            <a:r>
              <a:rPr lang="ja-JP" sz="1100" b="1">
                <a:solidFill>
                  <a:srgbClr val="414242"/>
                </a:solidFill>
                <a:latin typeface="Noto Sans JP"/>
                <a:ea typeface="Noto Sans JP"/>
              </a:rPr>
              <a:t>上位導線</a:t>
            </a:r>
          </a:p>
        </p:txBody>
      </p:sp>
      <p:sp>
        <p:nvSpPr>
          <p:cNvPr id="40" name="Rectangle 40"/>
          <p:cNvSpPr/>
          <p:nvPr/>
        </p:nvSpPr>
        <p:spPr>
          <a:xfrm>
            <a:off x="6903720" y="3982212"/>
            <a:ext cx="2560320" cy="641909"/>
          </a:xfrm>
          <a:prstGeom prst="rect">
            <a:avLst/>
          </a:prstGeom>
          <a:solidFill>
            <a:srgbClr val="FBFCFC"/>
          </a:solidFill>
          <a:ln w="12700">
            <a:solidFill>
              <a:srgbClr val="E5EAEC"/>
            </a:solidFill>
          </a:ln>
        </p:spPr>
        <p:txBody>
          <a:bodyPr/>
          <a:lstStyle/>
          <a:p/>
        </p:txBody>
      </p:sp>
      <p:sp>
        <p:nvSpPr>
          <p:cNvPr id="41" name="Text 41"/>
          <p:cNvSpPr txBox="1"/>
          <p:nvPr/>
        </p:nvSpPr>
        <p:spPr>
          <a:xfrm>
            <a:off x="6940296" y="4027932"/>
            <a:ext cx="2487168" cy="568757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100" b="0">
                <a:solidFill>
                  <a:srgbClr val="6D7375"/>
                </a:solidFill>
                <a:latin typeface="Noto Sans JP"/>
                <a:ea typeface="Noto Sans JP"/>
              </a:rPr>
              <a:t>既存ユーザーのうち、年商200億円規模かつ営業利用</a:t>
            </a:r>
          </a:p>
        </p:txBody>
      </p:sp>
      <p:sp>
        <p:nvSpPr>
          <p:cNvPr id="42" name="Rectangle 42"/>
          <p:cNvSpPr/>
          <p:nvPr/>
        </p:nvSpPr>
        <p:spPr>
          <a:xfrm>
            <a:off x="9464040" y="3982212"/>
            <a:ext cx="3291840" cy="641909"/>
          </a:xfrm>
          <a:prstGeom prst="rect">
            <a:avLst/>
          </a:prstGeom>
          <a:solidFill>
            <a:srgbClr val="FBFCFC"/>
          </a:solidFill>
          <a:ln w="12700">
            <a:solidFill>
              <a:srgbClr val="E5EAEC"/>
            </a:solidFill>
          </a:ln>
        </p:spPr>
        <p:txBody>
          <a:bodyPr/>
          <a:lstStyle/>
          <a:p/>
        </p:txBody>
      </p:sp>
      <p:sp>
        <p:nvSpPr>
          <p:cNvPr id="43" name="Text 43"/>
          <p:cNvSpPr txBox="1"/>
          <p:nvPr/>
        </p:nvSpPr>
        <p:spPr>
          <a:xfrm>
            <a:off x="9500616" y="4027932"/>
            <a:ext cx="3218688" cy="568757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100" b="0">
                <a:solidFill>
                  <a:srgbClr val="6D7375"/>
                </a:solidFill>
                <a:latin typeface="Noto Sans JP"/>
                <a:ea typeface="Noto Sans JP"/>
              </a:rPr>
              <a:t>Packとは別の上位提案。</a:t>
            </a:r>
          </a:p>
        </p:txBody>
      </p:sp>
      <p:sp>
        <p:nvSpPr>
          <p:cNvPr id="44" name="Rectangle 44"/>
          <p:cNvSpPr/>
          <p:nvPr/>
        </p:nvSpPr>
        <p:spPr>
          <a:xfrm>
            <a:off x="5806440" y="4624121"/>
            <a:ext cx="1097280" cy="641909"/>
          </a:xfrm>
          <a:prstGeom prst="rect">
            <a:avLst/>
          </a:prstGeom>
          <a:solidFill>
            <a:srgbClr val="FBFCFC"/>
          </a:solidFill>
          <a:ln w="12700">
            <a:solidFill>
              <a:srgbClr val="E5EAEC"/>
            </a:solidFill>
          </a:ln>
        </p:spPr>
        <p:txBody>
          <a:bodyPr/>
          <a:lstStyle/>
          <a:p/>
        </p:txBody>
      </p:sp>
      <p:sp>
        <p:nvSpPr>
          <p:cNvPr id="45" name="Text 45"/>
          <p:cNvSpPr txBox="1"/>
          <p:nvPr/>
        </p:nvSpPr>
        <p:spPr>
          <a:xfrm>
            <a:off x="5843016" y="4669841"/>
            <a:ext cx="1024128" cy="568757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100" b="1">
                <a:solidFill>
                  <a:srgbClr val="414242"/>
                </a:solidFill>
                <a:latin typeface="Noto Sans JP"/>
                <a:ea typeface="Noto Sans JP"/>
              </a:rPr>
              <a:t>有償支援</a:t>
            </a:r>
          </a:p>
          <a:p>
            <a:pPr algn="l"/>
            <a:r>
              <a:rPr lang="ja-JP" sz="1100" b="1">
                <a:solidFill>
                  <a:srgbClr val="414242"/>
                </a:solidFill>
                <a:latin typeface="Noto Sans JP"/>
                <a:ea typeface="Noto Sans JP"/>
              </a:rPr>
              <a:t>付帯</a:t>
            </a:r>
          </a:p>
        </p:txBody>
      </p:sp>
      <p:sp>
        <p:nvSpPr>
          <p:cNvPr id="46" name="Rectangle 46"/>
          <p:cNvSpPr/>
          <p:nvPr/>
        </p:nvSpPr>
        <p:spPr>
          <a:xfrm>
            <a:off x="6903720" y="4624121"/>
            <a:ext cx="2560320" cy="641909"/>
          </a:xfrm>
          <a:prstGeom prst="rect">
            <a:avLst/>
          </a:prstGeom>
          <a:solidFill>
            <a:srgbClr val="FBFCFC"/>
          </a:solidFill>
          <a:ln w="12700">
            <a:solidFill>
              <a:srgbClr val="E5EAEC"/>
            </a:solidFill>
          </a:ln>
        </p:spPr>
        <p:txBody>
          <a:bodyPr/>
          <a:lstStyle/>
          <a:p/>
        </p:txBody>
      </p:sp>
      <p:sp>
        <p:nvSpPr>
          <p:cNvPr id="47" name="Text 47"/>
          <p:cNvSpPr txBox="1"/>
          <p:nvPr/>
        </p:nvSpPr>
        <p:spPr>
          <a:xfrm>
            <a:off x="6940296" y="4669841"/>
            <a:ext cx="2487168" cy="568757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100" b="0">
                <a:solidFill>
                  <a:srgbClr val="6D7375"/>
                </a:solidFill>
                <a:latin typeface="Noto Sans JP"/>
                <a:ea typeface="Noto Sans JP"/>
              </a:rPr>
              <a:t>個別設定・項目設計・相談が必要な案件</a:t>
            </a:r>
          </a:p>
        </p:txBody>
      </p:sp>
      <p:sp>
        <p:nvSpPr>
          <p:cNvPr id="48" name="Rectangle 48"/>
          <p:cNvSpPr/>
          <p:nvPr/>
        </p:nvSpPr>
        <p:spPr>
          <a:xfrm>
            <a:off x="9464040" y="4624121"/>
            <a:ext cx="3291840" cy="641909"/>
          </a:xfrm>
          <a:prstGeom prst="rect">
            <a:avLst/>
          </a:prstGeom>
          <a:solidFill>
            <a:srgbClr val="FBFCFC"/>
          </a:solidFill>
          <a:ln w="12700">
            <a:solidFill>
              <a:srgbClr val="E5EAEC"/>
            </a:solidFill>
          </a:ln>
        </p:spPr>
        <p:txBody>
          <a:bodyPr/>
          <a:lstStyle/>
          <a:p/>
        </p:txBody>
      </p:sp>
      <p:sp>
        <p:nvSpPr>
          <p:cNvPr id="49" name="Text 49"/>
          <p:cNvSpPr txBox="1"/>
          <p:nvPr/>
        </p:nvSpPr>
        <p:spPr>
          <a:xfrm>
            <a:off x="9500616" y="4669841"/>
            <a:ext cx="3218688" cy="568757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100" b="0">
                <a:solidFill>
                  <a:srgbClr val="6D7375"/>
                </a:solidFill>
                <a:latin typeface="Noto Sans JP"/>
                <a:ea typeface="Noto Sans JP"/>
              </a:rPr>
              <a:t>Pack / FrontAXに必要時だけ付ける。</a:t>
            </a:r>
          </a:p>
        </p:txBody>
      </p:sp>
      <p:sp>
        <p:nvSpPr>
          <p:cNvPr id="50" name="Rectangle 50"/>
          <p:cNvSpPr/>
          <p:nvPr/>
        </p:nvSpPr>
        <p:spPr>
          <a:xfrm>
            <a:off x="5806440" y="1965960"/>
            <a:ext cx="6949440" cy="3300070"/>
          </a:xfrm>
          <a:prstGeom prst="rect">
            <a:avLst/>
          </a:prstGeom>
          <a:noFill/>
          <a:ln w="12700">
            <a:solidFill>
              <a:srgbClr val="CFD6D9"/>
            </a:solidFill>
          </a:ln>
        </p:spPr>
        <p:txBody>
          <a:bodyPr/>
          <a:lstStyle/>
          <a:p/>
        </p:txBody>
      </p:sp>
      <p:sp>
        <p:nvSpPr>
          <p:cNvPr id="51" name="Rectangle 5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7143"/>
          </a:solidFill>
          <a:ln w="12700">
            <a:solidFill>
              <a:srgbClr val="FF7143"/>
            </a:solidFill>
          </a:ln>
        </p:spPr>
        <p:txBody>
          <a:bodyPr/>
          <a:lstStyle/>
          <a:p/>
        </p:txBody>
      </p:sp>
      <p:sp>
        <p:nvSpPr>
          <p:cNvPr id="52" name="Text 52"/>
          <p:cNvSpPr txBox="1"/>
          <p:nvPr/>
        </p:nvSpPr>
        <p:spPr>
          <a:xfrm>
            <a:off x="502920" y="384048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400" b="1">
                <a:solidFill>
                  <a:srgbClr val="6D7375"/>
                </a:solidFill>
                <a:latin typeface="Noto Sans JP"/>
                <a:ea typeface="Noto Sans JP"/>
              </a:rPr>
              <a:t>GTM</a:t>
            </a:r>
          </a:p>
        </p:txBody>
      </p:sp>
      <p:sp>
        <p:nvSpPr>
          <p:cNvPr id="53" name="Text 53"/>
          <p:cNvSpPr txBox="1"/>
          <p:nvPr/>
        </p:nvSpPr>
        <p:spPr>
          <a:xfrm>
            <a:off x="10698480" y="384048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r"/>
            <a:r>
              <a:rPr lang="ja-JP" sz="1500" b="1">
                <a:solidFill>
                  <a:srgbClr val="414242"/>
                </a:solidFill>
                <a:latin typeface="Noto Sans JP"/>
                <a:ea typeface="Noto Sans JP"/>
              </a:rPr>
              <a:t>FrontAgent</a:t>
            </a:r>
          </a:p>
        </p:txBody>
      </p:sp>
      <p:sp>
        <p:nvSpPr>
          <p:cNvPr id="54" name="Text 54"/>
          <p:cNvSpPr txBox="1"/>
          <p:nvPr/>
        </p:nvSpPr>
        <p:spPr>
          <a:xfrm>
            <a:off x="502920" y="804672"/>
            <a:ext cx="107899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3300" b="1">
                <a:solidFill>
                  <a:srgbClr val="414242"/>
                </a:solidFill>
                <a:latin typeface="Noto Sans JP"/>
                <a:ea typeface="Noto Sans JP"/>
              </a:rPr>
              <a:t>GTMは移管導線ではなく、顧客条件ごとの置き場所にする</a:t>
            </a:r>
          </a:p>
        </p:txBody>
      </p:sp>
      <p:sp>
        <p:nvSpPr>
          <p:cNvPr id="55" name="Rectangle 55"/>
          <p:cNvSpPr/>
          <p:nvPr/>
        </p:nvSpPr>
        <p:spPr>
          <a:xfrm>
            <a:off x="502920" y="1417320"/>
            <a:ext cx="11155680" cy="32004"/>
          </a:xfrm>
          <a:prstGeom prst="rect">
            <a:avLst/>
          </a:prstGeom>
          <a:solidFill>
            <a:srgbClr val="FF7143"/>
          </a:solidFill>
          <a:ln w="12700">
            <a:solidFill>
              <a:srgbClr val="FF7143"/>
            </a:solidFill>
          </a:ln>
        </p:spPr>
        <p:txBody>
          <a:bodyPr/>
          <a:lstStyle/>
          <a:p/>
        </p:txBody>
      </p:sp>
      <p:sp>
        <p:nvSpPr>
          <p:cNvPr id="56" name="Rectangle 56"/>
          <p:cNvSpPr/>
          <p:nvPr/>
        </p:nvSpPr>
        <p:spPr>
          <a:xfrm>
            <a:off x="502920" y="6272784"/>
            <a:ext cx="11155680" cy="10973"/>
          </a:xfrm>
          <a:prstGeom prst="rect">
            <a:avLst/>
          </a:prstGeom>
          <a:solidFill>
            <a:srgbClr val="E5EAEC"/>
          </a:solidFill>
          <a:ln w="12700">
            <a:solidFill>
              <a:srgbClr val="E5EAEC"/>
            </a:solidFill>
          </a:ln>
        </p:spPr>
        <p:txBody>
          <a:bodyPr/>
          <a:lstStyle/>
          <a:p/>
        </p:txBody>
      </p:sp>
      <p:sp>
        <p:nvSpPr>
          <p:cNvPr id="57" name="Text 57"/>
          <p:cNvSpPr txBox="1"/>
          <p:nvPr/>
        </p:nvSpPr>
        <p:spPr>
          <a:xfrm>
            <a:off x="502920" y="6391656"/>
            <a:ext cx="89611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l"/>
            <a:r>
              <a:rPr lang="ja-JP" sz="1300" b="1">
                <a:solidFill>
                  <a:srgbClr val="6D7375"/>
                </a:solidFill>
                <a:latin typeface="Noto Sans JP"/>
                <a:ea typeface="Noto Sans JP"/>
              </a:rPr>
              <a:t>Log Liteは単独の見せ球。有償支援は必要時だけ付帯する</a:t>
            </a:r>
          </a:p>
        </p:txBody>
      </p:sp>
      <p:sp>
        <p:nvSpPr>
          <p:cNvPr id="58" name="Text 58"/>
          <p:cNvSpPr txBox="1"/>
          <p:nvPr/>
        </p:nvSpPr>
        <p:spPr>
          <a:xfrm>
            <a:off x="11064240" y="6391656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54864" rIns="54864" tIns="54864" bIns="54864"/>
          <a:lstStyle/>
          <a:p>
            <a:pPr algn="r"/>
            <a:r>
              <a:rPr lang="ja-JP" sz="1300" b="1">
                <a:solidFill>
                  <a:srgbClr val="6D7375"/>
                </a:solidFill>
                <a:latin typeface="Noto Sans JP"/>
                <a:ea typeface="Noto Sans JP"/>
              </a:rPr>
              <a:t>11</a:t>
            </a:r>
          </a:p>
        </p:txBody>
      </p:sp>
      <p:sp>
        <p:nvSpPr>
          <p:cNvPr id="59" name="Circle 59"/>
          <p:cNvSpPr/>
          <p:nvPr/>
        </p:nvSpPr>
        <p:spPr>
          <a:xfrm>
            <a:off x="11841480" y="6473952"/>
            <a:ext cx="54864" cy="54864"/>
          </a:xfrm>
          <a:prstGeom prst="ellipse">
            <a:avLst/>
          </a:prstGeom>
          <a:solidFill>
            <a:srgbClr val="FF7143"/>
          </a:solidFill>
          <a:ln w="12700">
            <a:solidFill>
              <a:srgbClr val="FF7143"/>
            </a:solidFill>
          </a:ln>
        </p:spPr>
        <p:txBody>
          <a:bodyPr anchor="ctr"/>
          <a:lstStyle/>
          <a:p>
            <a:pPr algn="ctr"/>
            <a:r>
              <a:rPr lang="ja-JP" sz="1600" b="1">
                <a:solidFill>
                  <a:srgbClr val="FF7143"/>
                </a:solidFill>
                <a:ea typeface="Noto Sans JP"/>
              </a:rPr>
              <a:t/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2F2F2"/>
      </a:lt2>
      <a:accent1>
        <a:srgbClr val="FF7143"/>
      </a:accent1>
      <a:accent2>
        <a:srgbClr val="414242"/>
      </a:accent2>
      <a:accent3>
        <a:srgbClr val="6D7375"/>
      </a:accent3>
      <a:accent4>
        <a:srgbClr val="CFD6D9"/>
      </a:accent4>
      <a:accent5>
        <a:srgbClr val="FFF1EC"/>
      </a:accent5>
      <a:accent6>
        <a:srgbClr val="BAC2C8"/>
      </a:accent6>
      <a:hlink>
        <a:srgbClr val="0563C1"/>
      </a:hlink>
      <a:folHlink>
        <a:srgbClr val="954F72"/>
      </a:folHlink>
    </a:clrScheme>
    <a:fontScheme name="Office">
      <a:majorFont>
        <a:latin typeface="Noto Sans JP"/>
        <a:ea typeface="Noto Sans JP"/>
        <a:cs typeface=""/>
      </a:majorFont>
      <a:minorFont>
        <a:latin typeface="Noto Sans JP"/>
        <a:ea typeface="Noto Sans JP"/>
        <a:cs typeface=""/>
      </a:minorFont>
    </a:fontScheme>
    <a:fmtScheme name="Office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 HTML Deck Export</Application>
  <PresentationFormat>On-screen Show (16:9)</PresentationFormat>
  <Slides>11</Slides>
  <Notes>0</Notes>
  <HiddenSlides>0</HiddenSlides>
  <MMClips>0</MMClips>
  <ScaleCrop>false</ScaleCrop>
  <Company>Umee Technologies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FrontAgent x kintone SB C&amp;S Proposal</dc:title>
  <dc:creator>Codex</dc:creator>
  <cp:lastModifiedBy>Codex</cp:lastModifiedBy>
  <dcterms:created xsi:type="dcterms:W3CDTF">2026-05-26T06:13:57Z</dcterms:created>
  <dcterms:modified xsi:type="dcterms:W3CDTF">2026-05-26T06:13:57Z</dcterms:modified>
</cp:coreProperties>
</file>