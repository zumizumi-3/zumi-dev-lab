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 type="wide"/>
  <p:notesSz cx="6858000" cy="9144000"/>
  <p:defaultTextStyle>
    <a:defPPr>
      <a:defRPr lang="ja-JP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4"/>
          <p:cNvSpPr txBox="1"/>
          <p:nvPr/>
        </p:nvSpPr>
        <p:spPr>
          <a:xfrm>
            <a:off x="502920" y="2011680"/>
            <a:ext cx="89611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6D7375"/>
                </a:solidFill>
                <a:latin typeface="Noto Sans JP"/>
                <a:ea typeface="Noto Sans JP"/>
              </a:rPr>
              <a:t>kintone利用企業に向けたセットプランの料金設計とGTM整理</a:t>
            </a:r>
          </a:p>
        </p:txBody>
      </p:sp>
      <p:sp>
        <p:nvSpPr>
          <p:cNvPr id="5" name="Rectangle 5"/>
          <p:cNvSpPr/>
          <p:nvPr/>
        </p:nvSpPr>
        <p:spPr>
          <a:xfrm>
            <a:off x="502920" y="3063240"/>
            <a:ext cx="36576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6" name="Text 6"/>
          <p:cNvSpPr txBox="1"/>
          <p:nvPr/>
        </p:nvSpPr>
        <p:spPr>
          <a:xfrm>
            <a:off x="685800" y="316382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6D7375"/>
                </a:solidFill>
                <a:latin typeface="Noto Sans JP"/>
                <a:ea typeface="Noto Sans JP"/>
              </a:rPr>
              <a:t>作成日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1554480" y="3145536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2026.05.26</a:t>
            </a:r>
          </a:p>
        </p:txBody>
      </p:sp>
      <p:sp>
        <p:nvSpPr>
          <p:cNvPr id="8" name="Rectangle 8"/>
          <p:cNvSpPr/>
          <p:nvPr/>
        </p:nvSpPr>
        <p:spPr>
          <a:xfrm>
            <a:off x="502920" y="3703320"/>
            <a:ext cx="5486400" cy="68580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685800" y="3822192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6D7375"/>
                </a:solidFill>
                <a:latin typeface="Noto Sans JP"/>
                <a:ea typeface="Noto Sans JP"/>
              </a:rPr>
              <a:t>論点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554480" y="3813048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価格 / ID / 比較軸 / 支援範囲 / 販売条件</a:t>
            </a:r>
          </a:p>
        </p:txBody>
      </p:sp>
      <p:sp>
        <p:nvSpPr>
          <p:cNvPr id="11" name="Rectangle 1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SB C&amp;S 向け提案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FrontAgent x kintone を、売りやすい料金体系にする</a:t>
            </a:r>
          </a:p>
        </p:txBody>
      </p:sp>
      <p:sp>
        <p:nvSpPr>
          <p:cNvPr id="15" name="Rectangle 15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6" name="Rectangle 16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Umee Technologies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01</a:t>
            </a:r>
          </a:p>
        </p:txBody>
      </p:sp>
      <p:sp>
        <p:nvSpPr>
          <p:cNvPr id="19" name="Circle 19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1965960"/>
            <a:ext cx="5074920" cy="3611880"/>
          </a:xfrm>
          <a:prstGeom prst="roundRect">
            <a:avLst/>
          </a:prstGeom>
          <a:solidFill>
            <a:srgbClr val="F3F5F5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960120" y="233172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PRICE ANCHOR / CORE PACK</a:t>
            </a:r>
          </a:p>
        </p:txBody>
      </p:sp>
      <p:sp>
        <p:nvSpPr>
          <p:cNvPr id="6" name="Rectangle 6"/>
          <p:cNvSpPr/>
          <p:nvPr/>
        </p:nvSpPr>
        <p:spPr>
          <a:xfrm>
            <a:off x="1188720" y="2788920"/>
            <a:ext cx="1737360" cy="141732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7" name="Circle 7"/>
          <p:cNvSpPr/>
          <p:nvPr/>
        </p:nvSpPr>
        <p:spPr>
          <a:xfrm>
            <a:off x="1389888" y="295351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371600" y="331927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Log Lite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371600" y="365760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1ID限定 / 980円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追加ID不可</a:t>
            </a:r>
          </a:p>
        </p:txBody>
      </p:sp>
      <p:sp>
        <p:nvSpPr>
          <p:cNvPr id="10" name="Rectangle 10"/>
          <p:cNvSpPr/>
          <p:nvPr/>
        </p:nvSpPr>
        <p:spPr>
          <a:xfrm>
            <a:off x="3566160" y="2788920"/>
            <a:ext cx="1737360" cy="141732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1" name="Circle 11"/>
          <p:cNvSpPr/>
          <p:nvPr/>
        </p:nvSpPr>
        <p:spPr>
          <a:xfrm>
            <a:off x="3767328" y="295351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Noto Sans JP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3749040" y="331927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kintone Pack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749040" y="365760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初年度限定 2,980円 / ID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2ID以上・連携はこちら</a:t>
            </a:r>
          </a:p>
        </p:txBody>
      </p:sp>
      <p:sp>
        <p:nvSpPr>
          <p:cNvPr id="14" name="Rectangle 14"/>
          <p:cNvSpPr/>
          <p:nvPr/>
        </p:nvSpPr>
        <p:spPr>
          <a:xfrm>
            <a:off x="2971800" y="3474720"/>
            <a:ext cx="502920" cy="36576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5" name="Rectangle 15"/>
          <p:cNvSpPr/>
          <p:nvPr/>
        </p:nvSpPr>
        <p:spPr>
          <a:xfrm>
            <a:off x="5715000" y="1965960"/>
            <a:ext cx="5943600" cy="141732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6" name="Circle 16"/>
          <p:cNvSpPr/>
          <p:nvPr/>
        </p:nvSpPr>
        <p:spPr>
          <a:xfrm>
            <a:off x="5916168" y="213055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1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5897880" y="2496312"/>
            <a:ext cx="55778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Log Lite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897880" y="2834640"/>
            <a:ext cx="55778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1ID限定・980円/月の見せ球。追加IDは不可。月1,800分・1ログ5時間・AI要約100回までにする。</a:t>
            </a:r>
          </a:p>
        </p:txBody>
      </p:sp>
      <p:sp>
        <p:nvSpPr>
          <p:cNvPr id="19" name="Rectangle 19"/>
          <p:cNvSpPr/>
          <p:nvPr/>
        </p:nvSpPr>
        <p:spPr>
          <a:xfrm>
            <a:off x="5715000" y="3520440"/>
            <a:ext cx="5943600" cy="160020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0" name="Circle 20"/>
          <p:cNvSpPr/>
          <p:nvPr/>
        </p:nvSpPr>
        <p:spPr>
          <a:xfrm>
            <a:off x="5916168" y="368503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Noto Sans JP"/>
              </a:rPr>
              <a:t>2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5897880" y="4050792"/>
            <a:ext cx="55778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kintone Pack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897880" y="4389120"/>
            <a:ext cx="557784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2ID以上・追加ID・kintone連携を受ける本命プラン。2,980円は初年度のみ、2年目以降は通常単価。</a:t>
            </a:r>
          </a:p>
        </p:txBody>
      </p:sp>
      <p:sp>
        <p:nvSpPr>
          <p:cNvPr id="23" name="Rectangle 2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Executive Summary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提案の中心は、Log Liteとkintone Packの2層設計</a:t>
            </a:r>
          </a:p>
        </p:txBody>
      </p:sp>
      <p:sp>
        <p:nvSpPr>
          <p:cNvPr id="27" name="Rectangle 27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8" name="Rectangle 28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見せ球のLog Liteと、本命のkintone Packを分ける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02</a:t>
            </a:r>
          </a:p>
        </p:txBody>
      </p:sp>
      <p:sp>
        <p:nvSpPr>
          <p:cNvPr id="31" name="Circle 31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148840"/>
            <a:ext cx="20116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19456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比較対象</a:t>
            </a:r>
          </a:p>
        </p:txBody>
      </p:sp>
      <p:sp>
        <p:nvSpPr>
          <p:cNvPr id="6" name="Rectangle 6"/>
          <p:cNvSpPr/>
          <p:nvPr/>
        </p:nvSpPr>
        <p:spPr>
          <a:xfrm>
            <a:off x="2514600" y="2148840"/>
            <a:ext cx="32004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2551176" y="2194560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価格アンカー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0" y="2148840"/>
            <a:ext cx="59436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5751576" y="2194560"/>
            <a:ext cx="58704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示唆</a:t>
            </a:r>
          </a:p>
        </p:txBody>
      </p:sp>
      <p:sp>
        <p:nvSpPr>
          <p:cNvPr id="10" name="Rectangle 10"/>
          <p:cNvSpPr/>
          <p:nvPr/>
        </p:nvSpPr>
        <p:spPr>
          <a:xfrm>
            <a:off x="502920" y="2651760"/>
            <a:ext cx="20116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39496" y="2697480"/>
            <a:ext cx="19385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kintone本体</a:t>
            </a:r>
          </a:p>
        </p:txBody>
      </p:sp>
      <p:sp>
        <p:nvSpPr>
          <p:cNvPr id="12" name="Rectangle 12"/>
          <p:cNvSpPr/>
          <p:nvPr/>
        </p:nvSpPr>
        <p:spPr>
          <a:xfrm>
            <a:off x="2514600" y="2651760"/>
            <a:ext cx="32004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2551176" y="2697480"/>
            <a:ext cx="31272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1,000円 / 1,800円 / 3,000円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ライト・スタンダード・ワイド</a:t>
            </a:r>
          </a:p>
        </p:txBody>
      </p:sp>
      <p:sp>
        <p:nvSpPr>
          <p:cNvPr id="14" name="Rectangle 14"/>
          <p:cNvSpPr/>
          <p:nvPr/>
        </p:nvSpPr>
        <p:spPr>
          <a:xfrm>
            <a:off x="5715000" y="2651760"/>
            <a:ext cx="59436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5751576" y="2697480"/>
            <a:ext cx="58704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初見では、1IDあたり1000円台の印象が強い。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02920" y="3436315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539496" y="3482035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kintone連携サービス</a:t>
            </a:r>
          </a:p>
        </p:txBody>
      </p:sp>
      <p:sp>
        <p:nvSpPr>
          <p:cNvPr id="18" name="Rectangle 18"/>
          <p:cNvSpPr/>
          <p:nvPr/>
        </p:nvSpPr>
        <p:spPr>
          <a:xfrm>
            <a:off x="2514600" y="3436315"/>
            <a:ext cx="3200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2551176" y="3482035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月額7,000円から / 年額12万円など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715000" y="3436315"/>
            <a:ext cx="59436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751576" y="3482035"/>
            <a:ext cx="58704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1ID単価だけでなく、環境単位・ID上限付きパックも説明しやすい。</a:t>
            </a:r>
          </a:p>
        </p:txBody>
      </p:sp>
      <p:sp>
        <p:nvSpPr>
          <p:cNvPr id="22" name="Rectangle 22"/>
          <p:cNvSpPr/>
          <p:nvPr/>
        </p:nvSpPr>
        <p:spPr>
          <a:xfrm>
            <a:off x="502920" y="3939235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39496" y="3984955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AI議事録</a:t>
            </a:r>
          </a:p>
        </p:txBody>
      </p:sp>
      <p:sp>
        <p:nvSpPr>
          <p:cNvPr id="24" name="Rectangle 24"/>
          <p:cNvSpPr/>
          <p:nvPr/>
        </p:nvSpPr>
        <p:spPr>
          <a:xfrm>
            <a:off x="2514600" y="3939235"/>
            <a:ext cx="3200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2551176" y="3984955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1000円台から5000円台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715000" y="3939235"/>
            <a:ext cx="59436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5751576" y="3984955"/>
            <a:ext cx="58704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Nottaは分数・1回上限・AI要約回数でプラン差を出している。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2148840"/>
            <a:ext cx="11155680" cy="2293315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29" name="Rectangle 29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0" name="Text 30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Market Context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kintone利用者の価格感覚は、1000円台から始まる</a:t>
            </a:r>
          </a:p>
        </p:txBody>
      </p:sp>
      <p:sp>
        <p:nvSpPr>
          <p:cNvPr id="33" name="Rectangle 33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4" name="Rectangle 34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価格表示は1IDから始め、必要ID数で積み上げる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03</a:t>
            </a:r>
          </a:p>
        </p:txBody>
      </p:sp>
      <p:sp>
        <p:nvSpPr>
          <p:cNvPr id="37" name="Circle 37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148840"/>
            <a:ext cx="2606040" cy="3063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" name="Circle 5"/>
          <p:cNvSpPr/>
          <p:nvPr/>
        </p:nvSpPr>
        <p:spPr>
          <a:xfrm>
            <a:off x="704088" y="231343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679192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見せ球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3017520"/>
            <a:ext cx="2240280" cy="21031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Log Liteは1ID限定 980円/月。Notta Premium基準の上限で、比較時の価格アンカーにする。</a:t>
            </a:r>
          </a:p>
        </p:txBody>
      </p:sp>
      <p:sp>
        <p:nvSpPr>
          <p:cNvPr id="8" name="Rectangle 8"/>
          <p:cNvSpPr/>
          <p:nvPr/>
        </p:nvSpPr>
        <p:spPr>
          <a:xfrm>
            <a:off x="3337560" y="2148840"/>
            <a:ext cx="2606040" cy="306324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9" name="Circle 9"/>
          <p:cNvSpPr/>
          <p:nvPr/>
        </p:nvSpPr>
        <p:spPr>
          <a:xfrm>
            <a:off x="3538728" y="231343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Noto Sans JP"/>
              </a:rPr>
              <a:t>2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520440" y="2679192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1ID連携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3017520"/>
            <a:ext cx="2240280" cy="21031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kintone Packも1IDから。初見の価格ハードルを下げる。</a:t>
            </a:r>
          </a:p>
        </p:txBody>
      </p:sp>
      <p:sp>
        <p:nvSpPr>
          <p:cNvPr id="12" name="Rectangle 12"/>
          <p:cNvSpPr/>
          <p:nvPr/>
        </p:nvSpPr>
        <p:spPr>
          <a:xfrm>
            <a:off x="6172200" y="2148840"/>
            <a:ext cx="2606040" cy="3063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3" name="Circle 13"/>
          <p:cNvSpPr/>
          <p:nvPr/>
        </p:nvSpPr>
        <p:spPr>
          <a:xfrm>
            <a:off x="6373368" y="231343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3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355080" y="2679192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ID追加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355080" y="3017520"/>
            <a:ext cx="2240280" cy="21031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追加IDまたは2ID以上はkintone Pack。Liteの安さを複数利用に広げない。</a:t>
            </a:r>
          </a:p>
        </p:txBody>
      </p:sp>
      <p:sp>
        <p:nvSpPr>
          <p:cNvPr id="16" name="Rectangle 16"/>
          <p:cNvSpPr/>
          <p:nvPr/>
        </p:nvSpPr>
        <p:spPr>
          <a:xfrm>
            <a:off x="9006840" y="2148840"/>
            <a:ext cx="2606040" cy="3063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7" name="Circle 17"/>
          <p:cNvSpPr/>
          <p:nvPr/>
        </p:nvSpPr>
        <p:spPr>
          <a:xfrm>
            <a:off x="9208008" y="231343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4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9189720" y="2679192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支援分離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9189720" y="3017520"/>
            <a:ext cx="2240280" cy="21031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個別設定や定例支援は本体に含めず、別途提案する。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Design Policy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見せ球と本命を分け、価格感度と連携価値を両立する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5" name="Rectangle 25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6" name="Text 26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本体価格を軽く見せ、個別対応は別枠で回収する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04</a:t>
            </a:r>
          </a:p>
        </p:txBody>
      </p:sp>
      <p:sp>
        <p:nvSpPr>
          <p:cNvPr id="28" name="Circle 28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514600"/>
            <a:ext cx="12344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56032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プラン</a:t>
            </a:r>
          </a:p>
        </p:txBody>
      </p:sp>
      <p:sp>
        <p:nvSpPr>
          <p:cNvPr id="6" name="Rectangle 6"/>
          <p:cNvSpPr/>
          <p:nvPr/>
        </p:nvSpPr>
        <p:spPr>
          <a:xfrm>
            <a:off x="1737360" y="2514600"/>
            <a:ext cx="20574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773936" y="256032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役割・価格</a:t>
            </a:r>
          </a:p>
        </p:txBody>
      </p:sp>
      <p:sp>
        <p:nvSpPr>
          <p:cNvPr id="8" name="Rectangle 8"/>
          <p:cNvSpPr/>
          <p:nvPr/>
        </p:nvSpPr>
        <p:spPr>
          <a:xfrm>
            <a:off x="3794760" y="2514600"/>
            <a:ext cx="38862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3831336" y="2560320"/>
            <a:ext cx="3813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主な機能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80960" y="2514600"/>
            <a:ext cx="39776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7717536" y="2560320"/>
            <a:ext cx="3904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契約・支援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02920" y="3017520"/>
            <a:ext cx="12344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539496" y="3063240"/>
            <a:ext cx="11612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Log Lite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737360" y="3017520"/>
            <a:ext cx="20574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1773936" y="3063240"/>
            <a:ext cx="19842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1ID限定の見せ球</a:t>
            </a:r>
          </a:p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980円 / 1ID / 月</a:t>
            </a:r>
          </a:p>
        </p:txBody>
      </p:sp>
      <p:sp>
        <p:nvSpPr>
          <p:cNvPr id="16" name="Rectangle 16"/>
          <p:cNvSpPr/>
          <p:nvPr/>
        </p:nvSpPr>
        <p:spPr>
          <a:xfrm>
            <a:off x="3794760" y="3017520"/>
            <a:ext cx="38862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3831336" y="3063240"/>
            <a:ext cx="38130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録音、文字起こし、AI要約</a:t>
            </a:r>
          </a:p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月1,800分・1ログ5時間・要約100回まで。kintone連携なし。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680960" y="3017520"/>
            <a:ext cx="39776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7717536" y="3063240"/>
            <a:ext cx="39044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パートナー限定。月契約可。追加ID不可。2ID以上はPack。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02920" y="3802075"/>
            <a:ext cx="12344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39496" y="3847795"/>
            <a:ext cx="11612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kintone</a:t>
            </a:r>
          </a:p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Pack</a:t>
            </a:r>
          </a:p>
        </p:txBody>
      </p:sp>
      <p:sp>
        <p:nvSpPr>
          <p:cNvPr id="22" name="Rectangle 22"/>
          <p:cNvSpPr/>
          <p:nvPr/>
        </p:nvSpPr>
        <p:spPr>
          <a:xfrm>
            <a:off x="1737360" y="3802075"/>
            <a:ext cx="20574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1773936" y="3847795"/>
            <a:ext cx="19842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1IDから使えるkintone連携プラン</a:t>
            </a:r>
          </a:p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通常5,980円 / ID / 月</a:t>
            </a:r>
          </a:p>
        </p:txBody>
      </p:sp>
      <p:sp>
        <p:nvSpPr>
          <p:cNvPr id="24" name="Rectangle 24"/>
          <p:cNvSpPr/>
          <p:nvPr/>
        </p:nvSpPr>
        <p:spPr>
          <a:xfrm>
            <a:off x="3794760" y="3802075"/>
            <a:ext cx="38862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3831336" y="3847795"/>
            <a:ext cx="38130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録音、文字起こし、AI要約、活動履歴登録、レコード紐付け、チーム確認</a:t>
            </a:r>
          </a:p>
        </p:txBody>
      </p:sp>
      <p:sp>
        <p:nvSpPr>
          <p:cNvPr id="26" name="Rectangle 26"/>
          <p:cNvSpPr/>
          <p:nvPr/>
        </p:nvSpPr>
        <p:spPr>
          <a:xfrm>
            <a:off x="7680960" y="3802075"/>
            <a:ext cx="39776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7717536" y="3847795"/>
            <a:ext cx="39044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12ヶ月契約。2,980円/ID/月は初年度のみ。（LogLiteからの移管は対象外）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2514600"/>
            <a:ext cx="11155680" cy="207203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29" name="Rectangle 29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0" name="Text 30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Plan Matrix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2つのプランで、価格感度とkintone連携を分ける</a:t>
            </a:r>
          </a:p>
        </p:txBody>
      </p:sp>
      <p:sp>
        <p:nvSpPr>
          <p:cNvPr id="33" name="Rectangle 33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4" name="Rectangle 34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Log Liteは価格アンカー、本命はkintone Packで売る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05</a:t>
            </a:r>
          </a:p>
        </p:txBody>
      </p:sp>
      <p:sp>
        <p:nvSpPr>
          <p:cNvPr id="37" name="Circle 37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1965960"/>
            <a:ext cx="5989320" cy="77724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" name="Circle 5"/>
          <p:cNvSpPr/>
          <p:nvPr/>
        </p:nvSpPr>
        <p:spPr>
          <a:xfrm>
            <a:off x="704088" y="213055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Noto Sans JP"/>
              </a:rPr>
              <a:t>ID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496312"/>
            <a:ext cx="5623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1ID限定 980円/月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834640"/>
            <a:ext cx="5623560" cy="-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追加ID不可。2ID以上・複数名利用はkintone Packで受ける。</a:t>
            </a:r>
          </a:p>
        </p:txBody>
      </p:sp>
      <p:sp>
        <p:nvSpPr>
          <p:cNvPr id="8" name="Rectangle 8"/>
          <p:cNvSpPr/>
          <p:nvPr/>
        </p:nvSpPr>
        <p:spPr>
          <a:xfrm>
            <a:off x="502920" y="2834640"/>
            <a:ext cx="5989320" cy="777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9" name="Circle 9"/>
          <p:cNvSpPr/>
          <p:nvPr/>
        </p:nvSpPr>
        <p:spPr>
          <a:xfrm>
            <a:off x="704088" y="299923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分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85800" y="3364992"/>
            <a:ext cx="5623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月1,800分 / 1ログ5時間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3703320"/>
            <a:ext cx="5623560" cy="-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Notta Premiumと同じ分数・1回上限を置き、Premium比較で見劣りしない設計にする。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02920" y="3703320"/>
            <a:ext cx="5989320" cy="777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3" name="Circle 13"/>
          <p:cNvSpPr/>
          <p:nvPr/>
        </p:nvSpPr>
        <p:spPr>
          <a:xfrm>
            <a:off x="704088" y="386791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AI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85800" y="4233672"/>
            <a:ext cx="5623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AI要約100回/月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85800" y="4572000"/>
            <a:ext cx="5623560" cy="-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Notta Premiumの要約100回/月に合わせ、要約回数でも見劣りさせない。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02920" y="4572000"/>
            <a:ext cx="5989320" cy="777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7" name="Circle 17"/>
          <p:cNvSpPr/>
          <p:nvPr/>
        </p:nvSpPr>
        <p:spPr>
          <a:xfrm>
            <a:off x="704088" y="473659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85800" y="5102352"/>
            <a:ext cx="5623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上限超過時は停止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5440680"/>
            <a:ext cx="5623560" cy="-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追加利用は不可。それ以上使いたい場合はkintone Packへの移管を必須にする。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720840" y="1965960"/>
            <a:ext cx="4937760" cy="3383280"/>
          </a:xfrm>
          <a:prstGeom prst="roundRect">
            <a:avLst/>
          </a:prstGeom>
          <a:solidFill>
            <a:srgbClr val="F3F5F5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7178040" y="2423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Log Lite Usage Cap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178040" y="278892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1ID限定 / 980円 / 月</a:t>
            </a:r>
          </a:p>
        </p:txBody>
      </p:sp>
      <p:sp>
        <p:nvSpPr>
          <p:cNvPr id="23" name="Rectangle 23"/>
          <p:cNvSpPr/>
          <p:nvPr/>
        </p:nvSpPr>
        <p:spPr>
          <a:xfrm>
            <a:off x="7178040" y="3154680"/>
            <a:ext cx="1219200" cy="1508760"/>
          </a:xfrm>
          <a:prstGeom prst="roundRect">
            <a:avLst/>
          </a:prstGeom>
          <a:solidFill>
            <a:srgbClr val="FBFCFC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7342632" y="3383280"/>
            <a:ext cx="890016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800" b="1">
                <a:solidFill>
                  <a:srgbClr val="FF7143"/>
                </a:solidFill>
                <a:latin typeface="Noto Sans JP"/>
                <a:ea typeface="Noto Sans JP"/>
              </a:rPr>
              <a:t>1,800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7342632" y="3813048"/>
            <a:ext cx="890016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600" b="1">
                <a:solidFill>
                  <a:srgbClr val="414242"/>
                </a:solidFill>
                <a:latin typeface="Noto Sans JP"/>
                <a:ea typeface="Noto Sans JP"/>
              </a:rPr>
              <a:t>分 / 月</a:t>
            </a:r>
          </a:p>
        </p:txBody>
      </p:sp>
      <p:sp>
        <p:nvSpPr>
          <p:cNvPr id="26" name="Rectangle 26"/>
          <p:cNvSpPr/>
          <p:nvPr/>
        </p:nvSpPr>
        <p:spPr>
          <a:xfrm>
            <a:off x="7342632" y="4233672"/>
            <a:ext cx="890016" cy="73152"/>
          </a:xfrm>
          <a:prstGeom prst="round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Rectangle 27"/>
          <p:cNvSpPr/>
          <p:nvPr/>
        </p:nvSpPr>
        <p:spPr>
          <a:xfrm>
            <a:off x="7342632" y="4233672"/>
            <a:ext cx="694212" cy="73152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8" name="Text 28"/>
          <p:cNvSpPr txBox="1"/>
          <p:nvPr/>
        </p:nvSpPr>
        <p:spPr>
          <a:xfrm>
            <a:off x="7342632" y="4352544"/>
            <a:ext cx="89001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000" b="0">
                <a:solidFill>
                  <a:srgbClr val="6D7375"/>
                </a:solidFill>
                <a:latin typeface="Noto Sans JP"/>
                <a:ea typeface="Noto Sans JP"/>
              </a:rPr>
              <a:t>Premium基準</a:t>
            </a:r>
          </a:p>
        </p:txBody>
      </p:sp>
      <p:sp>
        <p:nvSpPr>
          <p:cNvPr id="29" name="Rectangle 29"/>
          <p:cNvSpPr/>
          <p:nvPr/>
        </p:nvSpPr>
        <p:spPr>
          <a:xfrm>
            <a:off x="8625840" y="3154680"/>
            <a:ext cx="1219200" cy="1508760"/>
          </a:xfrm>
          <a:prstGeom prst="roundRect">
            <a:avLst/>
          </a:prstGeom>
          <a:solidFill>
            <a:srgbClr val="FBFCFC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30" name="Text 30"/>
          <p:cNvSpPr txBox="1"/>
          <p:nvPr/>
        </p:nvSpPr>
        <p:spPr>
          <a:xfrm>
            <a:off x="8790432" y="3383280"/>
            <a:ext cx="890016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800" b="1">
                <a:solidFill>
                  <a:srgbClr val="FF7143"/>
                </a:solidFill>
                <a:latin typeface="Noto Sans JP"/>
                <a:ea typeface="Noto Sans JP"/>
              </a:rPr>
              <a:t>5h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8790432" y="3813048"/>
            <a:ext cx="890016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600" b="1">
                <a:solidFill>
                  <a:srgbClr val="414242"/>
                </a:solidFill>
                <a:latin typeface="Noto Sans JP"/>
                <a:ea typeface="Noto Sans JP"/>
              </a:rPr>
              <a:t>/ ログ</a:t>
            </a:r>
          </a:p>
        </p:txBody>
      </p:sp>
      <p:sp>
        <p:nvSpPr>
          <p:cNvPr id="32" name="Rectangle 32"/>
          <p:cNvSpPr/>
          <p:nvPr/>
        </p:nvSpPr>
        <p:spPr>
          <a:xfrm>
            <a:off x="8790432" y="4233672"/>
            <a:ext cx="890016" cy="73152"/>
          </a:xfrm>
          <a:prstGeom prst="round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Rectangle 33"/>
          <p:cNvSpPr/>
          <p:nvPr/>
        </p:nvSpPr>
        <p:spPr>
          <a:xfrm>
            <a:off x="8790432" y="4233672"/>
            <a:ext cx="694212" cy="73152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4" name="Text 34"/>
          <p:cNvSpPr txBox="1"/>
          <p:nvPr/>
        </p:nvSpPr>
        <p:spPr>
          <a:xfrm>
            <a:off x="8790432" y="4352544"/>
            <a:ext cx="89001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000" b="0">
                <a:solidFill>
                  <a:srgbClr val="6D7375"/>
                </a:solidFill>
                <a:latin typeface="Noto Sans JP"/>
                <a:ea typeface="Noto Sans JP"/>
              </a:rPr>
              <a:t>1回上限</a:t>
            </a:r>
          </a:p>
        </p:txBody>
      </p:sp>
      <p:sp>
        <p:nvSpPr>
          <p:cNvPr id="35" name="Rectangle 35"/>
          <p:cNvSpPr/>
          <p:nvPr/>
        </p:nvSpPr>
        <p:spPr>
          <a:xfrm>
            <a:off x="10073640" y="3154680"/>
            <a:ext cx="1219200" cy="1508760"/>
          </a:xfrm>
          <a:prstGeom prst="roundRect">
            <a:avLst/>
          </a:prstGeom>
          <a:solidFill>
            <a:srgbClr val="FFF8F5"/>
          </a:solidFill>
          <a:ln w="1778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6" name="Text 36"/>
          <p:cNvSpPr txBox="1"/>
          <p:nvPr/>
        </p:nvSpPr>
        <p:spPr>
          <a:xfrm>
            <a:off x="10238232" y="3383280"/>
            <a:ext cx="890016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800" b="1">
                <a:solidFill>
                  <a:srgbClr val="FF7143"/>
                </a:solidFill>
                <a:latin typeface="Noto Sans JP"/>
                <a:ea typeface="Noto Sans JP"/>
              </a:rPr>
              <a:t>100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10238232" y="3813048"/>
            <a:ext cx="890016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600" b="1">
                <a:solidFill>
                  <a:srgbClr val="414242"/>
                </a:solidFill>
                <a:latin typeface="Noto Sans JP"/>
                <a:ea typeface="Noto Sans JP"/>
              </a:rPr>
              <a:t>AI要約</a:t>
            </a:r>
          </a:p>
        </p:txBody>
      </p:sp>
      <p:sp>
        <p:nvSpPr>
          <p:cNvPr id="38" name="Rectangle 38"/>
          <p:cNvSpPr/>
          <p:nvPr/>
        </p:nvSpPr>
        <p:spPr>
          <a:xfrm>
            <a:off x="10238232" y="4233672"/>
            <a:ext cx="890016" cy="73152"/>
          </a:xfrm>
          <a:prstGeom prst="round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9" name="Rectangle 39"/>
          <p:cNvSpPr/>
          <p:nvPr/>
        </p:nvSpPr>
        <p:spPr>
          <a:xfrm>
            <a:off x="10238232" y="4233672"/>
            <a:ext cx="694212" cy="73152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0" name="Text 40"/>
          <p:cNvSpPr txBox="1"/>
          <p:nvPr/>
        </p:nvSpPr>
        <p:spPr>
          <a:xfrm>
            <a:off x="10238232" y="4352544"/>
            <a:ext cx="89001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000" b="0">
                <a:solidFill>
                  <a:srgbClr val="6D7375"/>
                </a:solidFill>
                <a:latin typeface="Noto Sans JP"/>
                <a:ea typeface="Noto Sans JP"/>
              </a:rPr>
              <a:t>要約100回/月</a:t>
            </a:r>
          </a:p>
        </p:txBody>
      </p:sp>
      <p:sp>
        <p:nvSpPr>
          <p:cNvPr id="41" name="Rectangle 41"/>
          <p:cNvSpPr/>
          <p:nvPr/>
        </p:nvSpPr>
        <p:spPr>
          <a:xfrm>
            <a:off x="7178040" y="4892040"/>
            <a:ext cx="4114800" cy="320040"/>
          </a:xfrm>
          <a:prstGeom prst="roundRect">
            <a:avLst/>
          </a:prstGeom>
          <a:solidFill>
            <a:srgbClr val="E8ECEE"/>
          </a:solidFill>
          <a:ln w="12700">
            <a:solidFill>
              <a:srgbClr val="E8ECEE"/>
            </a:solidFill>
          </a:ln>
        </p:spPr>
        <p:txBody>
          <a:bodyPr/>
          <a:lstStyle/>
          <a:p/>
        </p:txBody>
      </p:sp>
      <p:sp>
        <p:nvSpPr>
          <p:cNvPr id="42" name="Text 42"/>
          <p:cNvSpPr txBox="1"/>
          <p:nvPr/>
        </p:nvSpPr>
        <p:spPr>
          <a:xfrm>
            <a:off x="7333488" y="4956048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上限超過時は停止 / 継続利用は kintone Pack 移管必須</a:t>
            </a:r>
          </a:p>
        </p:txBody>
      </p:sp>
      <p:sp>
        <p:nvSpPr>
          <p:cNvPr id="43" name="Rectangle 4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4" name="Text 44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Log Lite</a:t>
            </a:r>
          </a:p>
        </p:txBody>
      </p:sp>
      <p:sp>
        <p:nvSpPr>
          <p:cNvPr id="45" name="Text 45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46" name="Text 46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Log Liteは、Notta Premium基準の利用上限に寄せる</a:t>
            </a:r>
          </a:p>
        </p:txBody>
      </p:sp>
      <p:sp>
        <p:nvSpPr>
          <p:cNvPr id="47" name="Rectangle 47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8" name="Rectangle 48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Notta Premium基準の上限で、価格アンカーとして扱う</a:t>
            </a:r>
          </a:p>
        </p:txBody>
      </p:sp>
      <p:sp>
        <p:nvSpPr>
          <p:cNvPr id="50" name="Text 50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06</a:t>
            </a:r>
          </a:p>
        </p:txBody>
      </p:sp>
      <p:sp>
        <p:nvSpPr>
          <p:cNvPr id="51" name="Circle 51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103120"/>
            <a:ext cx="5120640" cy="3017520"/>
          </a:xfrm>
          <a:prstGeom prst="roundRect">
            <a:avLst/>
          </a:prstGeom>
          <a:solidFill>
            <a:srgbClr val="FBFCFC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822960" y="2606040"/>
            <a:ext cx="1463040" cy="256032"/>
          </a:xfrm>
          <a:prstGeom prst="rect">
            <a:avLst/>
          </a:prstGeom>
          <a:solidFill>
            <a:srgbClr val="FFF1EB"/>
          </a:solidFill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FF7143"/>
                </a:solidFill>
                <a:latin typeface="Noto Sans JP"/>
                <a:ea typeface="Noto Sans JP"/>
              </a:rPr>
              <a:t>初年度限定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971800"/>
            <a:ext cx="420624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800" b="1">
                <a:solidFill>
                  <a:srgbClr val="FF7143"/>
                </a:solidFill>
                <a:latin typeface="Noto Sans JP"/>
                <a:ea typeface="Noto Sans JP"/>
              </a:rPr>
              <a:t>2,980円/ID/月</a:t>
            </a:r>
          </a:p>
        </p:txBody>
      </p:sp>
      <p:sp>
        <p:nvSpPr>
          <p:cNvPr id="7" name="Rectangle 7"/>
          <p:cNvSpPr/>
          <p:nvPr/>
        </p:nvSpPr>
        <p:spPr>
          <a:xfrm>
            <a:off x="822960" y="3703320"/>
            <a:ext cx="4480560" cy="292608"/>
          </a:xfrm>
          <a:prstGeom prst="rect">
            <a:avLst/>
          </a:prstGeom>
          <a:solidFill>
            <a:srgbClr val="FBFCFC"/>
          </a:solidFill>
          <a:ln w="12700">
            <a:solidFill>
              <a:srgbClr val="FFD5C6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914400" y="3749040"/>
            <a:ext cx="4114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Noto Sans JP"/>
                <a:ea typeface="Noto Sans JP"/>
              </a:rPr>
              <a:t>対象 契約開始から12ヶ月</a:t>
            </a:r>
          </a:p>
        </p:txBody>
      </p:sp>
      <p:sp>
        <p:nvSpPr>
          <p:cNvPr id="9" name="Rectangle 9"/>
          <p:cNvSpPr/>
          <p:nvPr/>
        </p:nvSpPr>
        <p:spPr>
          <a:xfrm>
            <a:off x="822960" y="4087368"/>
            <a:ext cx="4480560" cy="292608"/>
          </a:xfrm>
          <a:prstGeom prst="rect">
            <a:avLst/>
          </a:prstGeom>
          <a:solidFill>
            <a:srgbClr val="FBFCFC"/>
          </a:solidFill>
          <a:ln w="12700">
            <a:solidFill>
              <a:srgbClr val="FFD5C6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914400" y="4133088"/>
            <a:ext cx="4114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Noto Sans JP"/>
                <a:ea typeface="Noto Sans JP"/>
              </a:rPr>
              <a:t>対象外 LogLiteからの移管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22960" y="4471416"/>
            <a:ext cx="4480560" cy="292608"/>
          </a:xfrm>
          <a:prstGeom prst="rect">
            <a:avLst/>
          </a:prstGeom>
          <a:solidFill>
            <a:srgbClr val="FBFCFC"/>
          </a:solidFill>
          <a:ln w="12700">
            <a:solidFill>
              <a:srgbClr val="FFD5C6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914400" y="4517136"/>
            <a:ext cx="4114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Noto Sans JP"/>
                <a:ea typeface="Noto Sans JP"/>
              </a:rPr>
              <a:t>ID 2ID以上・追加IDはこちら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822960" y="4855464"/>
            <a:ext cx="4480560" cy="292608"/>
          </a:xfrm>
          <a:prstGeom prst="rect">
            <a:avLst/>
          </a:prstGeom>
          <a:solidFill>
            <a:srgbClr val="FBFCFC"/>
          </a:solidFill>
          <a:ln w="12700">
            <a:solidFill>
              <a:srgbClr val="FFD5C6"/>
            </a:solidFill>
          </a:ln>
        </p:spPr>
        <p:txBody>
          <a:bodyPr/>
          <a:lstStyle/>
          <a:p/>
        </p:txBody>
      </p:sp>
      <p:sp>
        <p:nvSpPr>
          <p:cNvPr id="14" name="Text 14"/>
          <p:cNvSpPr txBox="1"/>
          <p:nvPr/>
        </p:nvSpPr>
        <p:spPr>
          <a:xfrm>
            <a:off x="914400" y="4901184"/>
            <a:ext cx="4114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2年目以降 通常5,980円/ID/月</a:t>
            </a:r>
          </a:p>
        </p:txBody>
      </p:sp>
      <p:sp>
        <p:nvSpPr>
          <p:cNvPr id="15" name="Rectangle 15"/>
          <p:cNvSpPr/>
          <p:nvPr/>
        </p:nvSpPr>
        <p:spPr>
          <a:xfrm>
            <a:off x="5806440" y="2103120"/>
            <a:ext cx="9144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843016" y="214884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項目</a:t>
            </a:r>
          </a:p>
        </p:txBody>
      </p:sp>
      <p:sp>
        <p:nvSpPr>
          <p:cNvPr id="17" name="Rectangle 17"/>
          <p:cNvSpPr/>
          <p:nvPr/>
        </p:nvSpPr>
        <p:spPr>
          <a:xfrm>
            <a:off x="6720840" y="2103120"/>
            <a:ext cx="173736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8" name="Text 18"/>
          <p:cNvSpPr txBox="1"/>
          <p:nvPr/>
        </p:nvSpPr>
        <p:spPr>
          <a:xfrm>
            <a:off x="6757416" y="214884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通常</a:t>
            </a:r>
          </a:p>
        </p:txBody>
      </p:sp>
      <p:sp>
        <p:nvSpPr>
          <p:cNvPr id="19" name="Rectangle 19"/>
          <p:cNvSpPr/>
          <p:nvPr/>
        </p:nvSpPr>
        <p:spPr>
          <a:xfrm>
            <a:off x="8458200" y="2103120"/>
            <a:ext cx="20574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0" name="Text 20"/>
          <p:cNvSpPr txBox="1"/>
          <p:nvPr/>
        </p:nvSpPr>
        <p:spPr>
          <a:xfrm>
            <a:off x="8494776" y="214884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初年度限定</a:t>
            </a:r>
          </a:p>
        </p:txBody>
      </p:sp>
      <p:sp>
        <p:nvSpPr>
          <p:cNvPr id="21" name="Rectangle 21"/>
          <p:cNvSpPr/>
          <p:nvPr/>
        </p:nvSpPr>
        <p:spPr>
          <a:xfrm>
            <a:off x="5806440" y="260604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2" name="Text 22"/>
          <p:cNvSpPr txBox="1"/>
          <p:nvPr/>
        </p:nvSpPr>
        <p:spPr>
          <a:xfrm>
            <a:off x="5843016" y="265176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ID単価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720840" y="260604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6757416" y="265176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5,980円 / ID / 月</a:t>
            </a:r>
          </a:p>
        </p:txBody>
      </p:sp>
      <p:sp>
        <p:nvSpPr>
          <p:cNvPr id="25" name="Rectangle 25"/>
          <p:cNvSpPr/>
          <p:nvPr/>
        </p:nvSpPr>
        <p:spPr>
          <a:xfrm>
            <a:off x="8458200" y="260604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6" name="Text 26"/>
          <p:cNvSpPr txBox="1"/>
          <p:nvPr/>
        </p:nvSpPr>
        <p:spPr>
          <a:xfrm>
            <a:off x="8494776" y="265176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2,980円 / ID / 月</a:t>
            </a:r>
          </a:p>
        </p:txBody>
      </p:sp>
      <p:sp>
        <p:nvSpPr>
          <p:cNvPr id="27" name="Rectangle 27"/>
          <p:cNvSpPr/>
          <p:nvPr/>
        </p:nvSpPr>
        <p:spPr>
          <a:xfrm>
            <a:off x="5806440" y="310896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8" name="Text 28"/>
          <p:cNvSpPr txBox="1"/>
          <p:nvPr/>
        </p:nvSpPr>
        <p:spPr>
          <a:xfrm>
            <a:off x="5843016" y="315468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最小契約</a:t>
            </a:r>
          </a:p>
        </p:txBody>
      </p:sp>
      <p:sp>
        <p:nvSpPr>
          <p:cNvPr id="29" name="Rectangle 29"/>
          <p:cNvSpPr/>
          <p:nvPr/>
        </p:nvSpPr>
        <p:spPr>
          <a:xfrm>
            <a:off x="6720840" y="310896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0" name="Text 30"/>
          <p:cNvSpPr txBox="1"/>
          <p:nvPr/>
        </p:nvSpPr>
        <p:spPr>
          <a:xfrm>
            <a:off x="6757416" y="315468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1ID</a:t>
            </a:r>
          </a:p>
        </p:txBody>
      </p:sp>
      <p:sp>
        <p:nvSpPr>
          <p:cNvPr id="31" name="Rectangle 31"/>
          <p:cNvSpPr/>
          <p:nvPr/>
        </p:nvSpPr>
        <p:spPr>
          <a:xfrm>
            <a:off x="8458200" y="310896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2" name="Text 32"/>
          <p:cNvSpPr txBox="1"/>
          <p:nvPr/>
        </p:nvSpPr>
        <p:spPr>
          <a:xfrm>
            <a:off x="8494776" y="315468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1ID</a:t>
            </a:r>
          </a:p>
        </p:txBody>
      </p:sp>
      <p:sp>
        <p:nvSpPr>
          <p:cNvPr id="33" name="Rectangle 33"/>
          <p:cNvSpPr/>
          <p:nvPr/>
        </p:nvSpPr>
        <p:spPr>
          <a:xfrm>
            <a:off x="5806440" y="361188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4" name="Text 34"/>
          <p:cNvSpPr txBox="1"/>
          <p:nvPr/>
        </p:nvSpPr>
        <p:spPr>
          <a:xfrm>
            <a:off x="5843016" y="365760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初期費用</a:t>
            </a:r>
          </a:p>
        </p:txBody>
      </p:sp>
      <p:sp>
        <p:nvSpPr>
          <p:cNvPr id="35" name="Rectangle 35"/>
          <p:cNvSpPr/>
          <p:nvPr/>
        </p:nvSpPr>
        <p:spPr>
          <a:xfrm>
            <a:off x="6720840" y="361188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6" name="Text 36"/>
          <p:cNvSpPr txBox="1"/>
          <p:nvPr/>
        </p:nvSpPr>
        <p:spPr>
          <a:xfrm>
            <a:off x="6757416" y="365760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0円</a:t>
            </a:r>
          </a:p>
        </p:txBody>
      </p:sp>
      <p:sp>
        <p:nvSpPr>
          <p:cNvPr id="37" name="Rectangle 37"/>
          <p:cNvSpPr/>
          <p:nvPr/>
        </p:nvSpPr>
        <p:spPr>
          <a:xfrm>
            <a:off x="8458200" y="361188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8" name="Text 38"/>
          <p:cNvSpPr txBox="1"/>
          <p:nvPr/>
        </p:nvSpPr>
        <p:spPr>
          <a:xfrm>
            <a:off x="8494776" y="365760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0円</a:t>
            </a:r>
          </a:p>
        </p:txBody>
      </p:sp>
      <p:sp>
        <p:nvSpPr>
          <p:cNvPr id="39" name="Rectangle 39"/>
          <p:cNvSpPr/>
          <p:nvPr/>
        </p:nvSpPr>
        <p:spPr>
          <a:xfrm>
            <a:off x="5806440" y="411480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0" name="Text 40"/>
          <p:cNvSpPr txBox="1"/>
          <p:nvPr/>
        </p:nvSpPr>
        <p:spPr>
          <a:xfrm>
            <a:off x="5843016" y="416052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契約期間</a:t>
            </a:r>
          </a:p>
        </p:txBody>
      </p:sp>
      <p:sp>
        <p:nvSpPr>
          <p:cNvPr id="41" name="Rectangle 41"/>
          <p:cNvSpPr/>
          <p:nvPr/>
        </p:nvSpPr>
        <p:spPr>
          <a:xfrm>
            <a:off x="6720840" y="411480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2" name="Text 42"/>
          <p:cNvSpPr txBox="1"/>
          <p:nvPr/>
        </p:nvSpPr>
        <p:spPr>
          <a:xfrm>
            <a:off x="6757416" y="416052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12ヶ月</a:t>
            </a:r>
          </a:p>
        </p:txBody>
      </p:sp>
      <p:sp>
        <p:nvSpPr>
          <p:cNvPr id="43" name="Rectangle 43"/>
          <p:cNvSpPr/>
          <p:nvPr/>
        </p:nvSpPr>
        <p:spPr>
          <a:xfrm>
            <a:off x="8458200" y="411480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4" name="Text 44"/>
          <p:cNvSpPr txBox="1"/>
          <p:nvPr/>
        </p:nvSpPr>
        <p:spPr>
          <a:xfrm>
            <a:off x="8494776" y="416052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初年度12ヶ月</a:t>
            </a:r>
          </a:p>
        </p:txBody>
      </p:sp>
      <p:sp>
        <p:nvSpPr>
          <p:cNvPr id="45" name="Rectangle 45"/>
          <p:cNvSpPr/>
          <p:nvPr/>
        </p:nvSpPr>
        <p:spPr>
          <a:xfrm>
            <a:off x="5806440" y="461772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6" name="Text 46"/>
          <p:cNvSpPr txBox="1"/>
          <p:nvPr/>
        </p:nvSpPr>
        <p:spPr>
          <a:xfrm>
            <a:off x="5843016" y="466344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適用条件</a:t>
            </a:r>
          </a:p>
        </p:txBody>
      </p:sp>
      <p:sp>
        <p:nvSpPr>
          <p:cNvPr id="47" name="Rectangle 47"/>
          <p:cNvSpPr/>
          <p:nvPr/>
        </p:nvSpPr>
        <p:spPr>
          <a:xfrm>
            <a:off x="6720840" y="461772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8" name="Text 48"/>
          <p:cNvSpPr txBox="1"/>
          <p:nvPr/>
        </p:nvSpPr>
        <p:spPr>
          <a:xfrm>
            <a:off x="6757416" y="466344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継続・移管時はこちら</a:t>
            </a:r>
          </a:p>
        </p:txBody>
      </p:sp>
      <p:sp>
        <p:nvSpPr>
          <p:cNvPr id="49" name="Rectangle 49"/>
          <p:cNvSpPr/>
          <p:nvPr/>
        </p:nvSpPr>
        <p:spPr>
          <a:xfrm>
            <a:off x="8458200" y="461772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0" name="Text 50"/>
          <p:cNvSpPr txBox="1"/>
          <p:nvPr/>
        </p:nvSpPr>
        <p:spPr>
          <a:xfrm>
            <a:off x="8494776" y="466344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初年度のみ。（LogLiteからの移管は対象外）</a:t>
            </a:r>
          </a:p>
        </p:txBody>
      </p:sp>
      <p:sp>
        <p:nvSpPr>
          <p:cNvPr id="51" name="Rectangle 51"/>
          <p:cNvSpPr/>
          <p:nvPr/>
        </p:nvSpPr>
        <p:spPr>
          <a:xfrm>
            <a:off x="5806440" y="2103120"/>
            <a:ext cx="4709160" cy="301752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2" name="Rectangle 5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kintone Pack Price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kintone Packは、1IDから追加IDまで同じ単価で積み上げる</a:t>
            </a:r>
          </a:p>
        </p:txBody>
      </p:sp>
      <p:sp>
        <p:nvSpPr>
          <p:cNvPr id="56" name="Rectangle 56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7" name="Rectangle 57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8" name="Text 58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1ID開始で見た目の価格を下げ、年契約で稼働を担保する</a:t>
            </a:r>
          </a:p>
        </p:txBody>
      </p:sp>
      <p:sp>
        <p:nvSpPr>
          <p:cNvPr id="59" name="Text 59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07</a:t>
            </a:r>
          </a:p>
        </p:txBody>
      </p:sp>
      <p:sp>
        <p:nvSpPr>
          <p:cNvPr id="60" name="Circle 60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148840"/>
            <a:ext cx="11430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19456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利用ID数</a:t>
            </a:r>
          </a:p>
        </p:txBody>
      </p:sp>
      <p:sp>
        <p:nvSpPr>
          <p:cNvPr id="6" name="Rectangle 6"/>
          <p:cNvSpPr/>
          <p:nvPr/>
        </p:nvSpPr>
        <p:spPr>
          <a:xfrm>
            <a:off x="1645920" y="2148840"/>
            <a:ext cx="12344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682496" y="219456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通常月額</a:t>
            </a:r>
          </a:p>
        </p:txBody>
      </p:sp>
      <p:sp>
        <p:nvSpPr>
          <p:cNvPr id="8" name="Rectangle 8"/>
          <p:cNvSpPr/>
          <p:nvPr/>
        </p:nvSpPr>
        <p:spPr>
          <a:xfrm>
            <a:off x="2880360" y="2148840"/>
            <a:ext cx="16916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916936" y="219456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初年度限定月額</a:t>
            </a:r>
          </a:p>
        </p:txBody>
      </p:sp>
      <p:sp>
        <p:nvSpPr>
          <p:cNvPr id="10" name="Rectangle 10"/>
          <p:cNvSpPr/>
          <p:nvPr/>
        </p:nvSpPr>
        <p:spPr>
          <a:xfrm>
            <a:off x="4572000" y="2148840"/>
            <a:ext cx="20116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4608576" y="219456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考え方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02920" y="2651760"/>
            <a:ext cx="11430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539496" y="269748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1ID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645920" y="2651760"/>
            <a:ext cx="12344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1682496" y="269748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5,980円</a:t>
            </a:r>
          </a:p>
        </p:txBody>
      </p:sp>
      <p:sp>
        <p:nvSpPr>
          <p:cNvPr id="16" name="Rectangle 16"/>
          <p:cNvSpPr/>
          <p:nvPr/>
        </p:nvSpPr>
        <p:spPr>
          <a:xfrm>
            <a:off x="2880360" y="2651760"/>
            <a:ext cx="16916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2916936" y="269748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2,980円</a:t>
            </a:r>
          </a:p>
        </p:txBody>
      </p:sp>
      <p:sp>
        <p:nvSpPr>
          <p:cNvPr id="18" name="Rectangle 18"/>
          <p:cNvSpPr/>
          <p:nvPr/>
        </p:nvSpPr>
        <p:spPr>
          <a:xfrm>
            <a:off x="4572000" y="2651760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08576" y="269748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Packの最小契約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02920" y="3154680"/>
            <a:ext cx="11430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39496" y="320040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2ID</a:t>
            </a:r>
          </a:p>
        </p:txBody>
      </p:sp>
      <p:sp>
        <p:nvSpPr>
          <p:cNvPr id="22" name="Rectangle 22"/>
          <p:cNvSpPr/>
          <p:nvPr/>
        </p:nvSpPr>
        <p:spPr>
          <a:xfrm>
            <a:off x="1645920" y="3154680"/>
            <a:ext cx="12344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1682496" y="320040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11,960円</a:t>
            </a:r>
          </a:p>
        </p:txBody>
      </p:sp>
      <p:sp>
        <p:nvSpPr>
          <p:cNvPr id="24" name="Rectangle 24"/>
          <p:cNvSpPr/>
          <p:nvPr/>
        </p:nvSpPr>
        <p:spPr>
          <a:xfrm>
            <a:off x="2880360" y="3154680"/>
            <a:ext cx="16916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2916936" y="320040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5,960円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572000" y="3154680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4608576" y="320040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LiteではなくPack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3657600"/>
            <a:ext cx="11430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539496" y="370332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5ID</a:t>
            </a:r>
          </a:p>
        </p:txBody>
      </p:sp>
      <p:sp>
        <p:nvSpPr>
          <p:cNvPr id="30" name="Rectangle 30"/>
          <p:cNvSpPr/>
          <p:nvPr/>
        </p:nvSpPr>
        <p:spPr>
          <a:xfrm>
            <a:off x="1645920" y="3657600"/>
            <a:ext cx="12344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1682496" y="370332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29,900円</a:t>
            </a:r>
          </a:p>
        </p:txBody>
      </p:sp>
      <p:sp>
        <p:nvSpPr>
          <p:cNvPr id="32" name="Rectangle 32"/>
          <p:cNvSpPr/>
          <p:nvPr/>
        </p:nvSpPr>
        <p:spPr>
          <a:xfrm>
            <a:off x="2880360" y="3657600"/>
            <a:ext cx="16916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916936" y="370332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14,900円</a:t>
            </a:r>
          </a:p>
        </p:txBody>
      </p:sp>
      <p:sp>
        <p:nvSpPr>
          <p:cNvPr id="34" name="Rectangle 34"/>
          <p:cNvSpPr/>
          <p:nvPr/>
        </p:nvSpPr>
        <p:spPr>
          <a:xfrm>
            <a:off x="4572000" y="3657600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4608576" y="370332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部門利用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02920" y="4160520"/>
            <a:ext cx="11430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539496" y="420624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Noto Sans JP"/>
                <a:ea typeface="Noto Sans JP"/>
              </a:rPr>
              <a:t>10ID</a:t>
            </a:r>
          </a:p>
        </p:txBody>
      </p:sp>
      <p:sp>
        <p:nvSpPr>
          <p:cNvPr id="38" name="Rectangle 38"/>
          <p:cNvSpPr/>
          <p:nvPr/>
        </p:nvSpPr>
        <p:spPr>
          <a:xfrm>
            <a:off x="1645920" y="4160520"/>
            <a:ext cx="12344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1682496" y="420624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59,800円</a:t>
            </a:r>
          </a:p>
        </p:txBody>
      </p:sp>
      <p:sp>
        <p:nvSpPr>
          <p:cNvPr id="40" name="Rectangle 40"/>
          <p:cNvSpPr/>
          <p:nvPr/>
        </p:nvSpPr>
        <p:spPr>
          <a:xfrm>
            <a:off x="2880360" y="4160520"/>
            <a:ext cx="16916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2916936" y="420624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29,800円</a:t>
            </a:r>
          </a:p>
        </p:txBody>
      </p:sp>
      <p:sp>
        <p:nvSpPr>
          <p:cNvPr id="42" name="Rectangle 42"/>
          <p:cNvSpPr/>
          <p:nvPr/>
        </p:nvSpPr>
        <p:spPr>
          <a:xfrm>
            <a:off x="4572000" y="4160520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08576" y="420624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複数部門展開</a:t>
            </a:r>
          </a:p>
        </p:txBody>
      </p:sp>
      <p:sp>
        <p:nvSpPr>
          <p:cNvPr id="44" name="Rectangle 44"/>
          <p:cNvSpPr/>
          <p:nvPr/>
        </p:nvSpPr>
        <p:spPr>
          <a:xfrm>
            <a:off x="502920" y="2148840"/>
            <a:ext cx="6080760" cy="251460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45" name="Rectangle 45"/>
          <p:cNvSpPr/>
          <p:nvPr/>
        </p:nvSpPr>
        <p:spPr>
          <a:xfrm>
            <a:off x="6812280" y="2148840"/>
            <a:ext cx="4846320" cy="3200400"/>
          </a:xfrm>
          <a:prstGeom prst="roundRect">
            <a:avLst/>
          </a:prstGeom>
          <a:solidFill>
            <a:srgbClr val="F3F5F5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46" name="Text 46"/>
          <p:cNvSpPr txBox="1"/>
          <p:nvPr/>
        </p:nvSpPr>
        <p:spPr>
          <a:xfrm>
            <a:off x="7315200" y="260604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ID Pricing Ladder</a:t>
            </a:r>
          </a:p>
        </p:txBody>
      </p:sp>
      <p:sp>
        <p:nvSpPr>
          <p:cNvPr id="47" name="Rectangle 47"/>
          <p:cNvSpPr/>
          <p:nvPr/>
        </p:nvSpPr>
        <p:spPr>
          <a:xfrm>
            <a:off x="7543800" y="4572000"/>
            <a:ext cx="548640" cy="502920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8" name="Text 48"/>
          <p:cNvSpPr txBox="1"/>
          <p:nvPr/>
        </p:nvSpPr>
        <p:spPr>
          <a:xfrm>
            <a:off x="7498080" y="42976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1ID</a:t>
            </a:r>
          </a:p>
        </p:txBody>
      </p:sp>
      <p:sp>
        <p:nvSpPr>
          <p:cNvPr id="49" name="Text 49"/>
          <p:cNvSpPr txBox="1"/>
          <p:nvPr/>
        </p:nvSpPr>
        <p:spPr>
          <a:xfrm>
            <a:off x="7589520" y="4764024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100" b="1">
                <a:solidFill>
                  <a:srgbClr val="FFFFFF"/>
                </a:solidFill>
                <a:latin typeface="Noto Sans JP"/>
                <a:ea typeface="Noto Sans JP"/>
              </a:rPr>
              <a:t>2,980</a:t>
            </a:r>
          </a:p>
        </p:txBody>
      </p:sp>
      <p:sp>
        <p:nvSpPr>
          <p:cNvPr id="50" name="Rectangle 50"/>
          <p:cNvSpPr/>
          <p:nvPr/>
        </p:nvSpPr>
        <p:spPr>
          <a:xfrm>
            <a:off x="8412480" y="4297680"/>
            <a:ext cx="548640" cy="777240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366760" y="402336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2ID</a:t>
            </a:r>
          </a:p>
        </p:txBody>
      </p:sp>
      <p:sp>
        <p:nvSpPr>
          <p:cNvPr id="52" name="Text 52"/>
          <p:cNvSpPr txBox="1"/>
          <p:nvPr/>
        </p:nvSpPr>
        <p:spPr>
          <a:xfrm>
            <a:off x="8458200" y="4764024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100" b="1">
                <a:solidFill>
                  <a:srgbClr val="FFFFFF"/>
                </a:solidFill>
                <a:latin typeface="Noto Sans JP"/>
                <a:ea typeface="Noto Sans JP"/>
              </a:rPr>
              <a:t>5,960</a:t>
            </a:r>
          </a:p>
        </p:txBody>
      </p:sp>
      <p:sp>
        <p:nvSpPr>
          <p:cNvPr id="53" name="Rectangle 53"/>
          <p:cNvSpPr/>
          <p:nvPr/>
        </p:nvSpPr>
        <p:spPr>
          <a:xfrm>
            <a:off x="9281160" y="3886200"/>
            <a:ext cx="548640" cy="1188720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4" name="Text 54"/>
          <p:cNvSpPr txBox="1"/>
          <p:nvPr/>
        </p:nvSpPr>
        <p:spPr>
          <a:xfrm>
            <a:off x="9235440" y="36118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5ID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9326880" y="4764024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100" b="1">
                <a:solidFill>
                  <a:srgbClr val="FFFFFF"/>
                </a:solidFill>
                <a:latin typeface="Noto Sans JP"/>
                <a:ea typeface="Noto Sans JP"/>
              </a:rPr>
              <a:t>14,900</a:t>
            </a:r>
          </a:p>
        </p:txBody>
      </p:sp>
      <p:sp>
        <p:nvSpPr>
          <p:cNvPr id="56" name="Rectangle 56"/>
          <p:cNvSpPr/>
          <p:nvPr/>
        </p:nvSpPr>
        <p:spPr>
          <a:xfrm>
            <a:off x="10149840" y="3246120"/>
            <a:ext cx="548640" cy="1828800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10104120" y="29718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10ID</a:t>
            </a:r>
          </a:p>
        </p:txBody>
      </p:sp>
      <p:sp>
        <p:nvSpPr>
          <p:cNvPr id="58" name="Text 58"/>
          <p:cNvSpPr txBox="1"/>
          <p:nvPr/>
        </p:nvSpPr>
        <p:spPr>
          <a:xfrm>
            <a:off x="10195560" y="4764024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100" b="1">
                <a:solidFill>
                  <a:srgbClr val="FFFFFF"/>
                </a:solidFill>
                <a:latin typeface="Noto Sans JP"/>
                <a:ea typeface="Noto Sans JP"/>
              </a:rPr>
              <a:t>29,800</a:t>
            </a:r>
          </a:p>
        </p:txBody>
      </p:sp>
      <p:sp>
        <p:nvSpPr>
          <p:cNvPr id="59" name="Rectangle 59"/>
          <p:cNvSpPr/>
          <p:nvPr/>
        </p:nvSpPr>
        <p:spPr>
          <a:xfrm>
            <a:off x="7315200" y="5120640"/>
            <a:ext cx="3657600" cy="13716"/>
          </a:xfrm>
          <a:prstGeom prst="rect">
            <a:avLst/>
          </a:prstGeom>
          <a:solidFill>
            <a:srgbClr val="CFD6D9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60" name="Rectangle 6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ID Pricing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2ID以上・追加IDはkintone Packで同じ単価を積み上げる</a:t>
            </a:r>
          </a:p>
        </p:txBody>
      </p:sp>
      <p:sp>
        <p:nvSpPr>
          <p:cNvPr id="64" name="Rectangle 64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65" name="Rectangle 65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66" name="Text 66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初年度のみ2,980円/ID。2年目以降は通常5,980円/ID</a:t>
            </a:r>
          </a:p>
        </p:txBody>
      </p:sp>
      <p:sp>
        <p:nvSpPr>
          <p:cNvPr id="67" name="Text 67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08</a:t>
            </a:r>
          </a:p>
        </p:txBody>
      </p:sp>
      <p:sp>
        <p:nvSpPr>
          <p:cNvPr id="68" name="Circle 68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057400"/>
            <a:ext cx="20116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10312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カテゴリ</a:t>
            </a:r>
          </a:p>
        </p:txBody>
      </p:sp>
      <p:sp>
        <p:nvSpPr>
          <p:cNvPr id="6" name="Rectangle 6"/>
          <p:cNvSpPr/>
          <p:nvPr/>
        </p:nvSpPr>
        <p:spPr>
          <a:xfrm>
            <a:off x="2514600" y="2057400"/>
            <a:ext cx="29260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2551176" y="2103120"/>
            <a:ext cx="28529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代表例</a:t>
            </a:r>
          </a:p>
        </p:txBody>
      </p:sp>
      <p:sp>
        <p:nvSpPr>
          <p:cNvPr id="8" name="Rectangle 8"/>
          <p:cNvSpPr/>
          <p:nvPr/>
        </p:nvSpPr>
        <p:spPr>
          <a:xfrm>
            <a:off x="5440680" y="2057400"/>
            <a:ext cx="29260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5477256" y="2103120"/>
            <a:ext cx="28529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価格感覚</a:t>
            </a:r>
          </a:p>
        </p:txBody>
      </p:sp>
      <p:sp>
        <p:nvSpPr>
          <p:cNvPr id="10" name="Rectangle 10"/>
          <p:cNvSpPr/>
          <p:nvPr/>
        </p:nvSpPr>
        <p:spPr>
          <a:xfrm>
            <a:off x="8366760" y="2057400"/>
            <a:ext cx="32918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8403336" y="2103120"/>
            <a:ext cx="32186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提案上の使い方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02920" y="2560320"/>
            <a:ext cx="2011680" cy="117683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539496" y="2606040"/>
            <a:ext cx="1938528" cy="110368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Noto Sans JP"/>
                <a:ea typeface="Noto Sans JP"/>
              </a:rPr>
              <a:t>kintone本体</a:t>
            </a:r>
          </a:p>
        </p:txBody>
      </p:sp>
      <p:sp>
        <p:nvSpPr>
          <p:cNvPr id="14" name="Rectangle 14"/>
          <p:cNvSpPr/>
          <p:nvPr/>
        </p:nvSpPr>
        <p:spPr>
          <a:xfrm>
            <a:off x="2514600" y="2560320"/>
            <a:ext cx="2926080" cy="117683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2551176" y="2606040"/>
            <a:ext cx="2852928" cy="110368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ライト 1,000円 / ID / 月</a:t>
            </a:r>
          </a:p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スタンダード 1,800円 / ID / 月</a:t>
            </a:r>
          </a:p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ワイド 3,000円 / ID / 月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440680" y="2560320"/>
            <a:ext cx="2926080" cy="117683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5477256" y="2606040"/>
            <a:ext cx="2852928" cy="110368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1IDあたり1000円台の印象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366760" y="2560320"/>
            <a:ext cx="3291840" cy="117683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8403336" y="2606040"/>
            <a:ext cx="3218688" cy="110368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Log Liteと初年度Packで初見の価格差を縮める。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02920" y="3737153"/>
            <a:ext cx="20116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39496" y="3782873"/>
            <a:ext cx="19385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Noto Sans JP"/>
                <a:ea typeface="Noto Sans JP"/>
              </a:rPr>
              <a:t>kintone連携サービス</a:t>
            </a:r>
          </a:p>
        </p:txBody>
      </p:sp>
      <p:sp>
        <p:nvSpPr>
          <p:cNvPr id="22" name="Rectangle 22"/>
          <p:cNvSpPr/>
          <p:nvPr/>
        </p:nvSpPr>
        <p:spPr>
          <a:xfrm>
            <a:off x="2514600" y="3737153"/>
            <a:ext cx="29260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2551176" y="3782873"/>
            <a:ext cx="28529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Toyokumo PrintCreator</a:t>
            </a:r>
          </a:p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M-SOLUTIONS Smart at AI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440680" y="3737153"/>
            <a:ext cx="29260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5477256" y="3782873"/>
            <a:ext cx="28529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ID単価よりもパック・支援込みで比較</a:t>
            </a:r>
          </a:p>
        </p:txBody>
      </p:sp>
      <p:sp>
        <p:nvSpPr>
          <p:cNvPr id="26" name="Rectangle 26"/>
          <p:cNvSpPr/>
          <p:nvPr/>
        </p:nvSpPr>
        <p:spPr>
          <a:xfrm>
            <a:off x="8366760" y="3737153"/>
            <a:ext cx="32918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403336" y="3782873"/>
            <a:ext cx="32186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kintoneにデータを残す価値をPackで説明する。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4521708"/>
            <a:ext cx="20116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539496" y="4567428"/>
            <a:ext cx="19385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Noto Sans JP"/>
                <a:ea typeface="Noto Sans JP"/>
              </a:rPr>
              <a:t>AI議事録</a:t>
            </a:r>
          </a:p>
        </p:txBody>
      </p:sp>
      <p:sp>
        <p:nvSpPr>
          <p:cNvPr id="30" name="Rectangle 30"/>
          <p:cNvSpPr/>
          <p:nvPr/>
        </p:nvSpPr>
        <p:spPr>
          <a:xfrm>
            <a:off x="2514600" y="4521708"/>
            <a:ext cx="29260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2551176" y="4567428"/>
            <a:ext cx="28529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Notta / Rimo / AI議事録取れる君</a:t>
            </a:r>
          </a:p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LINE WORKS AiNote</a:t>
            </a:r>
          </a:p>
        </p:txBody>
      </p:sp>
      <p:sp>
        <p:nvSpPr>
          <p:cNvPr id="32" name="Rectangle 32"/>
          <p:cNvSpPr/>
          <p:nvPr/>
        </p:nvSpPr>
        <p:spPr>
          <a:xfrm>
            <a:off x="5440680" y="4521708"/>
            <a:ext cx="29260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5477256" y="4567428"/>
            <a:ext cx="28529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議事録単体に見えると、5,980円 / IDは高く見える。</a:t>
            </a:r>
          </a:p>
        </p:txBody>
      </p:sp>
      <p:sp>
        <p:nvSpPr>
          <p:cNvPr id="34" name="Rectangle 34"/>
          <p:cNvSpPr/>
          <p:nvPr/>
        </p:nvSpPr>
        <p:spPr>
          <a:xfrm>
            <a:off x="8366760" y="4521708"/>
            <a:ext cx="32918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8403336" y="4567428"/>
            <a:ext cx="32186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Noto Sans JP"/>
                <a:ea typeface="Noto Sans JP"/>
              </a:rPr>
              <a:t>初年度限定2,980円/IDを価格アンカーにし、議事録ではなく顧客接点データ化として売る。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02920" y="2057400"/>
            <a:ext cx="11155680" cy="3248863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37" name="Rectangle 37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8" name="Text 38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Competitive Comparison</a:t>
            </a:r>
          </a:p>
        </p:txBody>
      </p:sp>
      <p:sp>
        <p:nvSpPr>
          <p:cNvPr id="39" name="Text 39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40" name="Text 40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比較される相手は、3カテゴリに分かれる</a:t>
            </a:r>
          </a:p>
        </p:txBody>
      </p:sp>
      <p:sp>
        <p:nvSpPr>
          <p:cNvPr id="41" name="Rectangle 41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2" name="Rectangle 42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他社比較は、価格ではなく売り方の設計に使う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09</a:t>
            </a:r>
          </a:p>
        </p:txBody>
      </p:sp>
      <p:sp>
        <p:nvSpPr>
          <p:cNvPr id="45" name="Circle 45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331720"/>
            <a:ext cx="128016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37744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区分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1783080" y="2331720"/>
            <a:ext cx="73152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819656" y="237744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内容</a:t>
            </a:r>
          </a:p>
        </p:txBody>
      </p:sp>
      <p:sp>
        <p:nvSpPr>
          <p:cNvPr id="8" name="Rectangle 8"/>
          <p:cNvSpPr/>
          <p:nvPr/>
        </p:nvSpPr>
        <p:spPr>
          <a:xfrm>
            <a:off x="9098280" y="2331720"/>
            <a:ext cx="256032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9134856" y="237744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扱い</a:t>
            </a:r>
          </a:p>
        </p:txBody>
      </p:sp>
      <p:sp>
        <p:nvSpPr>
          <p:cNvPr id="10" name="Rectangle 10"/>
          <p:cNvSpPr/>
          <p:nvPr/>
        </p:nvSpPr>
        <p:spPr>
          <a:xfrm>
            <a:off x="502920" y="2834640"/>
            <a:ext cx="12801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39496" y="288036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標準機能</a:t>
            </a:r>
          </a:p>
        </p:txBody>
      </p:sp>
      <p:sp>
        <p:nvSpPr>
          <p:cNvPr id="12" name="Rectangle 12"/>
          <p:cNvSpPr/>
          <p:nvPr/>
        </p:nvSpPr>
        <p:spPr>
          <a:xfrm>
            <a:off x="1783080" y="2834640"/>
            <a:ext cx="73152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1819656" y="288036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録音、文字起こし、AI要約、kintone活動履歴登録、kintoneレコード紐付け、チーム内データ確認</a:t>
            </a:r>
          </a:p>
        </p:txBody>
      </p:sp>
      <p:sp>
        <p:nvSpPr>
          <p:cNvPr id="14" name="Rectangle 14"/>
          <p:cNvSpPr/>
          <p:nvPr/>
        </p:nvSpPr>
        <p:spPr>
          <a:xfrm>
            <a:off x="9098280" y="2834640"/>
            <a:ext cx="256032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9134856" y="288036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kintone Pack本体に含める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02920" y="3337560"/>
            <a:ext cx="12801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539496" y="338328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標準サポート</a:t>
            </a:r>
          </a:p>
        </p:txBody>
      </p:sp>
      <p:sp>
        <p:nvSpPr>
          <p:cNvPr id="18" name="Rectangle 18"/>
          <p:cNvSpPr/>
          <p:nvPr/>
        </p:nvSpPr>
        <p:spPr>
          <a:xfrm>
            <a:off x="1783080" y="3337560"/>
            <a:ext cx="73152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1819656" y="338328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ヘルプページ、FAQ、メール等の問い合わせ対応、既定のkintone連携手順案内</a:t>
            </a:r>
          </a:p>
        </p:txBody>
      </p:sp>
      <p:sp>
        <p:nvSpPr>
          <p:cNvPr id="20" name="Rectangle 20"/>
          <p:cNvSpPr/>
          <p:nvPr/>
        </p:nvSpPr>
        <p:spPr>
          <a:xfrm>
            <a:off x="9098280" y="3337560"/>
            <a:ext cx="256032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9134856" y="338328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問い合わせベースで対応</a:t>
            </a:r>
          </a:p>
        </p:txBody>
      </p:sp>
      <p:sp>
        <p:nvSpPr>
          <p:cNvPr id="22" name="Rectangle 22"/>
          <p:cNvSpPr/>
          <p:nvPr/>
        </p:nvSpPr>
        <p:spPr>
          <a:xfrm>
            <a:off x="502920" y="3840480"/>
            <a:ext cx="12801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39496" y="388620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有償支援</a:t>
            </a:r>
          </a:p>
        </p:txBody>
      </p:sp>
      <p:sp>
        <p:nvSpPr>
          <p:cNvPr id="24" name="Rectangle 24"/>
          <p:cNvSpPr/>
          <p:nvPr/>
        </p:nvSpPr>
        <p:spPr>
          <a:xfrm>
            <a:off x="1783080" y="3840480"/>
            <a:ext cx="73152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1819656" y="388620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初期設定支援、項目設計、フィールドマッピング、管理者向け説明会、月1回相談</a:t>
            </a:r>
          </a:p>
        </p:txBody>
      </p:sp>
      <p:sp>
        <p:nvSpPr>
          <p:cNvPr id="26" name="Rectangle 26"/>
          <p:cNvSpPr/>
          <p:nvPr/>
        </p:nvSpPr>
        <p:spPr>
          <a:xfrm>
            <a:off x="9098280" y="3840480"/>
            <a:ext cx="256032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9134856" y="388620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別途支援として提案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4343400"/>
            <a:ext cx="12801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539496" y="438912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対象外</a:t>
            </a:r>
          </a:p>
        </p:txBody>
      </p:sp>
      <p:sp>
        <p:nvSpPr>
          <p:cNvPr id="30" name="Rectangle 30"/>
          <p:cNvSpPr/>
          <p:nvPr/>
        </p:nvSpPr>
        <p:spPr>
          <a:xfrm>
            <a:off x="1783080" y="4343400"/>
            <a:ext cx="73152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1819656" y="438912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業務フロー整理、分析設計、個別ダッシュボード構築、個別レポート作成</a:t>
            </a:r>
          </a:p>
        </p:txBody>
      </p:sp>
      <p:sp>
        <p:nvSpPr>
          <p:cNvPr id="32" name="Rectangle 32"/>
          <p:cNvSpPr/>
          <p:nvPr/>
        </p:nvSpPr>
        <p:spPr>
          <a:xfrm>
            <a:off x="9098280" y="4343400"/>
            <a:ext cx="256032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9134856" y="438912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Noto Sans JP"/>
                <a:ea typeface="Noto Sans JP"/>
              </a:rPr>
              <a:t>別提案</a:t>
            </a:r>
          </a:p>
        </p:txBody>
      </p:sp>
      <p:sp>
        <p:nvSpPr>
          <p:cNvPr id="34" name="Rectangle 34"/>
          <p:cNvSpPr/>
          <p:nvPr/>
        </p:nvSpPr>
        <p:spPr>
          <a:xfrm>
            <a:off x="502920" y="2331720"/>
            <a:ext cx="11155680" cy="251460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35" name="Rectangle 3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6" name="Text 36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Support Boundary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標準機能と個別支援を分け、本体価格を安く見せる</a:t>
            </a:r>
          </a:p>
        </p:txBody>
      </p:sp>
      <p:sp>
        <p:nvSpPr>
          <p:cNvPr id="39" name="Rectangle 39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0" name="Rectangle 40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見た目の本体価格を安く保ち、個別対応は別枠で回収する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10</a:t>
            </a:r>
          </a:p>
        </p:txBody>
      </p:sp>
      <p:sp>
        <p:nvSpPr>
          <p:cNvPr id="43" name="Circle 43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1965960"/>
            <a:ext cx="5166360" cy="3611880"/>
          </a:xfrm>
          <a:prstGeom prst="roundRect">
            <a:avLst/>
          </a:prstGeom>
          <a:solidFill>
            <a:srgbClr val="F3F5F5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1051560" y="251460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200" b="1">
                <a:solidFill>
                  <a:srgbClr val="414242"/>
                </a:solidFill>
                <a:latin typeface="Noto Sans JP"/>
                <a:ea typeface="Noto Sans JP"/>
              </a:rPr>
              <a:t>GTM Positioning</a:t>
            </a:r>
          </a:p>
        </p:txBody>
      </p:sp>
      <p:sp>
        <p:nvSpPr>
          <p:cNvPr id="6" name="Rectangle 6"/>
          <p:cNvSpPr/>
          <p:nvPr/>
        </p:nvSpPr>
        <p:spPr>
          <a:xfrm>
            <a:off x="1051560" y="3154680"/>
            <a:ext cx="1325880" cy="12344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7" name="Circle 7"/>
          <p:cNvSpPr/>
          <p:nvPr/>
        </p:nvSpPr>
        <p:spPr>
          <a:xfrm>
            <a:off x="1252728" y="331927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Noto Sans JP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34440" y="3685032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Log Lite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234440" y="4023360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見せ球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1ID限定・連携なし</a:t>
            </a:r>
          </a:p>
        </p:txBody>
      </p:sp>
      <p:sp>
        <p:nvSpPr>
          <p:cNvPr id="10" name="Rectangle 10"/>
          <p:cNvSpPr/>
          <p:nvPr/>
        </p:nvSpPr>
        <p:spPr>
          <a:xfrm>
            <a:off x="2651760" y="3154680"/>
            <a:ext cx="1325880" cy="123444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1" name="Circle 11"/>
          <p:cNvSpPr/>
          <p:nvPr/>
        </p:nvSpPr>
        <p:spPr>
          <a:xfrm>
            <a:off x="2852928" y="331927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Noto Sans JP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2834640" y="3685032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kintone Pack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2834640" y="4023360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本命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新規・部門利用</a:t>
            </a:r>
          </a:p>
        </p:txBody>
      </p:sp>
      <p:sp>
        <p:nvSpPr>
          <p:cNvPr id="14" name="Rectangle 14"/>
          <p:cNvSpPr/>
          <p:nvPr/>
        </p:nvSpPr>
        <p:spPr>
          <a:xfrm>
            <a:off x="4251960" y="3154680"/>
            <a:ext cx="1325880" cy="123444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5" name="Circle 15"/>
          <p:cNvSpPr/>
          <p:nvPr/>
        </p:nvSpPr>
        <p:spPr>
          <a:xfrm>
            <a:off x="4453128" y="331927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Noto Sans JP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434840" y="3685032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Noto Sans JP"/>
                <a:ea typeface="Noto Sans JP"/>
              </a:rPr>
              <a:t>FrontAX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434840" y="4023360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上位導線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Noto Sans JP"/>
                <a:ea typeface="Noto Sans JP"/>
              </a:rPr>
              <a:t>既存・営業利用</a:t>
            </a:r>
          </a:p>
        </p:txBody>
      </p:sp>
      <p:sp>
        <p:nvSpPr>
          <p:cNvPr id="18" name="Rectangle 18"/>
          <p:cNvSpPr/>
          <p:nvPr/>
        </p:nvSpPr>
        <p:spPr>
          <a:xfrm>
            <a:off x="1051560" y="4709160"/>
            <a:ext cx="4251960" cy="411480"/>
          </a:xfrm>
          <a:prstGeom prst="roundRect">
            <a:avLst/>
          </a:prstGeom>
          <a:solidFill>
            <a:srgbClr val="E8ECEE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1234440" y="480060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Noto Sans JP"/>
                <a:ea typeface="Noto Sans JP"/>
              </a:rPr>
              <a:t>有償支援は商品導線ではなく、必要時に付帯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806440" y="1965960"/>
            <a:ext cx="1097280" cy="41148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843016" y="2011680"/>
            <a:ext cx="1024128" cy="3383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位置づけ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903720" y="1965960"/>
            <a:ext cx="2560320" cy="41148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6940296" y="2011680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対象</a:t>
            </a:r>
          </a:p>
        </p:txBody>
      </p:sp>
      <p:sp>
        <p:nvSpPr>
          <p:cNvPr id="24" name="Rectangle 24"/>
          <p:cNvSpPr/>
          <p:nvPr/>
        </p:nvSpPr>
        <p:spPr>
          <a:xfrm>
            <a:off x="9464040" y="1965960"/>
            <a:ext cx="3291840" cy="41148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9500616" y="2011680"/>
            <a:ext cx="3218688" cy="3383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Noto Sans JP"/>
                <a:ea typeface="Noto Sans JP"/>
              </a:rPr>
              <a:t>扱い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806440" y="2377440"/>
            <a:ext cx="109728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5843016" y="2423160"/>
            <a:ext cx="102412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Log Lite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見せ球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903720" y="2377440"/>
            <a:ext cx="256032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6940296" y="2423160"/>
            <a:ext cx="248716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1名だけで最低限使いたい顧客、価格比較が強い顧客</a:t>
            </a:r>
          </a:p>
        </p:txBody>
      </p:sp>
      <p:sp>
        <p:nvSpPr>
          <p:cNvPr id="30" name="Rectangle 30"/>
          <p:cNvSpPr/>
          <p:nvPr/>
        </p:nvSpPr>
        <p:spPr>
          <a:xfrm>
            <a:off x="9464040" y="2377440"/>
            <a:ext cx="329184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9500616" y="2423160"/>
            <a:ext cx="321868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1ID限定・追加ID不可。2ID以上はkintone Packで受ける。</a:t>
            </a:r>
          </a:p>
        </p:txBody>
      </p:sp>
      <p:sp>
        <p:nvSpPr>
          <p:cNvPr id="32" name="Rectangle 32"/>
          <p:cNvSpPr/>
          <p:nvPr/>
        </p:nvSpPr>
        <p:spPr>
          <a:xfrm>
            <a:off x="5806440" y="3019349"/>
            <a:ext cx="1097280" cy="96286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5843016" y="3065069"/>
            <a:ext cx="1024128" cy="88971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kintone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Pack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本命</a:t>
            </a:r>
          </a:p>
        </p:txBody>
      </p:sp>
      <p:sp>
        <p:nvSpPr>
          <p:cNvPr id="34" name="Rectangle 34"/>
          <p:cNvSpPr/>
          <p:nvPr/>
        </p:nvSpPr>
        <p:spPr>
          <a:xfrm>
            <a:off x="6903720" y="3019349"/>
            <a:ext cx="2560320" cy="96286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6940296" y="3065069"/>
            <a:ext cx="2487168" cy="88971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kintoneに顧客接点データを残したい新規・部門利用</a:t>
            </a:r>
          </a:p>
        </p:txBody>
      </p:sp>
      <p:sp>
        <p:nvSpPr>
          <p:cNvPr id="36" name="Rectangle 36"/>
          <p:cNvSpPr/>
          <p:nvPr/>
        </p:nvSpPr>
        <p:spPr>
          <a:xfrm>
            <a:off x="9464040" y="3019349"/>
            <a:ext cx="3291840" cy="96286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9500616" y="3065069"/>
            <a:ext cx="3218688" cy="88971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1IDからの連携パック。追加IDも同一単価で積み上げる。</a:t>
            </a:r>
          </a:p>
        </p:txBody>
      </p:sp>
      <p:sp>
        <p:nvSpPr>
          <p:cNvPr id="38" name="Rectangle 38"/>
          <p:cNvSpPr/>
          <p:nvPr/>
        </p:nvSpPr>
        <p:spPr>
          <a:xfrm>
            <a:off x="5806440" y="3982212"/>
            <a:ext cx="109728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5843016" y="4027932"/>
            <a:ext cx="102412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FrontAX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上位導線</a:t>
            </a:r>
          </a:p>
        </p:txBody>
      </p:sp>
      <p:sp>
        <p:nvSpPr>
          <p:cNvPr id="40" name="Rectangle 40"/>
          <p:cNvSpPr/>
          <p:nvPr/>
        </p:nvSpPr>
        <p:spPr>
          <a:xfrm>
            <a:off x="6903720" y="3982212"/>
            <a:ext cx="256032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6940296" y="4027932"/>
            <a:ext cx="248716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既存ユーザーのうち、年商200億円規模かつ営業利用</a:t>
            </a:r>
          </a:p>
        </p:txBody>
      </p:sp>
      <p:sp>
        <p:nvSpPr>
          <p:cNvPr id="42" name="Rectangle 42"/>
          <p:cNvSpPr/>
          <p:nvPr/>
        </p:nvSpPr>
        <p:spPr>
          <a:xfrm>
            <a:off x="9464040" y="3982212"/>
            <a:ext cx="329184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9500616" y="4027932"/>
            <a:ext cx="321868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Packとは別の上位提案。</a:t>
            </a:r>
          </a:p>
        </p:txBody>
      </p:sp>
      <p:sp>
        <p:nvSpPr>
          <p:cNvPr id="44" name="Rectangle 44"/>
          <p:cNvSpPr/>
          <p:nvPr/>
        </p:nvSpPr>
        <p:spPr>
          <a:xfrm>
            <a:off x="5806440" y="4624121"/>
            <a:ext cx="109728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5843016" y="4669841"/>
            <a:ext cx="102412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有償支援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Noto Sans JP"/>
                <a:ea typeface="Noto Sans JP"/>
              </a:rPr>
              <a:t>付帯</a:t>
            </a:r>
          </a:p>
        </p:txBody>
      </p:sp>
      <p:sp>
        <p:nvSpPr>
          <p:cNvPr id="46" name="Rectangle 46"/>
          <p:cNvSpPr/>
          <p:nvPr/>
        </p:nvSpPr>
        <p:spPr>
          <a:xfrm>
            <a:off x="6903720" y="4624121"/>
            <a:ext cx="256032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6940296" y="4669841"/>
            <a:ext cx="248716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個別設定・項目設計・相談が必要な案件</a:t>
            </a:r>
          </a:p>
        </p:txBody>
      </p:sp>
      <p:sp>
        <p:nvSpPr>
          <p:cNvPr id="48" name="Rectangle 48"/>
          <p:cNvSpPr/>
          <p:nvPr/>
        </p:nvSpPr>
        <p:spPr>
          <a:xfrm>
            <a:off x="9464040" y="4624121"/>
            <a:ext cx="329184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9500616" y="4669841"/>
            <a:ext cx="321868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Noto Sans JP"/>
                <a:ea typeface="Noto Sans JP"/>
              </a:rPr>
              <a:t>Pack / FrontAXに必要時だけ付ける。</a:t>
            </a:r>
          </a:p>
        </p:txBody>
      </p:sp>
      <p:sp>
        <p:nvSpPr>
          <p:cNvPr id="50" name="Rectangle 50"/>
          <p:cNvSpPr/>
          <p:nvPr/>
        </p:nvSpPr>
        <p:spPr>
          <a:xfrm>
            <a:off x="5806440" y="1965960"/>
            <a:ext cx="6949440" cy="330007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1" name="Rectangle 5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2" name="Text 52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Noto Sans JP"/>
                <a:ea typeface="Noto Sans JP"/>
              </a:rPr>
              <a:t>GTM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Noto Sans JP"/>
                <a:ea typeface="Noto Sans JP"/>
              </a:rPr>
              <a:t>FrontAgent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Noto Sans JP"/>
                <a:ea typeface="Noto Sans JP"/>
              </a:rPr>
              <a:t>GTMは移管導線ではなく、顧客条件ごとの置き場所にする</a:t>
            </a:r>
          </a:p>
        </p:txBody>
      </p:sp>
      <p:sp>
        <p:nvSpPr>
          <p:cNvPr id="55" name="Rectangle 55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6" name="Rectangle 56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Log Liteは単独の見せ球。有償支援は必要時だけ付帯する</a:t>
            </a:r>
          </a:p>
        </p:txBody>
      </p:sp>
      <p:sp>
        <p:nvSpPr>
          <p:cNvPr id="58" name="Text 58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Noto Sans JP"/>
                <a:ea typeface="Noto Sans JP"/>
              </a:rPr>
              <a:t>11</a:t>
            </a:r>
          </a:p>
        </p:txBody>
      </p:sp>
      <p:sp>
        <p:nvSpPr>
          <p:cNvPr id="59" name="Circle 59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Noto Sans JP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FF7143"/>
      </a:accent1>
      <a:accent2>
        <a:srgbClr val="414242"/>
      </a:accent2>
      <a:accent3>
        <a:srgbClr val="6D7375"/>
      </a:accent3>
      <a:accent4>
        <a:srgbClr val="CFD6D9"/>
      </a:accent4>
      <a:accent5>
        <a:srgbClr val="FFF1EC"/>
      </a:accent5>
      <a:accent6>
        <a:srgbClr val="BAC2C8"/>
      </a:accent6>
      <a:hlink>
        <a:srgbClr val="0563C1"/>
      </a:hlink>
      <a:folHlink>
        <a:srgbClr val="954F72"/>
      </a:folHlink>
    </a:clrScheme>
    <a:fontScheme name="Office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HTML Deck Export</Application>
  <PresentationFormat>On-screen Show (16:9)</PresentationFormat>
  <Slides>11</Slides>
  <Notes>0</Notes>
  <HiddenSlides>0</HiddenSlides>
  <MMClips>0</MMClips>
  <ScaleCrop>false</ScaleCrop>
  <Company>Umee Technologies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FrontAgent x kintone SB C&amp;S Proposal</dc:title>
  <dc:creator>Codex</dc:creator>
  <cp:lastModifiedBy>Codex</cp:lastModifiedBy>
  <dcterms:created xsi:type="dcterms:W3CDTF">2026-05-26T06:13:57Z</dcterms:created>
  <dcterms:modified xsi:type="dcterms:W3CDTF">2026-05-26T06:13:57Z</dcterms:modified>
</cp:coreProperties>
</file>